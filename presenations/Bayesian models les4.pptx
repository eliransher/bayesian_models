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88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497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שיעור 4: נבנה מודל גאוסיאני פשוט, נלמד לבדוק אם המודל מתאר טוב את הנתונים בעזרת בדיקות פוסטריור-פרדיקטיביות, ונראה איך התפלגות t של סטודנט הופכת את ההסקה לחסינה לערכים חריגים.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ארבעה שלבים: מודל גאוסיאני, בדיקת המודל מול הנתונים, הכרת התפלגות t, ומודל חסין.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הדוגמה מגיעה ממדידות ניסיוניות בתהודה מגנטית גרעינית (NMR) - טכניקה לחקר מולקולות, וגם של יצורים חיים, כי בסופו של דבר הם אוסף של מולקולות. יש 48 מדידות. הצפיפות נראית בערך גאוסיאנית, חוץ משתי נקודות רחוקות מהממוצע.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נשכח לרגע משתי הנקודות החריגות ונניח התפלגות גאוסיאנית. מאחר שאיננו יודעים לא את הממוצע ולא את סטיית התקן, צריך priors לשניהם. μ מגיע מהתפלגות אחידה עם גבולות l ו-h, σ מהתפלגות חצי-נורמלית עם סטיית תקן σ_h, והנתונים מהתפלגות נורמלית. התרשים הוא בסגנון של קרושקה.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אם לא יודעים מה הערכים האפשריים, אפשר לבחור priors שמשקפים את חוסר הידיעה. אפשרות אחת: גבולות 40 עד 75 לממוצע - טווח רחב מטווח הנתונים. אפשר גם להשתמש בידע מוקדם, למשל שאי אפשר פיזיקלית לקבל ערכים מתחת ל-0 או מעל 100, ואז Uniform(0,100). ל-HalfNormal נבחר σ=10, ערך גדול ביחס לנתונים. בקוד של המחברת המודל הגאוסיאני משתמש בגבול עליון 70 ומודל ה-t ב-75.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כך נראה המודל ב-PyMC. אחרי הדגימה, az.plot_trace מציג לכל פרמטר את ההתפלגות ואת שרשרת הדגימות. כאן מוצגות ההתפלגויות הפוסטריוריות של μ ו-σ.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az.plot_pair מציג את ההתפלגות המשותפת של שני הפרמטרים. אפשר לבדוק אם יש קשר בין הפרמטרים - כאן הצורה כמעט סימטרית, כלומר μ ו-σ כמעט בלתי תלויים בפוסטריור.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אחרי שחישבנו את הפוסטריור, אפשר להשתמש בו כדי לדמות נתונים חדשים ולבדוק כמה הם עקביים עם הנתונים שנצפו. השוואות כאלה נקראות posterior predictive checks: משתמשים בפוסטריור כדי לחזות, ובתחזיות כדי לבדוק את המודל. כל מדגם מדומה בגודל של הנתונים המקוריים.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הקו הכהה הוא הצפיפות של הנתונים, והקווים הדקים הם 100 מדגמים מדומים מהפוסטריור. ההתאמה סבירה, אבל הנתונים המדומים רחבים מדי ומרכזם מוסט ימינה: שתי הנקודות החריגות 'מושכות' את הממוצע ומנפחות את σ. מודל נורמלי לא יכול להסביר ערכים חריגים בלי להרחיב את כל ההתפלגות.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במקום להסיר ערכים חריגים, מחליפים את הנראות בהתפלגות עם זנבות כבדים יותר. להתפלגות t יש פרמטר נוסף ν, פרמטר הנורמליות. כש-ν=1 מתקבלת התפלגות קושי, עם זנבות כבדים מאוד. ככל ש-ν גדל, ההתפלגות מתקרבת לנורמלית, וכבר ב-ν=30 היא כמעט זהה לה. עובדה מעניינת: ל-t עם ν≤1 אין ממוצע מוגדר, ועם ν≤2 אין שונות מוגדרת.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אותו מודל, עם פרמטר נוסף ν ונראות StudentT. ל-ν בוחרים prior מעריכי עם ממוצע 30: כך רוב המסה היא על ערכים שבהם ההתפלגות קרובה לנורמלית, אבל עדיין יש מקום לערכים קטנים עם זנבות כבדים, אם הנתונים דורשים זאת.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השוואת הסיכומים של שני המודלים. μ ירד מעט, כי הוא כבר לא נמשך לכיוון החריגים. σ קטן מאוד, מ-3.5 לכ-2.2: הזנבות הכבדים מסבירים את החריגים, ולכן אין צורך לנפח את כל ההתפלגות. ν בסביבת 4.5 - רחוק מנורמלי, כלומר הנתונים אכן דורשים זנבות כבדים.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אותה בדיקה פוסטריור-פרדיקטיבית למודל t. המדגמים המדומים מרוכזים עכשיו סביב החלק המרכזי של הנתונים, וההתאמה טובה בהרבה. החריגים לא 'מעוותים' את כל המודל.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μ"/>
          <p:cNvSpPr/>
          <p:nvPr/>
        </p:nvSpPr>
        <p:spPr>
          <a:xfrm>
            <a:off x="822960" y="5120640"/>
            <a:ext cx="914400" cy="914400"/>
          </a:xfrm>
          <a:prstGeom prst="ellipse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  <a:cs typeface="Arial"/>
              </a:rPr>
              <a:t>μ</a:t>
            </a:r>
          </a:p>
        </p:txBody>
      </p:sp>
      <p:sp>
        <p:nvSpPr>
          <p:cNvPr id="3" name="badge σ"/>
          <p:cNvSpPr/>
          <p:nvPr/>
        </p:nvSpPr>
        <p:spPr>
          <a:xfrm>
            <a:off x="1965960" y="5120640"/>
            <a:ext cx="914400" cy="91440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  <a:cs typeface="Arial"/>
              </a:rPr>
              <a:t>σ</a:t>
            </a:r>
          </a:p>
        </p:txBody>
      </p:sp>
      <p:sp>
        <p:nvSpPr>
          <p:cNvPr id="4" name="badge ν"/>
          <p:cNvSpPr/>
          <p:nvPr/>
        </p:nvSpPr>
        <p:spPr>
          <a:xfrm>
            <a:off x="3108960" y="5120640"/>
            <a:ext cx="914400" cy="914400"/>
          </a:xfrm>
          <a:prstGeom prst="ellipse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  <a:cs typeface="Arial"/>
              </a:rPr>
              <a:t>ν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822960" y="1554480"/>
            <a:ext cx="1051560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4800" b="1" i="0">
                <a:solidFill>
                  <a:srgbClr val="FFFFFF"/>
                </a:solidFill>
                <a:latin typeface="Arial"/>
                <a:cs typeface="Arial"/>
              </a:rPr>
              <a:t>בדיקת המודל והסקה חסינה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1051560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2200" b="0" i="0">
                <a:solidFill>
                  <a:srgbClr val="CFC6DE"/>
                </a:solidFill>
                <a:latin typeface="Arial"/>
                <a:cs typeface="Arial"/>
              </a:rPr>
              <a:t>הסקה גאוסיאנית, בדיקות פוסטריור-פרדיקטיביות והתפלגות t של סטודנט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5257800"/>
            <a:ext cx="630936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800" b="0" i="0">
                <a:solidFill>
                  <a:srgbClr val="CFC6DE"/>
                </a:solidFill>
                <a:latin typeface="Arial"/>
                <a:cs typeface="Arial"/>
              </a:rPr>
              <a:t>מודלים בייסיאניים · שיעור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3400" b="1" i="0">
                <a:solidFill>
                  <a:srgbClr val="2B1E3F"/>
                </a:solidFill>
                <a:latin typeface="Arial"/>
                <a:cs typeface="Arial"/>
              </a:rPr>
              <a:t>מה נלמד היום</a:t>
            </a:r>
          </a:p>
        </p:txBody>
      </p:sp>
      <p:sp>
        <p:nvSpPr>
          <p:cNvPr id="3" name="card"/>
          <p:cNvSpPr/>
          <p:nvPr/>
        </p:nvSpPr>
        <p:spPr>
          <a:xfrm>
            <a:off x="9128455" y="1828800"/>
            <a:ext cx="2514600" cy="356616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badge 1"/>
          <p:cNvSpPr/>
          <p:nvPr/>
        </p:nvSpPr>
        <p:spPr>
          <a:xfrm>
            <a:off x="9928555" y="2194560"/>
            <a:ext cx="914400" cy="914400"/>
          </a:xfrm>
          <a:prstGeom prst="ellipse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11335" y="3383280"/>
            <a:ext cx="214884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2000" b="1" i="0">
                <a:solidFill>
                  <a:srgbClr val="2B1E3F"/>
                </a:solidFill>
                <a:latin typeface="Arial"/>
                <a:cs typeface="Arial"/>
              </a:rPr>
              <a:t>מודל גאוסיאני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1335" y="4160520"/>
            <a:ext cx="21488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500" b="0" i="0">
                <a:solidFill>
                  <a:srgbClr val="6B6478"/>
                </a:solidFill>
                <a:latin typeface="Arial"/>
                <a:cs typeface="Arial"/>
              </a:rPr>
              <a:t>אומדן ממוצע וסטיית תקן לא ידועים</a:t>
            </a:r>
          </a:p>
        </p:txBody>
      </p:sp>
      <p:sp>
        <p:nvSpPr>
          <p:cNvPr id="7" name="card"/>
          <p:cNvSpPr/>
          <p:nvPr/>
        </p:nvSpPr>
        <p:spPr>
          <a:xfrm>
            <a:off x="6312103" y="1828800"/>
            <a:ext cx="2514600" cy="356616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badge 2"/>
          <p:cNvSpPr/>
          <p:nvPr/>
        </p:nvSpPr>
        <p:spPr>
          <a:xfrm>
            <a:off x="7112203" y="2194560"/>
            <a:ext cx="914400" cy="914400"/>
          </a:xfrm>
          <a:prstGeom prst="ellipse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4983" y="3383280"/>
            <a:ext cx="214884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2000" b="1" i="0">
                <a:solidFill>
                  <a:srgbClr val="2B1E3F"/>
                </a:solidFill>
                <a:latin typeface="Arial"/>
                <a:cs typeface="Arial"/>
              </a:rPr>
              <a:t>בדיקת המודל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4983" y="4160520"/>
            <a:ext cx="21488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500" b="0" i="0">
                <a:solidFill>
                  <a:srgbClr val="6B6478"/>
                </a:solidFill>
                <a:latin typeface="Arial"/>
                <a:cs typeface="Arial"/>
              </a:rPr>
              <a:t>האם נתונים מדומים דומים לנתונים האמיתיים?</a:t>
            </a:r>
          </a:p>
        </p:txBody>
      </p:sp>
      <p:sp>
        <p:nvSpPr>
          <p:cNvPr id="11" name="card"/>
          <p:cNvSpPr/>
          <p:nvPr/>
        </p:nvSpPr>
        <p:spPr>
          <a:xfrm>
            <a:off x="3495751" y="1828800"/>
            <a:ext cx="2514600" cy="356616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badge 3"/>
          <p:cNvSpPr/>
          <p:nvPr/>
        </p:nvSpPr>
        <p:spPr>
          <a:xfrm>
            <a:off x="4295851" y="2194560"/>
            <a:ext cx="914400" cy="91440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8631" y="3383280"/>
            <a:ext cx="214884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2000" b="1" i="0">
                <a:solidFill>
                  <a:srgbClr val="2B1E3F"/>
                </a:solidFill>
                <a:latin typeface="Arial"/>
                <a:cs typeface="Arial"/>
              </a:rPr>
              <a:t>התפלגות 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8631" y="4160520"/>
            <a:ext cx="21488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500" b="0" i="0">
                <a:solidFill>
                  <a:srgbClr val="6B6478"/>
                </a:solidFill>
                <a:latin typeface="Arial"/>
                <a:cs typeface="Arial"/>
              </a:rPr>
              <a:t>זנבות כבדים ופרמטר הנורמליות </a:t>
            </a:r>
            <a:r>
              <a:rPr lang="en-US" sz="1500" b="0" i="0">
                <a:solidFill>
                  <a:srgbClr val="6B6478"/>
                </a:solidFill>
                <a:latin typeface="Arial"/>
                <a:cs typeface="Arial"/>
              </a:rPr>
              <a:t>ν</a:t>
            </a:r>
          </a:p>
        </p:txBody>
      </p:sp>
      <p:sp>
        <p:nvSpPr>
          <p:cNvPr id="15" name="card"/>
          <p:cNvSpPr/>
          <p:nvPr/>
        </p:nvSpPr>
        <p:spPr>
          <a:xfrm>
            <a:off x="679399" y="1828800"/>
            <a:ext cx="2514600" cy="356616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badge 4"/>
          <p:cNvSpPr/>
          <p:nvPr/>
        </p:nvSpPr>
        <p:spPr>
          <a:xfrm>
            <a:off x="1479499" y="2194560"/>
            <a:ext cx="914400" cy="914400"/>
          </a:xfrm>
          <a:prstGeom prst="ellipse">
            <a:avLst/>
          </a:prstGeom>
          <a:solidFill>
            <a:srgbClr val="2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279" y="3383280"/>
            <a:ext cx="214884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2000" b="1" i="0">
                <a:solidFill>
                  <a:srgbClr val="2B1E3F"/>
                </a:solidFill>
                <a:latin typeface="Arial"/>
                <a:cs typeface="Arial"/>
              </a:rPr>
              <a:t>הסקה חסינה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279" y="4160520"/>
            <a:ext cx="21488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500" b="0" i="0">
                <a:solidFill>
                  <a:srgbClr val="6B6478"/>
                </a:solidFill>
                <a:latin typeface="Arial"/>
                <a:cs typeface="Arial"/>
              </a:rPr>
              <a:t>מודל שלא נגרר אחרי ערכים חריגים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3400" b="1" i="0">
                <a:solidFill>
                  <a:srgbClr val="2B1E3F"/>
                </a:solidFill>
                <a:latin typeface="Arial"/>
                <a:cs typeface="Arial"/>
              </a:rPr>
              <a:t>הנתונים: 48 מדידות תהודה מגנטית גרעינית</a:t>
            </a:r>
          </a:p>
        </p:txBody>
      </p:sp>
      <p:pic>
        <p:nvPicPr>
          <p:cNvPr id="3" name="Picture 2" descr="data_k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949440" cy="4201668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9646920" y="146304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46920" y="1554480"/>
            <a:ext cx="169164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3600" b="1" i="0">
                <a:solidFill>
                  <a:srgbClr val="7B5EA7"/>
                </a:solidFill>
                <a:latin typeface="Arial"/>
                <a:cs typeface="Arial"/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2286000"/>
            <a:ext cx="1691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300" b="0" i="0">
                <a:solidFill>
                  <a:srgbClr val="6B6478"/>
                </a:solidFill>
                <a:latin typeface="Arial"/>
                <a:cs typeface="Arial"/>
              </a:rPr>
              <a:t>מדידות</a:t>
            </a:r>
          </a:p>
        </p:txBody>
      </p:sp>
      <p:sp>
        <p:nvSpPr>
          <p:cNvPr id="7" name="card"/>
          <p:cNvSpPr/>
          <p:nvPr/>
        </p:nvSpPr>
        <p:spPr>
          <a:xfrm>
            <a:off x="7818120" y="146304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18120" y="1554480"/>
            <a:ext cx="169164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3600" b="1" i="0">
                <a:solidFill>
                  <a:srgbClr val="E4572E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286000"/>
            <a:ext cx="1691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300" b="0" i="0">
                <a:solidFill>
                  <a:srgbClr val="6B6478"/>
                </a:solidFill>
                <a:latin typeface="Arial"/>
                <a:cs typeface="Arial"/>
              </a:rPr>
              <a:t>ערכים חריגים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108960"/>
            <a:ext cx="3822191" cy="3108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R="274320" indent="-274320" algn="r" rtl="1">
              <a:spcAft>
                <a:spcPts val="12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600" b="0" i="0">
                <a:solidFill>
                  <a:srgbClr val="2B1E3F"/>
                </a:solidFill>
                <a:latin typeface="Arial"/>
                <a:cs typeface="Arial"/>
              </a:rPr>
              <a:t>NMR — טכניקה לחקר מולקולות, וגם יצורים חיים</a:t>
            </a:r>
          </a:p>
          <a:p>
            <a:pPr marR="274320" indent="-274320" algn="r" rtl="1">
              <a:spcAft>
                <a:spcPts val="12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600" b="0" i="0">
                <a:solidFill>
                  <a:srgbClr val="2B1E3F"/>
                </a:solidFill>
                <a:latin typeface="Arial"/>
                <a:cs typeface="Arial"/>
              </a:rPr>
              <a:t>הצורה דומה להתפלגות גאוסיאנית</a:t>
            </a:r>
          </a:p>
          <a:p>
            <a:pPr marR="274320" indent="-274320" algn="r" rtl="1">
              <a:spcAft>
                <a:spcPts val="12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600" b="1" i="0">
                <a:solidFill>
                  <a:srgbClr val="E4572E"/>
                </a:solidFill>
                <a:latin typeface="Arial"/>
                <a:cs typeface="Arial"/>
              </a:rPr>
              <a:t>אבל: </a:t>
            </a:r>
            <a:r>
              <a:rPr lang="he-IL" sz="1600" b="0" i="0">
                <a:solidFill>
                  <a:srgbClr val="2B1E3F"/>
                </a:solidFill>
                <a:latin typeface="Arial"/>
                <a:cs typeface="Arial"/>
              </a:rPr>
              <a:t>שתי מדידות (63.43 ו-68.58) רחוקות מאוד מהשאר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3400" b="1" i="0">
                <a:solidFill>
                  <a:srgbClr val="2B1E3F"/>
                </a:solidFill>
                <a:latin typeface="Arial"/>
                <a:cs typeface="Arial"/>
              </a:rPr>
              <a:t>מודל גאוסיאני</a:t>
            </a:r>
          </a:p>
        </p:txBody>
      </p:sp>
      <p:sp>
        <p:nvSpPr>
          <p:cNvPr id="3" name="card"/>
          <p:cNvSpPr/>
          <p:nvPr/>
        </p:nvSpPr>
        <p:spPr>
          <a:xfrm>
            <a:off x="1531620" y="1645920"/>
            <a:ext cx="1600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F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badge μ"/>
          <p:cNvSpPr/>
          <p:nvPr/>
        </p:nvSpPr>
        <p:spPr>
          <a:xfrm>
            <a:off x="2057400" y="1783080"/>
            <a:ext cx="548640" cy="548640"/>
          </a:xfrm>
          <a:prstGeom prst="ellipse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  <a:cs typeface="Arial"/>
              </a:rPr>
              <a:t>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1620" y="2423160"/>
            <a:ext cx="16002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0">
              <a:spcAft>
                <a:spcPts val="600"/>
              </a:spcAft>
            </a:pPr>
            <a:r>
              <a:rPr lang="en-US" sz="1300" b="0" i="0">
                <a:solidFill>
                  <a:srgbClr val="6B6478"/>
                </a:solidFill>
                <a:latin typeface="Arial"/>
                <a:cs typeface="Arial"/>
              </a:rPr>
              <a:t>Uniform(l, h)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31720" y="3063240"/>
            <a:ext cx="960120" cy="640080"/>
          </a:xfrm>
          <a:prstGeom prst="line">
            <a:avLst/>
          </a:prstGeom>
          <a:ln w="22225">
            <a:solidFill>
              <a:srgbClr val="6B64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rd"/>
          <p:cNvSpPr/>
          <p:nvPr/>
        </p:nvSpPr>
        <p:spPr>
          <a:xfrm>
            <a:off x="3451860" y="1645920"/>
            <a:ext cx="1600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F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badge σ"/>
          <p:cNvSpPr/>
          <p:nvPr/>
        </p:nvSpPr>
        <p:spPr>
          <a:xfrm>
            <a:off x="3977640" y="1783080"/>
            <a:ext cx="548640" cy="54864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  <a:cs typeface="Arial"/>
              </a:rPr>
              <a:t>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1860" y="2423160"/>
            <a:ext cx="16002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0">
              <a:spcAft>
                <a:spcPts val="600"/>
              </a:spcAft>
            </a:pPr>
            <a:r>
              <a:rPr lang="en-US" sz="1300" b="0" i="0">
                <a:solidFill>
                  <a:srgbClr val="6B6478"/>
                </a:solidFill>
                <a:latin typeface="Arial"/>
                <a:cs typeface="Arial"/>
              </a:rPr>
              <a:t>HalfNormal(σh)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3291840" y="3063240"/>
            <a:ext cx="960120" cy="640080"/>
          </a:xfrm>
          <a:prstGeom prst="line">
            <a:avLst/>
          </a:prstGeom>
          <a:ln w="22225">
            <a:solidFill>
              <a:srgbClr val="6B64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194560" y="3749039"/>
            <a:ext cx="2194560" cy="1005840"/>
          </a:xfrm>
          <a:prstGeom prst="roundRect">
            <a:avLst>
              <a:gd name="adj" fmla="val 20000"/>
            </a:avLst>
          </a:prstGeom>
          <a:solidFill>
            <a:srgbClr val="CFC6DE"/>
          </a:solidFill>
          <a:ln w="19050">
            <a:solidFill>
              <a:srgbClr val="2B1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>
                <a:solidFill>
                  <a:srgbClr val="2B1E3F"/>
                </a:solidFill>
                <a:latin typeface="Arial"/>
                <a:cs typeface="Arial"/>
              </a:rPr>
              <a:t>y ~ Normal(μ, σ)</a:t>
            </a:r>
          </a:p>
        </p:txBody>
      </p:sp>
      <p:sp>
        <p:nvSpPr>
          <p:cNvPr id="12" name="card"/>
          <p:cNvSpPr/>
          <p:nvPr/>
        </p:nvSpPr>
        <p:spPr>
          <a:xfrm>
            <a:off x="6400800" y="1463040"/>
            <a:ext cx="5239512" cy="251460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" name="Picture 12" descr="f_g_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7514" y="1600200"/>
            <a:ext cx="3866083" cy="640080"/>
          </a:xfrm>
          <a:prstGeom prst="rect">
            <a:avLst/>
          </a:prstGeom>
        </p:spPr>
      </p:pic>
      <p:pic>
        <p:nvPicPr>
          <p:cNvPr id="14" name="Picture 13" descr="f_g_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883" y="2286000"/>
            <a:ext cx="4365345" cy="640080"/>
          </a:xfrm>
          <a:prstGeom prst="rect">
            <a:avLst/>
          </a:prstGeom>
        </p:spPr>
      </p:pic>
      <p:pic>
        <p:nvPicPr>
          <p:cNvPr id="15" name="Picture 14" descr="f_g_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3017520"/>
            <a:ext cx="4050791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4206240"/>
            <a:ext cx="5239512" cy="2103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R="274320" indent="-274320" algn="r" rtl="1">
              <a:spcAft>
                <a:spcPts val="10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600" b="1" i="0">
                <a:solidFill>
                  <a:srgbClr val="2B1E3F"/>
                </a:solidFill>
                <a:latin typeface="Arial"/>
                <a:cs typeface="Arial"/>
              </a:rPr>
              <a:t>HalfNormal</a:t>
            </a:r>
            <a:r>
              <a:rPr lang="he-IL" sz="1600" b="0" i="0">
                <a:solidFill>
                  <a:srgbClr val="2B1E3F"/>
                </a:solidFill>
                <a:latin typeface="Arial"/>
                <a:cs typeface="Arial"/>
              </a:rPr>
              <a:t> — כמו נורמלית ”מקופלת“ סביב הממוצע: רק ערכים חיוביים</a:t>
            </a:r>
          </a:p>
          <a:p>
            <a:pPr marR="274320" indent="-274320" algn="r" rtl="1">
              <a:spcAft>
                <a:spcPts val="10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600" b="0" i="0">
                <a:solidFill>
                  <a:srgbClr val="2B1E3F"/>
                </a:solidFill>
                <a:latin typeface="Arial"/>
                <a:cs typeface="Arial"/>
              </a:rPr>
              <a:t>שני הפרמטרים לא ידועים — לכן לשניהם יש prior</a:t>
            </a:r>
          </a:p>
          <a:p>
            <a:pPr marR="274320" indent="-274320" algn="r" rtl="1">
              <a:spcAft>
                <a:spcPts val="10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600" b="0" i="0">
                <a:solidFill>
                  <a:srgbClr val="2B1E3F"/>
                </a:solidFill>
                <a:latin typeface="Arial"/>
                <a:cs typeface="Arial"/>
              </a:rPr>
              <a:t>בשלב הזה מתעלמים מהערכים החריגים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20640"/>
            <a:ext cx="54864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300" b="0" i="0">
                <a:solidFill>
                  <a:srgbClr val="6B6478"/>
                </a:solidFill>
                <a:latin typeface="Arial"/>
                <a:cs typeface="Arial"/>
              </a:rPr>
              <a:t>תרשים בסגנון Kruschke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3400" b="1" i="0">
                <a:solidFill>
                  <a:srgbClr val="2B1E3F"/>
                </a:solidFill>
                <a:latin typeface="Arial"/>
                <a:cs typeface="Arial"/>
              </a:rPr>
              <a:t>בחירת ה-Priors: לבטא חוסר ידיעה</a:t>
            </a:r>
          </a:p>
        </p:txBody>
      </p:sp>
      <p:sp>
        <p:nvSpPr>
          <p:cNvPr id="3" name="card"/>
          <p:cNvSpPr/>
          <p:nvPr/>
        </p:nvSpPr>
        <p:spPr>
          <a:xfrm>
            <a:off x="8122615" y="155448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badge μ"/>
          <p:cNvSpPr/>
          <p:nvPr/>
        </p:nvSpPr>
        <p:spPr>
          <a:xfrm>
            <a:off x="10728655" y="1783080"/>
            <a:ext cx="640080" cy="640080"/>
          </a:xfrm>
          <a:prstGeom prst="ellipse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  <a:cs typeface="Arial"/>
              </a:rPr>
              <a:t>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6935" y="1783080"/>
            <a:ext cx="219456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900" b="1" i="0">
                <a:solidFill>
                  <a:srgbClr val="2B1E3F"/>
                </a:solidFill>
                <a:latin typeface="Arial"/>
                <a:cs typeface="Arial"/>
              </a:rPr>
              <a:t>טווח רחב מהנתונים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96935" y="2697480"/>
            <a:ext cx="2971800" cy="685800"/>
          </a:xfrm>
          <a:prstGeom prst="roundRect">
            <a:avLst>
              <a:gd name="adj" fmla="val 15000"/>
            </a:avLst>
          </a:prstGeom>
          <a:solidFill>
            <a:srgbClr val="24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0">
                <a:solidFill>
                  <a:srgbClr val="EDE8F5"/>
                </a:solidFill>
                <a:latin typeface="Courier New"/>
                <a:cs typeface="Courier New"/>
              </a:rPr>
              <a:t>Uniform(40, 75)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96935" y="3566160"/>
            <a:ext cx="297180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500" b="0" i="0" dirty="0">
                <a:solidFill>
                  <a:srgbClr val="6B6478"/>
                </a:solidFill>
                <a:latin typeface="Arial"/>
                <a:cs typeface="Arial"/>
              </a:rPr>
              <a:t>גבולות שמכסים בנדיבות את טווח המדידות</a:t>
            </a:r>
          </a:p>
        </p:txBody>
      </p:sp>
      <p:sp>
        <p:nvSpPr>
          <p:cNvPr id="8" name="card"/>
          <p:cNvSpPr/>
          <p:nvPr/>
        </p:nvSpPr>
        <p:spPr>
          <a:xfrm>
            <a:off x="4336999" y="155448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badge μ"/>
          <p:cNvSpPr/>
          <p:nvPr/>
        </p:nvSpPr>
        <p:spPr>
          <a:xfrm>
            <a:off x="6943039" y="1783080"/>
            <a:ext cx="640080" cy="640080"/>
          </a:xfrm>
          <a:prstGeom prst="ellipse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  <a:cs typeface="Arial"/>
              </a:rPr>
              <a:t>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1319" y="1783080"/>
            <a:ext cx="219456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900" b="1" i="0">
                <a:solidFill>
                  <a:srgbClr val="2B1E3F"/>
                </a:solidFill>
                <a:latin typeface="Arial"/>
                <a:cs typeface="Arial"/>
              </a:rPr>
              <a:t>ידע פיזיקלי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1319" y="2697480"/>
            <a:ext cx="2971800" cy="685800"/>
          </a:xfrm>
          <a:prstGeom prst="roundRect">
            <a:avLst>
              <a:gd name="adj" fmla="val 15000"/>
            </a:avLst>
          </a:prstGeom>
          <a:solidFill>
            <a:srgbClr val="24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0">
                <a:solidFill>
                  <a:srgbClr val="EDE8F5"/>
                </a:solidFill>
                <a:latin typeface="Courier New"/>
                <a:cs typeface="Courier New"/>
              </a:rPr>
              <a:t>Uniform(0, 100)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319" y="3566160"/>
            <a:ext cx="297180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500" b="0" i="0">
                <a:solidFill>
                  <a:srgbClr val="6B6478"/>
                </a:solidFill>
                <a:latin typeface="Arial"/>
                <a:cs typeface="Arial"/>
              </a:rPr>
              <a:t>ערכים מתחת ל-0 או מעל 100 בלתי אפשריים פיזיקלית</a:t>
            </a:r>
          </a:p>
        </p:txBody>
      </p:sp>
      <p:sp>
        <p:nvSpPr>
          <p:cNvPr id="13" name="card"/>
          <p:cNvSpPr/>
          <p:nvPr/>
        </p:nvSpPr>
        <p:spPr>
          <a:xfrm>
            <a:off x="551383" y="155448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badge σ"/>
          <p:cNvSpPr/>
          <p:nvPr/>
        </p:nvSpPr>
        <p:spPr>
          <a:xfrm>
            <a:off x="3157423" y="1783080"/>
            <a:ext cx="640080" cy="64008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  <a:cs typeface="Arial"/>
              </a:rPr>
              <a:t>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" y="1783080"/>
            <a:ext cx="219456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900" b="1" i="0">
                <a:solidFill>
                  <a:srgbClr val="2B1E3F"/>
                </a:solidFill>
                <a:latin typeface="Arial"/>
                <a:cs typeface="Arial"/>
              </a:rPr>
              <a:t>ערך גדול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5703" y="2697480"/>
            <a:ext cx="2971800" cy="685800"/>
          </a:xfrm>
          <a:prstGeom prst="roundRect">
            <a:avLst>
              <a:gd name="adj" fmla="val 15000"/>
            </a:avLst>
          </a:prstGeom>
          <a:solidFill>
            <a:srgbClr val="24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0">
                <a:solidFill>
                  <a:srgbClr val="EDE8F5"/>
                </a:solidFill>
                <a:latin typeface="Courier New"/>
                <a:cs typeface="Courier New"/>
              </a:rPr>
              <a:t>HalfNormal(10)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" y="3566160"/>
            <a:ext cx="297180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500" b="0" i="0">
                <a:solidFill>
                  <a:srgbClr val="6B6478"/>
                </a:solidFill>
                <a:latin typeface="Arial"/>
                <a:cs typeface="Arial"/>
              </a:rPr>
              <a:t>סטיית תקן גדולה ביחס לפיזור הנתונים</a:t>
            </a:r>
          </a:p>
        </p:txBody>
      </p:sp>
      <p:sp>
        <p:nvSpPr>
          <p:cNvPr id="18" name="card"/>
          <p:cNvSpPr/>
          <p:nvPr/>
        </p:nvSpPr>
        <p:spPr>
          <a:xfrm>
            <a:off x="548640" y="5120640"/>
            <a:ext cx="11091672" cy="1143000"/>
          </a:xfrm>
          <a:prstGeom prst="roundRect">
            <a:avLst>
              <a:gd name="adj" fmla="val 8000"/>
            </a:avLst>
          </a:prstGeom>
          <a:solidFill>
            <a:srgbClr val="E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5120640"/>
            <a:ext cx="10634472" cy="1143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700" b="1" i="0" dirty="0">
                <a:solidFill>
                  <a:srgbClr val="7B5EA7"/>
                </a:solidFill>
                <a:latin typeface="Arial"/>
                <a:cs typeface="Arial"/>
              </a:rPr>
              <a:t>העיקרון: </a:t>
            </a:r>
            <a:r>
              <a:rPr lang="he-IL" sz="1700" b="0" i="0" dirty="0">
                <a:solidFill>
                  <a:srgbClr val="2B1E3F"/>
                </a:solidFill>
                <a:latin typeface="Arial"/>
                <a:cs typeface="Arial"/>
              </a:rPr>
              <a:t>כשאין ידע מוקדם, בוחרים prior רחב מספיק כדי שהנתונים — ולא ה-prior — יקבעו את התוצאה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3400" b="1" i="0">
                <a:solidFill>
                  <a:srgbClr val="2B1E3F"/>
                </a:solidFill>
                <a:latin typeface="Arial"/>
                <a:cs typeface="Arial"/>
              </a:rPr>
              <a:t>המודל בקוד והפוסטריור</a:t>
            </a:r>
          </a:p>
        </p:txBody>
      </p:sp>
      <p:sp>
        <p:nvSpPr>
          <p:cNvPr id="3" name="code block"/>
          <p:cNvSpPr/>
          <p:nvPr/>
        </p:nvSpPr>
        <p:spPr>
          <a:xfrm>
            <a:off x="548640" y="1463040"/>
            <a:ext cx="5852160" cy="2103120"/>
          </a:xfrm>
          <a:prstGeom prst="roundRect">
            <a:avLst>
              <a:gd name="adj" fmla="val 8000"/>
            </a:avLst>
          </a:prstGeom>
          <a:solidFill>
            <a:srgbClr val="24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code"/>
          <p:cNvSpPr txBox="1"/>
          <p:nvPr/>
        </p:nvSpPr>
        <p:spPr>
          <a:xfrm>
            <a:off x="777240" y="1645920"/>
            <a:ext cx="5394960" cy="1737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US" sz="1400" b="0" i="0">
                <a:solidFill>
                  <a:srgbClr val="EDE8F5"/>
                </a:solidFill>
                <a:latin typeface="Courier New"/>
                <a:cs typeface="Courier New"/>
              </a:rPr>
              <a:t>with pm.Model() as model_g:</a:t>
            </a:r>
          </a:p>
          <a:p>
            <a:pPr algn="l" rtl="0">
              <a:spcAft>
                <a:spcPts val="0"/>
              </a:spcAft>
            </a:pPr>
            <a:r>
              <a:rPr lang="en-US" sz="1400" b="0" i="0">
                <a:solidFill>
                  <a:srgbClr val="EDE8F5"/>
                </a:solidFill>
                <a:latin typeface="Courier New"/>
                <a:cs typeface="Courier New"/>
              </a:rPr>
              <a:t>    μ = pm.Uniform('μ', lower=40, upper=70)</a:t>
            </a:r>
          </a:p>
          <a:p>
            <a:pPr algn="l" rtl="0">
              <a:spcAft>
                <a:spcPts val="0"/>
              </a:spcAft>
            </a:pPr>
            <a:r>
              <a:rPr lang="en-US" sz="1400" b="0" i="0">
                <a:solidFill>
                  <a:srgbClr val="EDE8F5"/>
                </a:solidFill>
                <a:latin typeface="Courier New"/>
                <a:cs typeface="Courier New"/>
              </a:rPr>
              <a:t>    σ = pm.HalfNormal('σ', sigma=10)</a:t>
            </a:r>
          </a:p>
          <a:p>
            <a:pPr algn="l" rtl="0">
              <a:spcAft>
                <a:spcPts val="0"/>
              </a:spcAft>
            </a:pPr>
            <a:r>
              <a:rPr lang="en-US" sz="1400" b="0" i="0">
                <a:solidFill>
                  <a:srgbClr val="EDE8F5"/>
                </a:solidFill>
                <a:latin typeface="Courier New"/>
                <a:cs typeface="Courier New"/>
              </a:rPr>
              <a:t>    y = pm.Normal('y', mu=μ, sigma=σ,</a:t>
            </a:r>
          </a:p>
          <a:p>
            <a:pPr algn="l" rtl="0">
              <a:spcAft>
                <a:spcPts val="0"/>
              </a:spcAft>
            </a:pPr>
            <a:r>
              <a:rPr lang="en-US" sz="1400" b="0" i="0">
                <a:solidFill>
                  <a:srgbClr val="EDE8F5"/>
                </a:solidFill>
                <a:latin typeface="Courier New"/>
                <a:cs typeface="Courier New"/>
              </a:rPr>
              <a:t>                  observed=data)</a:t>
            </a:r>
          </a:p>
          <a:p>
            <a:pPr algn="l" rtl="0">
              <a:spcAft>
                <a:spcPts val="0"/>
              </a:spcAft>
            </a:pPr>
            <a:r>
              <a:rPr lang="en-US" sz="1400" b="0" i="0">
                <a:solidFill>
                  <a:srgbClr val="EDE8F5"/>
                </a:solidFill>
                <a:latin typeface="Courier New"/>
                <a:cs typeface="Courier New"/>
              </a:rPr>
              <a:t>    idata_g = pm.sample(1000)</a:t>
            </a:r>
          </a:p>
        </p:txBody>
      </p:sp>
      <p:pic>
        <p:nvPicPr>
          <p:cNvPr id="5" name="Picture 4" descr="post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49039"/>
            <a:ext cx="5852160" cy="2570809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6766560" y="1463040"/>
            <a:ext cx="4873752" cy="164592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badge μ"/>
          <p:cNvSpPr/>
          <p:nvPr/>
        </p:nvSpPr>
        <p:spPr>
          <a:xfrm>
            <a:off x="10789920" y="1920240"/>
            <a:ext cx="685800" cy="685800"/>
          </a:xfrm>
          <a:prstGeom prst="ellipse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  <a:cs typeface="Arial"/>
              </a:rPr>
              <a:t>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645920"/>
            <a:ext cx="196596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3600" b="1" i="0">
                <a:solidFill>
                  <a:srgbClr val="17A398"/>
                </a:solidFill>
                <a:latin typeface="Arial"/>
                <a:cs typeface="Arial"/>
              </a:rPr>
              <a:t>53.48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468880"/>
            <a:ext cx="19659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300" b="0" i="0">
                <a:solidFill>
                  <a:srgbClr val="6B6478"/>
                </a:solidFill>
                <a:latin typeface="Arial"/>
                <a:cs typeface="Arial"/>
              </a:rPr>
              <a:t>ממוצע הפוסטריור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783080"/>
            <a:ext cx="1737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rtl="0">
              <a:spcAft>
                <a:spcPts val="600"/>
              </a:spcAft>
            </a:pPr>
            <a:r>
              <a:rPr lang="en-US" sz="1200" b="0" i="0">
                <a:solidFill>
                  <a:srgbClr val="6B6478"/>
                </a:solidFill>
                <a:latin typeface="Arial"/>
                <a:cs typeface="Arial"/>
              </a:rPr>
              <a:t>94% HDI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194560"/>
            <a:ext cx="17373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rtl="0">
              <a:spcAft>
                <a:spcPts val="600"/>
              </a:spcAft>
            </a:pPr>
            <a:r>
              <a:rPr lang="en-US" sz="1500" b="1" i="0">
                <a:solidFill>
                  <a:srgbClr val="2B1E3F"/>
                </a:solidFill>
                <a:latin typeface="Arial"/>
                <a:cs typeface="Arial"/>
              </a:rPr>
              <a:t>52.49 – 54.46</a:t>
            </a:r>
          </a:p>
        </p:txBody>
      </p:sp>
      <p:sp>
        <p:nvSpPr>
          <p:cNvPr id="12" name="card"/>
          <p:cNvSpPr/>
          <p:nvPr/>
        </p:nvSpPr>
        <p:spPr>
          <a:xfrm>
            <a:off x="6766560" y="3291840"/>
            <a:ext cx="4873752" cy="164592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badge σ"/>
          <p:cNvSpPr/>
          <p:nvPr/>
        </p:nvSpPr>
        <p:spPr>
          <a:xfrm>
            <a:off x="10789920" y="3749039"/>
            <a:ext cx="685800" cy="68580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  <a:cs typeface="Arial"/>
              </a:rPr>
              <a:t>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474720"/>
            <a:ext cx="196596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3600" b="1" i="0">
                <a:solidFill>
                  <a:srgbClr val="E4572E"/>
                </a:solidFill>
                <a:latin typeface="Arial"/>
                <a:cs typeface="Arial"/>
              </a:rPr>
              <a:t>3.55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297680"/>
            <a:ext cx="19659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300" b="0" i="0">
                <a:solidFill>
                  <a:srgbClr val="6B6478"/>
                </a:solidFill>
                <a:latin typeface="Arial"/>
                <a:cs typeface="Arial"/>
              </a:rPr>
              <a:t>ממוצע הפוסטריור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611880"/>
            <a:ext cx="1737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rtl="0">
              <a:spcAft>
                <a:spcPts val="600"/>
              </a:spcAft>
            </a:pPr>
            <a:r>
              <a:rPr lang="en-US" sz="1200" b="0" i="0">
                <a:solidFill>
                  <a:srgbClr val="6B6478"/>
                </a:solidFill>
                <a:latin typeface="Arial"/>
                <a:cs typeface="Arial"/>
              </a:rPr>
              <a:t>94% HDI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4023360"/>
            <a:ext cx="17373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rtl="0">
              <a:spcAft>
                <a:spcPts val="600"/>
              </a:spcAft>
            </a:pPr>
            <a:r>
              <a:rPr lang="en-US" sz="1500" b="1" i="0">
                <a:solidFill>
                  <a:srgbClr val="2B1E3F"/>
                </a:solidFill>
                <a:latin typeface="Arial"/>
                <a:cs typeface="Arial"/>
              </a:rPr>
              <a:t>2.85 – 4.26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5257800"/>
            <a:ext cx="4873752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R="274320" indent="-274320" algn="r" rtl="1">
              <a:spcAft>
                <a:spcPts val="6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500" b="0" i="0">
                <a:solidFill>
                  <a:srgbClr val="2B1E3F"/>
                </a:solidFill>
                <a:latin typeface="Arial"/>
                <a:cs typeface="Arial"/>
              </a:rPr>
              <a:t>מדדי ההתכנסות (r_hat ו-ESS) תקינים — הדגימה התכנסה היטב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3400" b="1" i="0">
                <a:solidFill>
                  <a:srgbClr val="2B1E3F"/>
                </a:solidFill>
                <a:latin typeface="Arial"/>
                <a:cs typeface="Arial"/>
              </a:rPr>
              <a:t>ההתפלגות המשותפת של </a:t>
            </a:r>
            <a:r>
              <a:rPr lang="en-US" sz="3400" b="1" i="0">
                <a:solidFill>
                  <a:srgbClr val="2B1E3F"/>
                </a:solidFill>
                <a:latin typeface="Arial"/>
                <a:cs typeface="Arial"/>
              </a:rPr>
              <a:t>μ</a:t>
            </a:r>
            <a:r>
              <a:rPr lang="he-IL" sz="3400" b="1" i="0">
                <a:solidFill>
                  <a:srgbClr val="2B1E3F"/>
                </a:solidFill>
                <a:latin typeface="Arial"/>
                <a:cs typeface="Arial"/>
              </a:rPr>
              <a:t> ו-</a:t>
            </a:r>
            <a:r>
              <a:rPr lang="en-US" sz="3400" b="1" i="0">
                <a:solidFill>
                  <a:srgbClr val="2B1E3F"/>
                </a:solidFill>
                <a:latin typeface="Arial"/>
                <a:cs typeface="Arial"/>
              </a:rPr>
              <a:t>σ</a:t>
            </a:r>
          </a:p>
        </p:txBody>
      </p:sp>
      <p:pic>
        <p:nvPicPr>
          <p:cNvPr id="3" name="Picture 2" descr="p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760720" cy="47268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66560" y="1645920"/>
            <a:ext cx="4873752" cy="4114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R="274320" indent="-274320" algn="r" rtl="1">
              <a:spcAft>
                <a:spcPts val="14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700" b="0" i="0">
                <a:solidFill>
                  <a:srgbClr val="2B1E3F"/>
                </a:solidFill>
                <a:latin typeface="Arial"/>
                <a:cs typeface="Arial"/>
              </a:rPr>
              <a:t>az.plot_pair מציג את הפוסטריור המשותף של שני הפרמטרים</a:t>
            </a:r>
          </a:p>
          <a:p>
            <a:pPr marR="274320" indent="-274320" algn="r" rtl="1">
              <a:spcAft>
                <a:spcPts val="14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700" b="0" i="0">
                <a:solidFill>
                  <a:srgbClr val="2B1E3F"/>
                </a:solidFill>
                <a:latin typeface="Arial"/>
                <a:cs typeface="Arial"/>
              </a:rPr>
              <a:t>כל קו מתאר אזור בצפיפות שווה — מרכז כהה = הערכים הסבירים ביותר</a:t>
            </a:r>
          </a:p>
          <a:p>
            <a:pPr marR="274320" indent="-274320" algn="r" rtl="1">
              <a:spcAft>
                <a:spcPts val="14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700" b="0" i="0">
                <a:solidFill>
                  <a:srgbClr val="2B1E3F"/>
                </a:solidFill>
                <a:latin typeface="Arial"/>
                <a:cs typeface="Arial"/>
              </a:rPr>
              <a:t>הצורה כמעט סימטרית: </a:t>
            </a:r>
            <a:r>
              <a:rPr lang="en-US" sz="1700" b="0" i="0">
                <a:solidFill>
                  <a:srgbClr val="2B1E3F"/>
                </a:solidFill>
                <a:latin typeface="Arial"/>
                <a:cs typeface="Arial"/>
              </a:rPr>
              <a:t>μ</a:t>
            </a:r>
            <a:r>
              <a:rPr lang="he-IL" sz="1700" b="0" i="0">
                <a:solidFill>
                  <a:srgbClr val="2B1E3F"/>
                </a:solidFill>
                <a:latin typeface="Arial"/>
                <a:cs typeface="Arial"/>
              </a:rPr>
              <a:t> ו-</a:t>
            </a:r>
            <a:r>
              <a:rPr lang="en-US" sz="1700" b="0" i="0">
                <a:solidFill>
                  <a:srgbClr val="2B1E3F"/>
                </a:solidFill>
                <a:latin typeface="Arial"/>
                <a:cs typeface="Arial"/>
              </a:rPr>
              <a:t>σ</a:t>
            </a:r>
            <a:r>
              <a:rPr lang="he-IL" sz="1700" b="0" i="0">
                <a:solidFill>
                  <a:srgbClr val="2B1E3F"/>
                </a:solidFill>
                <a:latin typeface="Arial"/>
                <a:cs typeface="Arial"/>
              </a:rPr>
              <a:t> כמעט בלתי תלויים</a:t>
            </a:r>
          </a:p>
          <a:p>
            <a:pPr marR="274320" indent="-274320" algn="r" rtl="1">
              <a:spcAft>
                <a:spcPts val="14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700" b="0" i="0">
                <a:solidFill>
                  <a:srgbClr val="2B1E3F"/>
                </a:solidFill>
                <a:latin typeface="Arial"/>
                <a:cs typeface="Arial"/>
              </a:rPr>
              <a:t>מתאם חזק היה נראה כאליפסה מוטה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8793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3400" b="1" i="0" dirty="0">
                <a:solidFill>
                  <a:srgbClr val="2B1E3F"/>
                </a:solidFill>
                <a:latin typeface="Arial"/>
                <a:cs typeface="Arial"/>
              </a:rPr>
              <a:t>בדיקות </a:t>
            </a:r>
            <a:r>
              <a:rPr lang="en-US" sz="3400" b="1" i="0" dirty="0">
                <a:solidFill>
                  <a:srgbClr val="2B1E3F"/>
                </a:solidFill>
                <a:latin typeface="Arial"/>
                <a:cs typeface="Arial"/>
              </a:rPr>
              <a:t>posterior -predictive</a:t>
            </a:r>
            <a:endParaRPr lang="he-IL" sz="3400" b="1" i="0" dirty="0">
              <a:solidFill>
                <a:srgbClr val="2B1E3F"/>
              </a:solidFill>
              <a:latin typeface="Arial"/>
              <a:cs typeface="Arial"/>
            </a:endParaRPr>
          </a:p>
        </p:txBody>
      </p:sp>
      <p:sp>
        <p:nvSpPr>
          <p:cNvPr id="3" name="card"/>
          <p:cNvSpPr/>
          <p:nvPr/>
        </p:nvSpPr>
        <p:spPr>
          <a:xfrm>
            <a:off x="8214055" y="1600200"/>
            <a:ext cx="3429000" cy="246888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badge 1"/>
          <p:cNvSpPr/>
          <p:nvPr/>
        </p:nvSpPr>
        <p:spPr>
          <a:xfrm>
            <a:off x="9517075" y="1828800"/>
            <a:ext cx="822960" cy="822960"/>
          </a:xfrm>
          <a:prstGeom prst="ellipse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6935" y="2743200"/>
            <a:ext cx="306324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2000" b="1" i="0">
                <a:solidFill>
                  <a:srgbClr val="2B1E3F"/>
                </a:solidFill>
                <a:latin typeface="Arial"/>
                <a:cs typeface="Arial"/>
              </a:rPr>
              <a:t>דוגמים פרמטרים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3291840"/>
            <a:ext cx="3063240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en-US" sz="1500" b="0" i="0">
                <a:solidFill>
                  <a:srgbClr val="6B6478"/>
                </a:solidFill>
                <a:latin typeface="Arial"/>
                <a:cs typeface="Arial"/>
              </a:rPr>
              <a:t>μ</a:t>
            </a:r>
            <a:r>
              <a:rPr lang="he-IL" sz="1500" b="0" i="0">
                <a:solidFill>
                  <a:srgbClr val="6B6478"/>
                </a:solidFill>
                <a:latin typeface="Arial"/>
                <a:cs typeface="Arial"/>
              </a:rPr>
              <a:t> ו-</a:t>
            </a:r>
            <a:r>
              <a:rPr lang="en-US" sz="1500" b="0" i="0">
                <a:solidFill>
                  <a:srgbClr val="6B6478"/>
                </a:solidFill>
                <a:latin typeface="Arial"/>
                <a:cs typeface="Arial"/>
              </a:rPr>
              <a:t>σ</a:t>
            </a:r>
            <a:r>
              <a:rPr lang="he-IL" sz="1500" b="0" i="0">
                <a:solidFill>
                  <a:srgbClr val="6B6478"/>
                </a:solidFill>
                <a:latin typeface="Arial"/>
                <a:cs typeface="Arial"/>
              </a:rPr>
              <a:t> מתוך הפוסטריור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7866583" y="2834640"/>
            <a:ext cx="292608" cy="0"/>
          </a:xfrm>
          <a:prstGeom prst="line">
            <a:avLst/>
          </a:prstGeom>
          <a:ln w="31750">
            <a:solidFill>
              <a:srgbClr val="CFC6D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rd"/>
          <p:cNvSpPr/>
          <p:nvPr/>
        </p:nvSpPr>
        <p:spPr>
          <a:xfrm>
            <a:off x="4382719" y="1600200"/>
            <a:ext cx="3429000" cy="246888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badge 2"/>
          <p:cNvSpPr/>
          <p:nvPr/>
        </p:nvSpPr>
        <p:spPr>
          <a:xfrm>
            <a:off x="5685739" y="1828800"/>
            <a:ext cx="822960" cy="822960"/>
          </a:xfrm>
          <a:prstGeom prst="ellipse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5599" y="2743200"/>
            <a:ext cx="306324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2000" b="1" i="0">
                <a:solidFill>
                  <a:srgbClr val="2B1E3F"/>
                </a:solidFill>
                <a:latin typeface="Arial"/>
                <a:cs typeface="Arial"/>
              </a:rPr>
              <a:t>מדמים נתונים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5599" y="3291840"/>
            <a:ext cx="3063240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500" b="0" i="0">
                <a:solidFill>
                  <a:srgbClr val="6B6478"/>
                </a:solidFill>
                <a:latin typeface="Arial"/>
                <a:cs typeface="Arial"/>
              </a:rPr>
              <a:t>מדגם בגודל של הנתונים (48) לכל דגימה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4035247" y="2834640"/>
            <a:ext cx="292608" cy="0"/>
          </a:xfrm>
          <a:prstGeom prst="line">
            <a:avLst/>
          </a:prstGeom>
          <a:ln w="31750">
            <a:solidFill>
              <a:srgbClr val="CFC6D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rd"/>
          <p:cNvSpPr/>
          <p:nvPr/>
        </p:nvSpPr>
        <p:spPr>
          <a:xfrm>
            <a:off x="551383" y="1600200"/>
            <a:ext cx="3429000" cy="246888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badge 3"/>
          <p:cNvSpPr/>
          <p:nvPr/>
        </p:nvSpPr>
        <p:spPr>
          <a:xfrm>
            <a:off x="1854403" y="1828800"/>
            <a:ext cx="822960" cy="82296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263" y="2743200"/>
            <a:ext cx="306324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2000" b="1" i="0">
                <a:solidFill>
                  <a:srgbClr val="2B1E3F"/>
                </a:solidFill>
                <a:latin typeface="Arial"/>
                <a:cs typeface="Arial"/>
              </a:rPr>
              <a:t>משווים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263" y="3291840"/>
            <a:ext cx="3063240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500" b="0" i="0">
                <a:solidFill>
                  <a:srgbClr val="6B6478"/>
                </a:solidFill>
                <a:latin typeface="Arial"/>
                <a:cs typeface="Arial"/>
              </a:rPr>
              <a:t>האם הנתונים המדומים נראים כמו האמיתיים?</a:t>
            </a:r>
          </a:p>
        </p:txBody>
      </p:sp>
      <p:sp>
        <p:nvSpPr>
          <p:cNvPr id="17" name="code block"/>
          <p:cNvSpPr/>
          <p:nvPr/>
        </p:nvSpPr>
        <p:spPr>
          <a:xfrm>
            <a:off x="548640" y="4343400"/>
            <a:ext cx="6400800" cy="1920240"/>
          </a:xfrm>
          <a:prstGeom prst="roundRect">
            <a:avLst>
              <a:gd name="adj" fmla="val 8000"/>
            </a:avLst>
          </a:prstGeom>
          <a:solidFill>
            <a:srgbClr val="24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code"/>
          <p:cNvSpPr txBox="1"/>
          <p:nvPr/>
        </p:nvSpPr>
        <p:spPr>
          <a:xfrm>
            <a:off x="777240" y="4526280"/>
            <a:ext cx="5943600" cy="1554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US" sz="1400" b="0" i="0">
                <a:solidFill>
                  <a:srgbClr val="EDE8F5"/>
                </a:solidFill>
                <a:latin typeface="Courier New"/>
                <a:cs typeface="Courier New"/>
              </a:rPr>
              <a:t>with model_g:</a:t>
            </a:r>
          </a:p>
          <a:p>
            <a:pPr algn="l" rtl="0">
              <a:spcAft>
                <a:spcPts val="0"/>
              </a:spcAft>
            </a:pPr>
            <a:r>
              <a:rPr lang="en-US" sz="1400" b="0" i="0">
                <a:solidFill>
                  <a:srgbClr val="EDE8F5"/>
                </a:solidFill>
                <a:latin typeface="Courier New"/>
                <a:cs typeface="Courier New"/>
              </a:rPr>
              <a:t>    pm.sample_posterior_predictive(</a:t>
            </a:r>
          </a:p>
          <a:p>
            <a:pPr algn="l" rtl="0">
              <a:spcAft>
                <a:spcPts val="0"/>
              </a:spcAft>
            </a:pPr>
            <a:r>
              <a:rPr lang="en-US" sz="1400" b="0" i="0">
                <a:solidFill>
                  <a:srgbClr val="EDE8F5"/>
                </a:solidFill>
                <a:latin typeface="Courier New"/>
                <a:cs typeface="Courier New"/>
              </a:rPr>
              <a:t>        idata_g, extend_inferencedata=True)</a:t>
            </a:r>
          </a:p>
          <a:p>
            <a:pPr algn="l" rtl="0">
              <a:spcAft>
                <a:spcPts val="0"/>
              </a:spcAft>
            </a:pPr>
            <a:r>
              <a:rPr lang="en-US" sz="1400" b="0" i="0">
                <a:solidFill>
                  <a:srgbClr val="EDE8F5"/>
                </a:solidFill>
                <a:latin typeface="Courier New"/>
                <a:cs typeface="Courier New"/>
              </a:rPr>
              <a:t>az.plot_ppc(idata_g, num_pp_samples=100)</a:t>
            </a:r>
          </a:p>
        </p:txBody>
      </p:sp>
      <p:sp>
        <p:nvSpPr>
          <p:cNvPr id="19" name="card"/>
          <p:cNvSpPr/>
          <p:nvPr/>
        </p:nvSpPr>
        <p:spPr>
          <a:xfrm>
            <a:off x="7223760" y="4343400"/>
            <a:ext cx="4416552" cy="1920240"/>
          </a:xfrm>
          <a:prstGeom prst="roundRect">
            <a:avLst>
              <a:gd name="adj" fmla="val 8000"/>
            </a:avLst>
          </a:prstGeom>
          <a:solidFill>
            <a:srgbClr val="E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06640" y="4434840"/>
            <a:ext cx="4050791" cy="17373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700" b="1" i="0">
                <a:solidFill>
                  <a:srgbClr val="7B5EA7"/>
                </a:solidFill>
                <a:latin typeface="Arial"/>
                <a:cs typeface="Arial"/>
              </a:rPr>
              <a:t>הרעיון: </a:t>
            </a:r>
            <a:r>
              <a:rPr lang="he-IL" sz="1700" b="0" i="0">
                <a:solidFill>
                  <a:srgbClr val="2B1E3F"/>
                </a:solidFill>
                <a:latin typeface="Arial"/>
                <a:cs typeface="Arial"/>
              </a:rPr>
              <a:t>משתמשים בפוסטריור כדי לחזות — ובתחזיות כדי לבדוק את המודל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3400" b="1" i="0">
                <a:solidFill>
                  <a:srgbClr val="2B1E3F"/>
                </a:solidFill>
                <a:latin typeface="Arial"/>
                <a:cs typeface="Arial"/>
              </a:rPr>
              <a:t>בדיקת המודל הגאוסיאני</a:t>
            </a:r>
          </a:p>
        </p:txBody>
      </p:sp>
      <p:pic>
        <p:nvPicPr>
          <p:cNvPr id="3" name="Picture 2" descr="ppc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949440" cy="42016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18120" y="1554480"/>
            <a:ext cx="3822191" cy="329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R="274320" indent="-274320" algn="r" rtl="1">
              <a:spcAft>
                <a:spcPts val="12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600" b="0" i="0">
                <a:solidFill>
                  <a:srgbClr val="2B1E3F"/>
                </a:solidFill>
                <a:latin typeface="Arial"/>
                <a:cs typeface="Arial"/>
              </a:rPr>
              <a:t>קו כהה: הנתונים שנצפו</a:t>
            </a:r>
          </a:p>
          <a:p>
            <a:pPr marR="274320" indent="-274320" algn="r" rtl="1">
              <a:spcAft>
                <a:spcPts val="12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600" b="0" i="0">
                <a:solidFill>
                  <a:srgbClr val="2B1E3F"/>
                </a:solidFill>
                <a:latin typeface="Arial"/>
                <a:cs typeface="Arial"/>
              </a:rPr>
              <a:t>קווים דקים: 100 מדגמים מדומים מהפוסטריור</a:t>
            </a:r>
          </a:p>
          <a:p>
            <a:pPr marR="274320" indent="-274320" algn="r" rtl="1">
              <a:spcAft>
                <a:spcPts val="12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600" b="0" i="0">
                <a:solidFill>
                  <a:srgbClr val="2B1E3F"/>
                </a:solidFill>
                <a:latin typeface="Arial"/>
                <a:cs typeface="Arial"/>
              </a:rPr>
              <a:t>המדגמים המדומים </a:t>
            </a:r>
            <a:r>
              <a:rPr lang="he-IL" sz="1600" b="1" i="0">
                <a:solidFill>
                  <a:srgbClr val="E4572E"/>
                </a:solidFill>
                <a:latin typeface="Arial"/>
                <a:cs typeface="Arial"/>
              </a:rPr>
              <a:t>רחבים מדי</a:t>
            </a:r>
            <a:r>
              <a:rPr lang="he-IL" sz="1600" b="0" i="0">
                <a:solidFill>
                  <a:srgbClr val="2B1E3F"/>
                </a:solidFill>
                <a:latin typeface="Arial"/>
                <a:cs typeface="Arial"/>
              </a:rPr>
              <a:t> ומוסטים ימינה</a:t>
            </a:r>
          </a:p>
        </p:txBody>
      </p:sp>
      <p:sp>
        <p:nvSpPr>
          <p:cNvPr id="5" name="card"/>
          <p:cNvSpPr/>
          <p:nvPr/>
        </p:nvSpPr>
        <p:spPr>
          <a:xfrm>
            <a:off x="7818120" y="4800600"/>
            <a:ext cx="3822191" cy="1463040"/>
          </a:xfrm>
          <a:prstGeom prst="roundRect">
            <a:avLst>
              <a:gd name="adj" fmla="val 8000"/>
            </a:avLst>
          </a:prstGeom>
          <a:solidFill>
            <a:srgbClr val="FBE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79" y="4846320"/>
            <a:ext cx="3547872" cy="13716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500" b="1" i="0">
                <a:solidFill>
                  <a:srgbClr val="2B1E3F"/>
                </a:solidFill>
                <a:latin typeface="Arial"/>
                <a:cs typeface="Arial"/>
              </a:rPr>
              <a:t>שני הערכים החריגים מושכים את </a:t>
            </a:r>
            <a:r>
              <a:rPr lang="en-US" sz="1500" b="1" i="0">
                <a:solidFill>
                  <a:srgbClr val="2B1E3F"/>
                </a:solidFill>
                <a:latin typeface="Arial"/>
                <a:cs typeface="Arial"/>
              </a:rPr>
              <a:t>μ</a:t>
            </a:r>
            <a:r>
              <a:rPr lang="he-IL" sz="1500" b="1" i="0">
                <a:solidFill>
                  <a:srgbClr val="2B1E3F"/>
                </a:solidFill>
                <a:latin typeface="Arial"/>
                <a:cs typeface="Arial"/>
              </a:rPr>
              <a:t> ומנפחים את </a:t>
            </a:r>
            <a:r>
              <a:rPr lang="en-US" sz="1500" b="1" i="0">
                <a:solidFill>
                  <a:srgbClr val="2B1E3F"/>
                </a:solidFill>
                <a:latin typeface="Arial"/>
                <a:cs typeface="Arial"/>
              </a:rPr>
              <a:t>σ</a:t>
            </a:r>
            <a:r>
              <a:rPr lang="he-IL" sz="1500" b="1" i="0">
                <a:solidFill>
                  <a:srgbClr val="2B1E3F"/>
                </a:solidFill>
                <a:latin typeface="Arial"/>
                <a:cs typeface="Arial"/>
              </a:rPr>
              <a:t> — המודל הנורמלי רגיש מדי לחריגים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8793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3400" b="1" i="0" dirty="0">
                <a:solidFill>
                  <a:srgbClr val="2B1E3F"/>
                </a:solidFill>
                <a:latin typeface="Arial"/>
                <a:cs typeface="Arial"/>
              </a:rPr>
              <a:t>התפלגות t (נקרא גם </a:t>
            </a:r>
            <a:r>
              <a:rPr lang="en-US" sz="3400" b="1" i="0" dirty="0">
                <a:solidFill>
                  <a:srgbClr val="2B1E3F"/>
                </a:solidFill>
                <a:latin typeface="Arial"/>
                <a:cs typeface="Arial"/>
              </a:rPr>
              <a:t>student</a:t>
            </a:r>
            <a:r>
              <a:rPr lang="he-IL" sz="3400" b="1" i="0" dirty="0">
                <a:solidFill>
                  <a:srgbClr val="2B1E3F"/>
                </a:solidFill>
                <a:latin typeface="Arial"/>
                <a:cs typeface="Arial"/>
              </a:rPr>
              <a:t>)</a:t>
            </a:r>
          </a:p>
        </p:txBody>
      </p:sp>
      <p:pic>
        <p:nvPicPr>
          <p:cNvPr id="3" name="Picture 2" descr="t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949440" cy="4201668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7818120" y="1463040"/>
            <a:ext cx="3822191" cy="141732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badge ν"/>
          <p:cNvSpPr/>
          <p:nvPr/>
        </p:nvSpPr>
        <p:spPr>
          <a:xfrm>
            <a:off x="10789920" y="1828800"/>
            <a:ext cx="640080" cy="640080"/>
          </a:xfrm>
          <a:prstGeom prst="ellipse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  <a:cs typeface="Arial"/>
              </a:rPr>
              <a:t>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1645920"/>
            <a:ext cx="269748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600" b="1" i="0">
                <a:solidFill>
                  <a:srgbClr val="2B1E3F"/>
                </a:solidFill>
                <a:latin typeface="Arial"/>
                <a:cs typeface="Arial"/>
              </a:rPr>
              <a:t>פרמטר הנורמליות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2148840"/>
            <a:ext cx="269748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400" b="0" i="0">
                <a:solidFill>
                  <a:srgbClr val="6B6478"/>
                </a:solidFill>
                <a:latin typeface="Arial"/>
                <a:cs typeface="Arial"/>
              </a:rPr>
              <a:t>שולט בכובד הזנבות</a:t>
            </a:r>
          </a:p>
        </p:txBody>
      </p:sp>
      <p:sp>
        <p:nvSpPr>
          <p:cNvPr id="8" name="card"/>
          <p:cNvSpPr/>
          <p:nvPr/>
        </p:nvSpPr>
        <p:spPr>
          <a:xfrm>
            <a:off x="7818120" y="3063240"/>
            <a:ext cx="3822191" cy="141732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badge 1"/>
          <p:cNvSpPr/>
          <p:nvPr/>
        </p:nvSpPr>
        <p:spPr>
          <a:xfrm>
            <a:off x="10789920" y="3429000"/>
            <a:ext cx="640080" cy="64008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3246120"/>
            <a:ext cx="269748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en-US" sz="1600" b="1" i="0">
                <a:solidFill>
                  <a:srgbClr val="2B1E3F"/>
                </a:solidFill>
                <a:latin typeface="Arial"/>
                <a:cs typeface="Arial"/>
              </a:rPr>
              <a:t>ν</a:t>
            </a:r>
            <a:r>
              <a:rPr lang="he-IL" sz="1600" b="1" i="0">
                <a:solidFill>
                  <a:srgbClr val="2B1E3F"/>
                </a:solidFill>
                <a:latin typeface="Arial"/>
                <a:cs typeface="Arial"/>
              </a:rPr>
              <a:t> = 1: התפלגות קושי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3749039"/>
            <a:ext cx="269748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400" b="0" i="0">
                <a:solidFill>
                  <a:srgbClr val="6B6478"/>
                </a:solidFill>
                <a:latin typeface="Arial"/>
                <a:cs typeface="Arial"/>
              </a:rPr>
              <a:t>זנבות כבדים מאוד — ערכים קיצוניים סבירים</a:t>
            </a:r>
          </a:p>
        </p:txBody>
      </p:sp>
      <p:sp>
        <p:nvSpPr>
          <p:cNvPr id="12" name="card"/>
          <p:cNvSpPr/>
          <p:nvPr/>
        </p:nvSpPr>
        <p:spPr>
          <a:xfrm>
            <a:off x="7818120" y="4663440"/>
            <a:ext cx="3822191" cy="1417320"/>
          </a:xfrm>
          <a:prstGeom prst="roundRect">
            <a:avLst>
              <a:gd name="adj" fmla="val 8000"/>
            </a:avLst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badge ∞"/>
          <p:cNvSpPr/>
          <p:nvPr/>
        </p:nvSpPr>
        <p:spPr>
          <a:xfrm>
            <a:off x="10789920" y="5029200"/>
            <a:ext cx="640080" cy="640080"/>
          </a:xfrm>
          <a:prstGeom prst="ellipse">
            <a:avLst/>
          </a:prstGeom>
          <a:solidFill>
            <a:srgbClr val="2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  <a:cs typeface="Arial"/>
              </a:rPr>
              <a:t>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4846320"/>
            <a:ext cx="269748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en-US" sz="1600" b="1" i="0">
                <a:solidFill>
                  <a:srgbClr val="2B1E3F"/>
                </a:solidFill>
                <a:latin typeface="Arial"/>
                <a:cs typeface="Arial"/>
              </a:rPr>
              <a:t>ν</a:t>
            </a:r>
            <a:r>
              <a:rPr lang="he-IL" sz="1600" b="1" i="0">
                <a:solidFill>
                  <a:srgbClr val="2B1E3F"/>
                </a:solidFill>
                <a:latin typeface="Arial"/>
                <a:cs typeface="Arial"/>
              </a:rPr>
              <a:t> גדול: כמעט נורמלית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5349240"/>
            <a:ext cx="269748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400" b="0" i="0">
                <a:solidFill>
                  <a:srgbClr val="6B6478"/>
                </a:solidFill>
                <a:latin typeface="Arial"/>
                <a:cs typeface="Arial"/>
              </a:rPr>
              <a:t>כבר ב-</a:t>
            </a:r>
            <a:r>
              <a:rPr lang="en-US" sz="1400" b="0" i="0">
                <a:solidFill>
                  <a:srgbClr val="6B6478"/>
                </a:solidFill>
                <a:latin typeface="Arial"/>
                <a:cs typeface="Arial"/>
              </a:rPr>
              <a:t>ν</a:t>
            </a:r>
            <a:r>
              <a:rPr lang="he-IL" sz="1400" b="0" i="0">
                <a:solidFill>
                  <a:srgbClr val="6B6478"/>
                </a:solidFill>
                <a:latin typeface="Arial"/>
                <a:cs typeface="Arial"/>
              </a:rPr>
              <a:t> = 30 קשה להבדיל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3400" b="1" i="0">
                <a:solidFill>
                  <a:srgbClr val="2B1E3F"/>
                </a:solidFill>
                <a:latin typeface="Arial"/>
                <a:cs typeface="Arial"/>
              </a:rPr>
              <a:t>מודל חסין: נראות t של סטודנט</a:t>
            </a:r>
          </a:p>
        </p:txBody>
      </p:sp>
      <p:sp>
        <p:nvSpPr>
          <p:cNvPr id="3" name="card"/>
          <p:cNvSpPr/>
          <p:nvPr/>
        </p:nvSpPr>
        <p:spPr>
          <a:xfrm>
            <a:off x="571500" y="1645920"/>
            <a:ext cx="1600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F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badge μ"/>
          <p:cNvSpPr/>
          <p:nvPr/>
        </p:nvSpPr>
        <p:spPr>
          <a:xfrm>
            <a:off x="1097280" y="1783080"/>
            <a:ext cx="548640" cy="548640"/>
          </a:xfrm>
          <a:prstGeom prst="ellipse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  <a:cs typeface="Arial"/>
              </a:rPr>
              <a:t>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423160"/>
            <a:ext cx="16002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0">
              <a:spcAft>
                <a:spcPts val="600"/>
              </a:spcAft>
            </a:pPr>
            <a:r>
              <a:rPr lang="en-US" sz="1300" b="0" i="0">
                <a:solidFill>
                  <a:srgbClr val="6B6478"/>
                </a:solidFill>
                <a:latin typeface="Arial"/>
                <a:cs typeface="Arial"/>
              </a:rPr>
              <a:t>Uniform(40, 75)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71600" y="3063240"/>
            <a:ext cx="1920240" cy="640080"/>
          </a:xfrm>
          <a:prstGeom prst="line">
            <a:avLst/>
          </a:prstGeom>
          <a:ln w="22225">
            <a:solidFill>
              <a:srgbClr val="6B64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rd"/>
          <p:cNvSpPr/>
          <p:nvPr/>
        </p:nvSpPr>
        <p:spPr>
          <a:xfrm>
            <a:off x="2491740" y="1645920"/>
            <a:ext cx="1600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F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badge σ"/>
          <p:cNvSpPr/>
          <p:nvPr/>
        </p:nvSpPr>
        <p:spPr>
          <a:xfrm>
            <a:off x="3017520" y="1783080"/>
            <a:ext cx="548640" cy="54864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  <a:cs typeface="Arial"/>
              </a:rPr>
              <a:t>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1740" y="2423160"/>
            <a:ext cx="16002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0">
              <a:spcAft>
                <a:spcPts val="600"/>
              </a:spcAft>
            </a:pPr>
            <a:r>
              <a:rPr lang="en-US" sz="1300" b="0" i="0">
                <a:solidFill>
                  <a:srgbClr val="6B6478"/>
                </a:solidFill>
                <a:latin typeface="Arial"/>
                <a:cs typeface="Arial"/>
              </a:rPr>
              <a:t>HalfNormal(10)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91840" y="3063240"/>
            <a:ext cx="0" cy="640080"/>
          </a:xfrm>
          <a:prstGeom prst="line">
            <a:avLst/>
          </a:prstGeom>
          <a:ln w="22225">
            <a:solidFill>
              <a:srgbClr val="6B64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rd"/>
          <p:cNvSpPr/>
          <p:nvPr/>
        </p:nvSpPr>
        <p:spPr>
          <a:xfrm>
            <a:off x="4411980" y="1645920"/>
            <a:ext cx="1600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F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badge ν"/>
          <p:cNvSpPr/>
          <p:nvPr/>
        </p:nvSpPr>
        <p:spPr>
          <a:xfrm>
            <a:off x="4937760" y="1783080"/>
            <a:ext cx="548640" cy="548640"/>
          </a:xfrm>
          <a:prstGeom prst="ellipse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  <a:cs typeface="Arial"/>
              </a:rPr>
              <a:t>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1980" y="2423160"/>
            <a:ext cx="16002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 rtl="0">
              <a:spcAft>
                <a:spcPts val="600"/>
              </a:spcAft>
            </a:pPr>
            <a:r>
              <a:rPr lang="en-US" sz="1300" b="0" i="0">
                <a:solidFill>
                  <a:srgbClr val="6B6478"/>
                </a:solidFill>
                <a:latin typeface="Arial"/>
                <a:cs typeface="Arial"/>
              </a:rPr>
              <a:t>Exp(1/30)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3291840" y="3063240"/>
            <a:ext cx="1920240" cy="640080"/>
          </a:xfrm>
          <a:prstGeom prst="line">
            <a:avLst/>
          </a:prstGeom>
          <a:ln w="22225">
            <a:solidFill>
              <a:srgbClr val="6B64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194560" y="3749039"/>
            <a:ext cx="2194560" cy="1005840"/>
          </a:xfrm>
          <a:prstGeom prst="roundRect">
            <a:avLst>
              <a:gd name="adj" fmla="val 20000"/>
            </a:avLst>
          </a:prstGeom>
          <a:solidFill>
            <a:srgbClr val="CFC6DE"/>
          </a:solidFill>
          <a:ln w="19050">
            <a:solidFill>
              <a:srgbClr val="2B1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>
                <a:solidFill>
                  <a:srgbClr val="2B1E3F"/>
                </a:solidFill>
                <a:latin typeface="Arial"/>
                <a:cs typeface="Arial"/>
              </a:rPr>
              <a:t>y ~ StudentT(μ, σ, ν)</a:t>
            </a:r>
          </a:p>
        </p:txBody>
      </p:sp>
      <p:sp>
        <p:nvSpPr>
          <p:cNvPr id="16" name="code block"/>
          <p:cNvSpPr/>
          <p:nvPr/>
        </p:nvSpPr>
        <p:spPr>
          <a:xfrm>
            <a:off x="548640" y="4892040"/>
            <a:ext cx="5852160" cy="1371600"/>
          </a:xfrm>
          <a:prstGeom prst="roundRect">
            <a:avLst>
              <a:gd name="adj" fmla="val 8000"/>
            </a:avLst>
          </a:prstGeom>
          <a:solidFill>
            <a:srgbClr val="24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code"/>
          <p:cNvSpPr txBox="1"/>
          <p:nvPr/>
        </p:nvSpPr>
        <p:spPr>
          <a:xfrm>
            <a:off x="777240" y="5074920"/>
            <a:ext cx="539496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US" sz="1200" b="0" i="0">
                <a:solidFill>
                  <a:srgbClr val="EDE8F5"/>
                </a:solidFill>
                <a:latin typeface="Courier New"/>
                <a:cs typeface="Courier New"/>
              </a:rPr>
              <a:t>ν = pm.Exponential('ν', 1/30)</a:t>
            </a:r>
          </a:p>
          <a:p>
            <a:pPr algn="l" rtl="0">
              <a:spcAft>
                <a:spcPts val="0"/>
              </a:spcAft>
            </a:pPr>
            <a:r>
              <a:rPr lang="en-US" sz="1200" b="0" i="0">
                <a:solidFill>
                  <a:srgbClr val="EDE8F5"/>
                </a:solidFill>
                <a:latin typeface="Courier New"/>
                <a:cs typeface="Courier New"/>
              </a:rPr>
              <a:t>y = pm.StudentT('y', mu=μ, sigma=σ, nu=ν, observed=data)</a:t>
            </a:r>
          </a:p>
        </p:txBody>
      </p:sp>
      <p:pic>
        <p:nvPicPr>
          <p:cNvPr id="18" name="Picture 17" descr="nu_pri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463040"/>
            <a:ext cx="4873752" cy="308671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766560" y="4663440"/>
            <a:ext cx="4873752" cy="1645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R="274320" indent="-274320" algn="r" rtl="1">
              <a:spcAft>
                <a:spcPts val="8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500" b="0" i="0">
                <a:solidFill>
                  <a:srgbClr val="2B1E3F"/>
                </a:solidFill>
                <a:latin typeface="Arial"/>
                <a:cs typeface="Arial"/>
              </a:rPr>
              <a:t>ה-prior של </a:t>
            </a:r>
            <a:r>
              <a:rPr lang="en-US" sz="1500" b="0" i="0">
                <a:solidFill>
                  <a:srgbClr val="2B1E3F"/>
                </a:solidFill>
                <a:latin typeface="Arial"/>
                <a:cs typeface="Arial"/>
              </a:rPr>
              <a:t>ν</a:t>
            </a:r>
            <a:r>
              <a:rPr lang="he-IL" sz="1500" b="0" i="0">
                <a:solidFill>
                  <a:srgbClr val="2B1E3F"/>
                </a:solidFill>
                <a:latin typeface="Arial"/>
                <a:cs typeface="Arial"/>
              </a:rPr>
              <a:t>: מעריכית עם ממוצע 30</a:t>
            </a:r>
          </a:p>
          <a:p>
            <a:pPr marR="274320" indent="-274320" algn="r" rtl="1">
              <a:spcAft>
                <a:spcPts val="8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500" b="0" i="0">
                <a:solidFill>
                  <a:srgbClr val="2B1E3F"/>
                </a:solidFill>
                <a:latin typeface="Arial"/>
                <a:cs typeface="Arial"/>
              </a:rPr>
              <a:t>רוב המסה — קרוב לנורמלית; ערכים קטנים עדיין אפשריים אם הנתונים דורשים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3400" b="1" i="0">
                <a:solidFill>
                  <a:srgbClr val="2B1E3F"/>
                </a:solidFill>
                <a:latin typeface="Arial"/>
                <a:cs typeface="Arial"/>
              </a:rPr>
              <a:t>נורמלית מול t: מה השתנה?</a:t>
            </a:r>
          </a:p>
        </p:txBody>
      </p:sp>
      <p:pic>
        <p:nvPicPr>
          <p:cNvPr id="3" name="Picture 2" descr="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766560" cy="31376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545775" y="1463040"/>
            <a:ext cx="1097280" cy="685800"/>
          </a:xfrm>
          <a:prstGeom prst="rect">
            <a:avLst/>
          </a:prstGeom>
          <a:solidFill>
            <a:srgbClr val="2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45775" y="1463040"/>
            <a:ext cx="10972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74175" y="1463040"/>
            <a:ext cx="1371600" cy="685800"/>
          </a:xfrm>
          <a:prstGeom prst="rect">
            <a:avLst/>
          </a:prstGeom>
          <a:solidFill>
            <a:srgbClr val="2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74175" y="1463040"/>
            <a:ext cx="13716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400" b="1" i="0">
                <a:solidFill>
                  <a:srgbClr val="FFFFFF"/>
                </a:solidFill>
                <a:latin typeface="Arial"/>
                <a:cs typeface="Arial"/>
              </a:rPr>
              <a:t>נורמלית</a:t>
            </a:r>
          </a:p>
        </p:txBody>
      </p:sp>
      <p:sp>
        <p:nvSpPr>
          <p:cNvPr id="8" name="Rectangle 7"/>
          <p:cNvSpPr/>
          <p:nvPr/>
        </p:nvSpPr>
        <p:spPr>
          <a:xfrm>
            <a:off x="7592263" y="1463040"/>
            <a:ext cx="1581912" cy="685800"/>
          </a:xfrm>
          <a:prstGeom prst="rect">
            <a:avLst/>
          </a:prstGeom>
          <a:solidFill>
            <a:srgbClr val="2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92263" y="1463040"/>
            <a:ext cx="1581912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400" b="1" i="0">
                <a:solidFill>
                  <a:srgbClr val="FFFFFF"/>
                </a:solidFill>
                <a:latin typeface="Arial"/>
                <a:cs typeface="Arial"/>
              </a:rPr>
              <a:t>t של סטודנט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45775" y="2148840"/>
            <a:ext cx="1097280" cy="685800"/>
          </a:xfrm>
          <a:prstGeom prst="rect">
            <a:avLst/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45775" y="2148840"/>
            <a:ext cx="10972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en-US" sz="1600" b="1" i="0">
                <a:solidFill>
                  <a:srgbClr val="2B1E3F"/>
                </a:solidFill>
                <a:latin typeface="Arial"/>
                <a:cs typeface="Arial"/>
              </a:rPr>
              <a:t>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74175" y="2148840"/>
            <a:ext cx="1371600" cy="685800"/>
          </a:xfrm>
          <a:prstGeom prst="rect">
            <a:avLst/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74175" y="2148840"/>
            <a:ext cx="13716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600" b="0" i="0">
                <a:solidFill>
                  <a:srgbClr val="6B6478"/>
                </a:solidFill>
                <a:latin typeface="Arial"/>
                <a:cs typeface="Arial"/>
              </a:rPr>
              <a:t>53.48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92263" y="2148840"/>
            <a:ext cx="1581912" cy="685800"/>
          </a:xfrm>
          <a:prstGeom prst="rect">
            <a:avLst/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92263" y="2148840"/>
            <a:ext cx="1581912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600" b="0" i="0">
                <a:solidFill>
                  <a:srgbClr val="7B5EA7"/>
                </a:solidFill>
                <a:latin typeface="Arial"/>
                <a:cs typeface="Arial"/>
              </a:rPr>
              <a:t>53.03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45775" y="2834640"/>
            <a:ext cx="109728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45775" y="2834640"/>
            <a:ext cx="10972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en-US" sz="1600" b="1" i="0">
                <a:solidFill>
                  <a:srgbClr val="2B1E3F"/>
                </a:solidFill>
                <a:latin typeface="Arial"/>
                <a:cs typeface="Arial"/>
              </a:rPr>
              <a:t>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74175" y="2834640"/>
            <a:ext cx="13716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74175" y="2834640"/>
            <a:ext cx="13716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600" b="0" i="0">
                <a:solidFill>
                  <a:srgbClr val="6B6478"/>
                </a:solidFill>
                <a:latin typeface="Arial"/>
                <a:cs typeface="Arial"/>
              </a:rPr>
              <a:t>3.55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92263" y="2834640"/>
            <a:ext cx="1581912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92263" y="2834640"/>
            <a:ext cx="1581912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600" b="0" i="0">
                <a:solidFill>
                  <a:srgbClr val="7B5EA7"/>
                </a:solidFill>
                <a:latin typeface="Arial"/>
                <a:cs typeface="Arial"/>
              </a:rPr>
              <a:t>2.18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45775" y="3520440"/>
            <a:ext cx="1097280" cy="685800"/>
          </a:xfrm>
          <a:prstGeom prst="rect">
            <a:avLst/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45775" y="3520440"/>
            <a:ext cx="10972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en-US" sz="1600" b="1" i="0">
                <a:solidFill>
                  <a:srgbClr val="2B1E3F"/>
                </a:solidFill>
                <a:latin typeface="Arial"/>
                <a:cs typeface="Arial"/>
              </a:rPr>
              <a:t>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74175" y="3520440"/>
            <a:ext cx="1371600" cy="685800"/>
          </a:xfrm>
          <a:prstGeom prst="rect">
            <a:avLst/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74175" y="3520440"/>
            <a:ext cx="13716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600" b="0" i="0">
                <a:solidFill>
                  <a:srgbClr val="6B6478"/>
                </a:solidFill>
                <a:latin typeface="Arial"/>
                <a:cs typeface="Arial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92263" y="3520440"/>
            <a:ext cx="1581912" cy="685800"/>
          </a:xfrm>
          <a:prstGeom prst="rect">
            <a:avLst/>
          </a:prstGeom>
          <a:solidFill>
            <a:srgbClr val="F3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92263" y="3520440"/>
            <a:ext cx="1581912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lang="he-IL" sz="1600" b="0" i="0">
                <a:solidFill>
                  <a:srgbClr val="7B5EA7"/>
                </a:solidFill>
                <a:latin typeface="Arial"/>
                <a:cs typeface="Arial"/>
              </a:rPr>
              <a:t>4.45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389120"/>
            <a:ext cx="4050791" cy="1920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R="274320" indent="-274320" algn="r" rtl="1">
              <a:spcAft>
                <a:spcPts val="800"/>
              </a:spcAft>
              <a:buClr>
                <a:srgbClr val="17A398"/>
              </a:buClr>
              <a:buFont typeface="Arial"/>
              <a:buChar char="•"/>
            </a:pPr>
            <a:r>
              <a:rPr lang="en-US" sz="1500" b="1" i="0">
                <a:solidFill>
                  <a:srgbClr val="7B5EA7"/>
                </a:solidFill>
                <a:latin typeface="Arial"/>
                <a:cs typeface="Arial"/>
              </a:rPr>
              <a:t>σ</a:t>
            </a:r>
            <a:r>
              <a:rPr lang="he-IL" sz="1500" b="1" i="0">
                <a:solidFill>
                  <a:srgbClr val="7B5EA7"/>
                </a:solidFill>
                <a:latin typeface="Arial"/>
                <a:cs typeface="Arial"/>
              </a:rPr>
              <a:t> קטן מאוד</a:t>
            </a:r>
            <a:r>
              <a:rPr lang="he-IL" sz="1500" b="0" i="0">
                <a:solidFill>
                  <a:srgbClr val="2B1E3F"/>
                </a:solidFill>
                <a:latin typeface="Arial"/>
                <a:cs typeface="Arial"/>
              </a:rPr>
              <a:t> — הזנבות ”סופגים“ את החריגים</a:t>
            </a:r>
          </a:p>
          <a:p>
            <a:pPr marR="274320" indent="-274320" algn="r" rtl="1">
              <a:spcAft>
                <a:spcPts val="800"/>
              </a:spcAft>
              <a:buClr>
                <a:srgbClr val="17A398"/>
              </a:buClr>
              <a:buFont typeface="Arial"/>
              <a:buChar char="•"/>
            </a:pPr>
            <a:r>
              <a:rPr lang="en-US" sz="1500" b="1" i="0">
                <a:solidFill>
                  <a:srgbClr val="2B1E3F"/>
                </a:solidFill>
                <a:latin typeface="Arial"/>
                <a:cs typeface="Arial"/>
              </a:rPr>
              <a:t>μ</a:t>
            </a:r>
            <a:r>
              <a:rPr lang="he-IL" sz="1500" b="1" i="0">
                <a:solidFill>
                  <a:srgbClr val="2B1E3F"/>
                </a:solidFill>
                <a:latin typeface="Arial"/>
                <a:cs typeface="Arial"/>
              </a:rPr>
              <a:t> זז</a:t>
            </a:r>
            <a:r>
              <a:rPr lang="he-IL" sz="1500" b="0" i="0">
                <a:solidFill>
                  <a:srgbClr val="2B1E3F"/>
                </a:solidFill>
                <a:latin typeface="Arial"/>
                <a:cs typeface="Arial"/>
              </a:rPr>
              <a:t> — כבר לא נמשך לכיוון החריגים</a:t>
            </a:r>
          </a:p>
          <a:p>
            <a:pPr marR="274320" indent="-274320" algn="r" rtl="1">
              <a:spcAft>
                <a:spcPts val="800"/>
              </a:spcAft>
              <a:buClr>
                <a:srgbClr val="17A398"/>
              </a:buClr>
              <a:buFont typeface="Arial"/>
              <a:buChar char="•"/>
            </a:pPr>
            <a:r>
              <a:rPr lang="en-US" sz="1500" b="1" i="0">
                <a:solidFill>
                  <a:srgbClr val="2B1E3F"/>
                </a:solidFill>
                <a:latin typeface="Arial"/>
                <a:cs typeface="Arial"/>
              </a:rPr>
              <a:t>ν</a:t>
            </a:r>
            <a:r>
              <a:rPr lang="he-IL" sz="1500" b="1" i="0">
                <a:solidFill>
                  <a:srgbClr val="2B1E3F"/>
                </a:solidFill>
                <a:latin typeface="Arial"/>
                <a:cs typeface="Arial"/>
              </a:rPr>
              <a:t> בסביבת 4.5</a:t>
            </a:r>
            <a:r>
              <a:rPr lang="he-IL" sz="1500" b="0" i="0">
                <a:solidFill>
                  <a:srgbClr val="2B1E3F"/>
                </a:solidFill>
                <a:latin typeface="Arial"/>
                <a:cs typeface="Arial"/>
              </a:rPr>
              <a:t> — הנתונים דורשים זנבות כבדים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3400" b="1" i="0">
                <a:solidFill>
                  <a:srgbClr val="2B1E3F"/>
                </a:solidFill>
                <a:latin typeface="Arial"/>
                <a:cs typeface="Arial"/>
              </a:rPr>
              <a:t>בדיקת המודל החסין</a:t>
            </a:r>
          </a:p>
        </p:txBody>
      </p:sp>
      <p:pic>
        <p:nvPicPr>
          <p:cNvPr id="3" name="Picture 2" descr="ppc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949440" cy="42016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18120" y="1554480"/>
            <a:ext cx="3822191" cy="3108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R="274320" indent="-274320" algn="r" rtl="1">
              <a:spcAft>
                <a:spcPts val="12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600" b="0" i="0">
                <a:solidFill>
                  <a:srgbClr val="2B1E3F"/>
                </a:solidFill>
                <a:latin typeface="Arial"/>
                <a:cs typeface="Arial"/>
              </a:rPr>
              <a:t>המדגמים המדומים מרוכזים סביב רוב הנתונים</a:t>
            </a:r>
          </a:p>
          <a:p>
            <a:pPr marR="274320" indent="-274320" algn="r" rtl="1">
              <a:spcAft>
                <a:spcPts val="12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600" b="0" i="0">
                <a:solidFill>
                  <a:srgbClr val="2B1E3F"/>
                </a:solidFill>
                <a:latin typeface="Arial"/>
                <a:cs typeface="Arial"/>
              </a:rPr>
              <a:t>רוחב ומיקום תואמים — ההתאמה טובה בהרבה</a:t>
            </a:r>
          </a:p>
          <a:p>
            <a:pPr marR="274320" indent="-274320" algn="r" rtl="1">
              <a:spcAft>
                <a:spcPts val="1200"/>
              </a:spcAft>
              <a:buClr>
                <a:srgbClr val="17A398"/>
              </a:buClr>
              <a:buFont typeface="Arial"/>
              <a:buChar char="•"/>
            </a:pPr>
            <a:r>
              <a:rPr lang="he-IL" sz="1600" b="0" i="0">
                <a:solidFill>
                  <a:srgbClr val="2B1E3F"/>
                </a:solidFill>
                <a:latin typeface="Arial"/>
                <a:cs typeface="Arial"/>
              </a:rPr>
              <a:t>החריגים מוסברים ע”י הזנבות, בלי לעוות את המרכז</a:t>
            </a:r>
          </a:p>
        </p:txBody>
      </p:sp>
      <p:sp>
        <p:nvSpPr>
          <p:cNvPr id="5" name="card"/>
          <p:cNvSpPr/>
          <p:nvPr/>
        </p:nvSpPr>
        <p:spPr>
          <a:xfrm>
            <a:off x="7818120" y="4800600"/>
            <a:ext cx="3822191" cy="1463040"/>
          </a:xfrm>
          <a:prstGeom prst="roundRect">
            <a:avLst>
              <a:gd name="adj" fmla="val 8000"/>
            </a:avLst>
          </a:prstGeom>
          <a:solidFill>
            <a:srgbClr val="E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79" y="4846320"/>
            <a:ext cx="3547872" cy="13716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500" b="1" i="0">
                <a:solidFill>
                  <a:srgbClr val="2B1E3F"/>
                </a:solidFill>
                <a:latin typeface="Arial"/>
                <a:cs typeface="Arial"/>
              </a:rPr>
              <a:t>הסקה חסינה: לא מוחקים חריגים — בוחרים נראות שמסוגלת להסביר אותם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3400" b="1" i="0">
                <a:solidFill>
                  <a:srgbClr val="FFFFFF"/>
                </a:solidFill>
                <a:latin typeface="Arial"/>
                <a:cs typeface="Arial"/>
              </a:rPr>
              <a:t>סיכום</a:t>
            </a:r>
          </a:p>
        </p:txBody>
      </p:sp>
      <p:sp>
        <p:nvSpPr>
          <p:cNvPr id="3" name="badge μ"/>
          <p:cNvSpPr/>
          <p:nvPr/>
        </p:nvSpPr>
        <p:spPr>
          <a:xfrm>
            <a:off x="10835640" y="1600200"/>
            <a:ext cx="777240" cy="777240"/>
          </a:xfrm>
          <a:prstGeom prst="ellipse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  <a:cs typeface="Arial"/>
              </a:rPr>
              <a:t>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978408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2100" b="0" i="0">
                <a:solidFill>
                  <a:srgbClr val="FFFFFF"/>
                </a:solidFill>
                <a:latin typeface="Arial"/>
                <a:cs typeface="Arial"/>
              </a:rPr>
              <a:t>מודל גאוסיאני: prior לממוצע ולסטיית התקן, ונראות נורמלית</a:t>
            </a:r>
          </a:p>
        </p:txBody>
      </p:sp>
      <p:sp>
        <p:nvSpPr>
          <p:cNvPr id="5" name="badge ✓"/>
          <p:cNvSpPr/>
          <p:nvPr/>
        </p:nvSpPr>
        <p:spPr>
          <a:xfrm>
            <a:off x="10835640" y="2743200"/>
            <a:ext cx="777240" cy="777240"/>
          </a:xfrm>
          <a:prstGeom prst="ellipse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978408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2100" b="0" i="0">
                <a:solidFill>
                  <a:srgbClr val="FFFFFF"/>
                </a:solidFill>
                <a:latin typeface="Arial"/>
                <a:cs typeface="Arial"/>
              </a:rPr>
              <a:t>בדיקות פוסטריור-פרדיקטיביות: מדמים נתונים ומשווים לאמיתיים</a:t>
            </a:r>
          </a:p>
        </p:txBody>
      </p:sp>
      <p:sp>
        <p:nvSpPr>
          <p:cNvPr id="7" name="badge ν"/>
          <p:cNvSpPr/>
          <p:nvPr/>
        </p:nvSpPr>
        <p:spPr>
          <a:xfrm>
            <a:off x="10835640" y="3886200"/>
            <a:ext cx="777240" cy="77724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  <a:cs typeface="Arial"/>
              </a:rPr>
              <a:t>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978408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2100" b="0" i="0">
                <a:solidFill>
                  <a:srgbClr val="FFFFFF"/>
                </a:solidFill>
                <a:latin typeface="Arial"/>
                <a:cs typeface="Arial"/>
              </a:rPr>
              <a:t>התפלגות t: זנבות כבדים שנשלטים ע”י </a:t>
            </a:r>
            <a:r>
              <a:rPr lang="en-US" sz="2100" b="0" i="0">
                <a:solidFill>
                  <a:srgbClr val="FFFFFF"/>
                </a:solidFill>
                <a:latin typeface="Arial"/>
                <a:cs typeface="Arial"/>
              </a:rPr>
              <a:t>ν</a:t>
            </a:r>
          </a:p>
        </p:txBody>
      </p:sp>
      <p:sp>
        <p:nvSpPr>
          <p:cNvPr id="9" name="badge σ"/>
          <p:cNvSpPr/>
          <p:nvPr/>
        </p:nvSpPr>
        <p:spPr>
          <a:xfrm>
            <a:off x="10835640" y="5029200"/>
            <a:ext cx="777240" cy="777240"/>
          </a:xfrm>
          <a:prstGeom prst="ellipse">
            <a:avLst/>
          </a:prstGeom>
          <a:solidFill>
            <a:srgbClr val="CFC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  <a:cs typeface="Arial"/>
              </a:rPr>
              <a:t>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29200"/>
            <a:ext cx="978408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2100" b="0" i="0">
                <a:solidFill>
                  <a:srgbClr val="FFFFFF"/>
                </a:solidFill>
                <a:latin typeface="Arial"/>
                <a:cs typeface="Arial"/>
              </a:rPr>
              <a:t>מודל חסין לא נגרר אחרי חריגים — </a:t>
            </a:r>
            <a:r>
              <a:rPr lang="en-US" sz="2100" b="0" i="0">
                <a:solidFill>
                  <a:srgbClr val="FFFFFF"/>
                </a:solidFill>
                <a:latin typeface="Arial"/>
                <a:cs typeface="Arial"/>
              </a:rPr>
              <a:t>σ</a:t>
            </a:r>
            <a:r>
              <a:rPr lang="he-IL" sz="2100" b="0" i="0">
                <a:solidFill>
                  <a:srgbClr val="FFFFFF"/>
                </a:solidFill>
                <a:latin typeface="Arial"/>
                <a:cs typeface="Arial"/>
              </a:rPr>
              <a:t> קטן ו-</a:t>
            </a:r>
            <a:r>
              <a:rPr lang="en-US" sz="2100" b="0" i="0">
                <a:solidFill>
                  <a:srgbClr val="FFFFFF"/>
                </a:solidFill>
                <a:latin typeface="Arial"/>
                <a:cs typeface="Arial"/>
              </a:rPr>
              <a:t>μ</a:t>
            </a:r>
            <a:r>
              <a:rPr lang="he-IL" sz="2100" b="0" i="0">
                <a:solidFill>
                  <a:srgbClr val="FFFFFF"/>
                </a:solidFill>
                <a:latin typeface="Arial"/>
                <a:cs typeface="Arial"/>
              </a:rPr>
              <a:t> מדויק יותר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1342</Words>
  <Application>Microsoft Office PowerPoint</Application>
  <PresentationFormat>Widescreen</PresentationFormat>
  <Paragraphs>158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אלירן שרצר/Eliran Sherzer</cp:lastModifiedBy>
  <cp:revision>3</cp:revision>
  <dcterms:created xsi:type="dcterms:W3CDTF">2013-01-27T09:14:16Z</dcterms:created>
  <dcterms:modified xsi:type="dcterms:W3CDTF">2026-10-13T09:16:53Z</dcterms:modified>
  <cp:category/>
</cp:coreProperties>
</file>