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88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799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שיעור 5: נשווה בין כמה קבוצות במודל אחד - גובה הטיפ במסעדה בכל יום בשבוע - ונלמד למדוד את גודל ההבדל בעזרת גודל האפקט של כהן.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מאגר הנתונים tips של seaborn: 244 ארוחות, עם גובה החשבון, הטיפ, מין המשלם, האם מעשן, היום, הארוחה וגודל השולחן. נתמקד בטיפ לפי יום. הגרף נוצר במחברת עם az.plot_forest בתצורת ridgeplot. ההתפלגויות דומות, עם זנב ימני - טיפים תמיד חיוביים ולפעמים גבוהים במיוחד.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pd.Categorical עם סדר קטגוריות מוגדר הופך כל יום למספר: חמישי=0, שישי=1, שבת=2, ראשון=3. המערך idx משמש לאינדוקס של וקטור הפרמטרים: μ[idx] נותן לכל תצפית את הממוצע של היום שלה. categories[idx] מחזיר את שמות הימים - בדיקה שהקידוד נכון.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לכל יום d יש ממוצע μ_d וסטיית תקן σ_d משלו, עם priors חצי-נורמליים - שניהם חייבים להיות חיוביים. הנראות היא התפלגות גמא, שמוגדרת רק על ערכים חיוביים ויכולה להיות א-סימטרית עם זנב ימני - בדיוק כמו טיפים. ב-PyMC אפשר להגדיר גמא ישירות דרך הממוצע וסטיית התקן.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coords נותן שמות לממדים של המודל. dims='days' אומר ש-μ ו-σ הם וקטורים באורך 4, אחד לכל יום, עם שמות. כך התוצאות מתויגות בשמות הימים ולא במספרים - בגרפים, בסיכומים ובבחירת ערכים עם sel. μ[idx] מתאים לכל תצפית את הפרמטרים של היום שלה.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לכל יום - ממוצע הפוסטריור ומרווח HDI של 94%. ביום שישי המרווח הרחב ביותר, כי יש רק 19 ארוחות. ראשון גבוה מעט מהשאר, אבל המרווחים חופפים. ההשוואה הבאה תכמת את ההבדלים.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הצגת ההפרש בין הממוצעים לבדו לא מספיקה. גודל האפקט של כהן, שהציג ג'ייקוב כהן, מודד את ההפרש ביחידות של סטיית תקן. S_pooled הוא ממוצע משוקלל של סטיות התקן של שתי הקבוצות, ואם גודל הקבוצות שווה - הוא שורש הממוצע של השונויות. d גדול יותר פירושו הבדל משמעותי יותר. פירוש גודל האפקט לצד מובהקות סטטיסטית נותן תמונה מלאה יותר של המשמעות המעשית.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ההנחיות של כהן: אפקט קטן בין 0.2 ל-0.5, בינוני בין 0.5 ל-0.8, וגדול מ-0.8 ומעלה. מתחת ל-0.2 - אפקט זניח. אלה כללי אצבע, והפירוש תלוי בתחום.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היתרון הבייסיאני: לכל דגימה מהפוסטריור מחשבים את ההפרש בין הממוצעים ואת d. כך מתקבלת התפלגות שלמה של ההפרש, ולא רק מספר יחיד. az.extract מאחד את השרשראות, ו-sel בוחר יום לפי שם בזכות ה-dims. ref_val=0 מסמן את האפס בגרף, ומראה כמה מההתפלגות נמצאת מכל צד שלו.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שש ההשוואות האפשריות בין ארבעת הימים. הקו המקווקו הוא אפס. ההבדלים בין חמישי, שישי ושבת זניחים - d קרוב לאפס. ראשון מול חמישי ומול שישי - אפקט קטן, d בסביבת 0.4, ורוב ההתפלגות של ההפרש נמצאת מתחת לאפס. כלומר בימי ראשון נותנים טיפ גבוה מעט יותר, אבל ההבדל קטן.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בימי ראשון הטיפ גבוה מעט יותר - בכחצי דולר יותר מחמישי ושישי. ההסתברות שהטיפ הממוצע בחמישי נמוך מזה של ראשון היא כ-99%. אבל גודל האפקט קטן: d בסביבת 0.4. זו בדיוק התובנה שגודל האפקט נותן מעבר להפרש הגולמי.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 ה"/>
          <p:cNvSpPr/>
          <p:nvPr/>
        </p:nvSpPr>
        <p:spPr>
          <a:xfrm>
            <a:off x="822960" y="5120640"/>
            <a:ext cx="868680" cy="868680"/>
          </a:xfrm>
          <a:prstGeom prst="ellipse">
            <a:avLst/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  <a:cs typeface="Arial"/>
              </a:rPr>
              <a:t>ה</a:t>
            </a:r>
          </a:p>
        </p:txBody>
      </p:sp>
      <p:sp>
        <p:nvSpPr>
          <p:cNvPr id="3" name="badge ו"/>
          <p:cNvSpPr/>
          <p:nvPr/>
        </p:nvSpPr>
        <p:spPr>
          <a:xfrm>
            <a:off x="1874519" y="5120640"/>
            <a:ext cx="868680" cy="868680"/>
          </a:xfrm>
          <a:prstGeom prst="ellipse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  <a:cs typeface="Arial"/>
              </a:rPr>
              <a:t>ו</a:t>
            </a:r>
          </a:p>
        </p:txBody>
      </p:sp>
      <p:sp>
        <p:nvSpPr>
          <p:cNvPr id="4" name="badge ש"/>
          <p:cNvSpPr/>
          <p:nvPr/>
        </p:nvSpPr>
        <p:spPr>
          <a:xfrm>
            <a:off x="2926079" y="5120640"/>
            <a:ext cx="868680" cy="86868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  <a:cs typeface="Arial"/>
              </a:rPr>
              <a:t>ש</a:t>
            </a:r>
          </a:p>
        </p:txBody>
      </p:sp>
      <p:sp>
        <p:nvSpPr>
          <p:cNvPr id="5" name="badge א"/>
          <p:cNvSpPr/>
          <p:nvPr/>
        </p:nvSpPr>
        <p:spPr>
          <a:xfrm>
            <a:off x="3977639" y="5120640"/>
            <a:ext cx="868680" cy="868680"/>
          </a:xfrm>
          <a:prstGeom prst="ellipse">
            <a:avLst/>
          </a:prstGeom>
          <a:solidFill>
            <a:srgbClr val="CFC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  <a:cs typeface="Arial"/>
              </a:rPr>
              <a:t>א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822960" y="1554480"/>
            <a:ext cx="10515600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4800" b="1" i="0">
                <a:solidFill>
                  <a:srgbClr val="FFFFFF"/>
                </a:solidFill>
                <a:latin typeface="Arial"/>
                <a:cs typeface="Arial"/>
              </a:rPr>
              <a:t>השוואת קבוצות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2200" b="0" i="0">
                <a:solidFill>
                  <a:srgbClr val="CFC6DE"/>
                </a:solidFill>
                <a:latin typeface="Arial"/>
                <a:cs typeface="Arial"/>
              </a:rPr>
              <a:t>טיפים במסעדה: מודל אחד לכל ימי השבוע, וגודל האפקט של כהן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257800"/>
            <a:ext cx="630936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1800" b="0" i="0">
                <a:solidFill>
                  <a:srgbClr val="CFC6DE"/>
                </a:solidFill>
                <a:latin typeface="Arial"/>
                <a:cs typeface="Arial"/>
              </a:rPr>
              <a:t>מודלים בייסיאניים · שיעור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3400" b="1" i="0">
                <a:solidFill>
                  <a:srgbClr val="2B1E3F"/>
                </a:solidFill>
                <a:latin typeface="Arial"/>
                <a:cs typeface="Arial"/>
              </a:rPr>
              <a:t>הנתונים: טיפים במסעדה</a:t>
            </a:r>
          </a:p>
        </p:txBody>
      </p:sp>
      <p:pic>
        <p:nvPicPr>
          <p:cNvPr id="3" name="Picture 2" descr="tips_ri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6949440" cy="4389120"/>
          </a:xfrm>
          <a:prstGeom prst="rect">
            <a:avLst/>
          </a:prstGeom>
        </p:spPr>
      </p:pic>
      <p:sp>
        <p:nvSpPr>
          <p:cNvPr id="4" name="card"/>
          <p:cNvSpPr/>
          <p:nvPr/>
        </p:nvSpPr>
        <p:spPr>
          <a:xfrm>
            <a:off x="10561320" y="1463040"/>
            <a:ext cx="841248" cy="128016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61320" y="1508760"/>
            <a:ext cx="841248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2000" b="1" i="0">
                <a:solidFill>
                  <a:srgbClr val="17A398"/>
                </a:solidFill>
                <a:latin typeface="Arial"/>
                <a:cs typeface="Arial"/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2148840"/>
            <a:ext cx="841248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200" b="0" i="0">
                <a:solidFill>
                  <a:srgbClr val="6B6478"/>
                </a:solidFill>
                <a:latin typeface="Arial"/>
                <a:cs typeface="Arial"/>
              </a:rPr>
              <a:t>חמישי</a:t>
            </a:r>
          </a:p>
        </p:txBody>
      </p:sp>
      <p:sp>
        <p:nvSpPr>
          <p:cNvPr id="7" name="card"/>
          <p:cNvSpPr/>
          <p:nvPr/>
        </p:nvSpPr>
        <p:spPr>
          <a:xfrm>
            <a:off x="9646920" y="1463040"/>
            <a:ext cx="841248" cy="128016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46920" y="1508760"/>
            <a:ext cx="841248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2000" b="1" i="0">
                <a:solidFill>
                  <a:srgbClr val="7B5EA7"/>
                </a:solidFill>
                <a:latin typeface="Arial"/>
                <a:cs typeface="Arial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2148840"/>
            <a:ext cx="841248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200" b="0" i="0">
                <a:solidFill>
                  <a:srgbClr val="6B6478"/>
                </a:solidFill>
                <a:latin typeface="Arial"/>
                <a:cs typeface="Arial"/>
              </a:rPr>
              <a:t>שישי</a:t>
            </a:r>
          </a:p>
        </p:txBody>
      </p:sp>
      <p:sp>
        <p:nvSpPr>
          <p:cNvPr id="10" name="card"/>
          <p:cNvSpPr/>
          <p:nvPr/>
        </p:nvSpPr>
        <p:spPr>
          <a:xfrm>
            <a:off x="8732520" y="1463040"/>
            <a:ext cx="841248" cy="128016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32520" y="1508760"/>
            <a:ext cx="841248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2000" b="1" i="0">
                <a:solidFill>
                  <a:srgbClr val="E4572E"/>
                </a:solidFill>
                <a:latin typeface="Arial"/>
                <a:cs typeface="Arial"/>
              </a:rPr>
              <a:t>87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148840"/>
            <a:ext cx="841248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200" b="0" i="0">
                <a:solidFill>
                  <a:srgbClr val="6B6478"/>
                </a:solidFill>
                <a:latin typeface="Arial"/>
                <a:cs typeface="Arial"/>
              </a:rPr>
              <a:t>שבת</a:t>
            </a:r>
          </a:p>
        </p:txBody>
      </p:sp>
      <p:sp>
        <p:nvSpPr>
          <p:cNvPr id="13" name="card"/>
          <p:cNvSpPr/>
          <p:nvPr/>
        </p:nvSpPr>
        <p:spPr>
          <a:xfrm>
            <a:off x="7818120" y="1463040"/>
            <a:ext cx="841248" cy="128016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18120" y="1508760"/>
            <a:ext cx="841248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2000" b="1" i="0">
                <a:solidFill>
                  <a:srgbClr val="2B1E3F"/>
                </a:solidFill>
                <a:latin typeface="Arial"/>
                <a:cs typeface="Arial"/>
              </a:rPr>
              <a:t>76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148840"/>
            <a:ext cx="841248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200" b="0" i="0">
                <a:solidFill>
                  <a:srgbClr val="6B6478"/>
                </a:solidFill>
                <a:latin typeface="Arial"/>
                <a:cs typeface="Arial"/>
              </a:rPr>
              <a:t>ראשון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3017520"/>
            <a:ext cx="3822191" cy="3200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R="274320" indent="-274320" algn="r" rtl="1">
              <a:spcAft>
                <a:spcPts val="1200"/>
              </a:spcAft>
              <a:buClr>
                <a:srgbClr val="17A398"/>
              </a:buClr>
              <a:buFont typeface="Arial"/>
              <a:buChar char="•"/>
            </a:pPr>
            <a:r>
              <a:rPr lang="he-IL" sz="1600" b="0" i="0">
                <a:solidFill>
                  <a:srgbClr val="2B1E3F"/>
                </a:solidFill>
                <a:latin typeface="Arial"/>
                <a:cs typeface="Arial"/>
              </a:rPr>
              <a:t>244 ארוחות מתוך מאגר tips של seaborn</a:t>
            </a:r>
          </a:p>
          <a:p>
            <a:pPr marR="274320" indent="-274320" algn="r" rtl="1">
              <a:spcAft>
                <a:spcPts val="1200"/>
              </a:spcAft>
              <a:buClr>
                <a:srgbClr val="17A398"/>
              </a:buClr>
              <a:buFont typeface="Arial"/>
              <a:buChar char="•"/>
            </a:pPr>
            <a:r>
              <a:rPr lang="he-IL" sz="1600" b="0" i="0">
                <a:solidFill>
                  <a:srgbClr val="2B1E3F"/>
                </a:solidFill>
                <a:latin typeface="Arial"/>
                <a:cs typeface="Arial"/>
              </a:rPr>
              <a:t>השאלה: האם גובה הטיפ שונה בין ימי השבוע?</a:t>
            </a:r>
          </a:p>
          <a:p>
            <a:pPr marR="274320" indent="-274320" algn="r" rtl="1">
              <a:spcAft>
                <a:spcPts val="1200"/>
              </a:spcAft>
              <a:buClr>
                <a:srgbClr val="17A398"/>
              </a:buClr>
              <a:buFont typeface="Arial"/>
              <a:buChar char="•"/>
            </a:pPr>
            <a:r>
              <a:rPr lang="he-IL" sz="1600" b="0" i="0">
                <a:solidFill>
                  <a:srgbClr val="2B1E3F"/>
                </a:solidFill>
                <a:latin typeface="Arial"/>
                <a:cs typeface="Arial"/>
              </a:rPr>
              <a:t>הטיפים תמיד חיוביים, עם זנב ימני ארוך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3400" b="1" i="0">
                <a:solidFill>
                  <a:srgbClr val="2B1E3F"/>
                </a:solidFill>
                <a:latin typeface="Arial"/>
                <a:cs typeface="Arial"/>
              </a:rPr>
              <a:t>קידוד הקבוצות: מיום לאינדקס</a:t>
            </a:r>
          </a:p>
        </p:txBody>
      </p:sp>
      <p:sp>
        <p:nvSpPr>
          <p:cNvPr id="3" name="code block"/>
          <p:cNvSpPr/>
          <p:nvPr/>
        </p:nvSpPr>
        <p:spPr>
          <a:xfrm>
            <a:off x="548640" y="1463040"/>
            <a:ext cx="6675120" cy="2286000"/>
          </a:xfrm>
          <a:prstGeom prst="roundRect">
            <a:avLst>
              <a:gd name="adj" fmla="val 8000"/>
            </a:avLst>
          </a:prstGeom>
          <a:solidFill>
            <a:srgbClr val="24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code"/>
          <p:cNvSpPr txBox="1"/>
          <p:nvPr/>
        </p:nvSpPr>
        <p:spPr>
          <a:xfrm>
            <a:off x="777240" y="1645920"/>
            <a:ext cx="6217920" cy="1920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US" sz="1500" b="0" i="0">
                <a:solidFill>
                  <a:srgbClr val="EDE8F5"/>
                </a:solidFill>
                <a:latin typeface="Courier New"/>
                <a:cs typeface="Courier New"/>
              </a:rPr>
              <a:t>categories = np.array(['Thur', 'Fri', 'Sat', 'Sun'])</a:t>
            </a:r>
          </a:p>
          <a:p>
            <a:pPr algn="l" rtl="0">
              <a:spcAft>
                <a:spcPts val="0"/>
              </a:spcAft>
            </a:pPr>
            <a:r>
              <a:rPr lang="en-US" sz="1500" b="0" i="0">
                <a:solidFill>
                  <a:srgbClr val="EDE8F5"/>
                </a:solidFill>
                <a:latin typeface="Courier New"/>
                <a:cs typeface="Courier New"/>
              </a:rPr>
              <a:t> </a:t>
            </a:r>
          </a:p>
          <a:p>
            <a:pPr algn="l" rtl="0">
              <a:spcAft>
                <a:spcPts val="0"/>
              </a:spcAft>
            </a:pPr>
            <a:r>
              <a:rPr lang="en-US" sz="1500" b="0" i="0">
                <a:solidFill>
                  <a:srgbClr val="EDE8F5"/>
                </a:solidFill>
                <a:latin typeface="Courier New"/>
                <a:cs typeface="Courier New"/>
              </a:rPr>
              <a:t>tip = tips['tip'].values</a:t>
            </a:r>
          </a:p>
          <a:p>
            <a:pPr algn="l" rtl="0">
              <a:spcAft>
                <a:spcPts val="0"/>
              </a:spcAft>
            </a:pPr>
            <a:r>
              <a:rPr lang="en-US" sz="1500" b="0" i="0">
                <a:solidFill>
                  <a:srgbClr val="EDE8F5"/>
                </a:solidFill>
                <a:latin typeface="Courier New"/>
                <a:cs typeface="Courier New"/>
              </a:rPr>
              <a:t>idx = pd.Categorical(tips['day'],</a:t>
            </a:r>
          </a:p>
          <a:p>
            <a:pPr algn="l" rtl="0">
              <a:spcAft>
                <a:spcPts val="0"/>
              </a:spcAft>
            </a:pPr>
            <a:r>
              <a:rPr lang="en-US" sz="1500" b="0" i="0">
                <a:solidFill>
                  <a:srgbClr val="EDE8F5"/>
                </a:solidFill>
                <a:latin typeface="Courier New"/>
                <a:cs typeface="Courier New"/>
              </a:rPr>
              <a:t>                     categories=categories).codes</a:t>
            </a:r>
          </a:p>
        </p:txBody>
      </p:sp>
      <p:sp>
        <p:nvSpPr>
          <p:cNvPr id="5" name="code block"/>
          <p:cNvSpPr/>
          <p:nvPr/>
        </p:nvSpPr>
        <p:spPr>
          <a:xfrm>
            <a:off x="548640" y="3977639"/>
            <a:ext cx="6675120" cy="1234440"/>
          </a:xfrm>
          <a:prstGeom prst="roundRect">
            <a:avLst>
              <a:gd name="adj" fmla="val 8000"/>
            </a:avLst>
          </a:prstGeom>
          <a:solidFill>
            <a:srgbClr val="24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code"/>
          <p:cNvSpPr txBox="1"/>
          <p:nvPr/>
        </p:nvSpPr>
        <p:spPr>
          <a:xfrm>
            <a:off x="777240" y="4160520"/>
            <a:ext cx="6217920" cy="868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US" sz="1500" b="0" i="0">
                <a:solidFill>
                  <a:srgbClr val="EDE8F5"/>
                </a:solidFill>
                <a:latin typeface="Courier New"/>
                <a:cs typeface="Courier New"/>
              </a:rPr>
              <a:t>&gt;&gt;&gt; idx[:8]</a:t>
            </a:r>
          </a:p>
          <a:p>
            <a:pPr algn="l" rtl="0">
              <a:spcAft>
                <a:spcPts val="0"/>
              </a:spcAft>
            </a:pPr>
            <a:r>
              <a:rPr lang="en-US" sz="1500" b="0" i="0">
                <a:solidFill>
                  <a:srgbClr val="EDE8F5"/>
                </a:solidFill>
                <a:latin typeface="Courier New"/>
                <a:cs typeface="Courier New"/>
              </a:rPr>
              <a:t>array([3, 3, 3, 3, 3, 3, 3, 3])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05855" y="5440680"/>
            <a:ext cx="1554480" cy="822960"/>
          </a:xfrm>
          <a:prstGeom prst="roundRect">
            <a:avLst>
              <a:gd name="adj" fmla="val 20000"/>
            </a:avLst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  <a:cs typeface="Arial"/>
              </a:rPr>
              <a:t>Thur →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86783" y="5440680"/>
            <a:ext cx="1554480" cy="822960"/>
          </a:xfrm>
          <a:prstGeom prst="roundRect">
            <a:avLst>
              <a:gd name="adj" fmla="val 2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  <a:cs typeface="Arial"/>
              </a:rPr>
              <a:t>Fri →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67712" y="5440680"/>
            <a:ext cx="1554480" cy="822960"/>
          </a:xfrm>
          <a:prstGeom prst="roundRect">
            <a:avLst>
              <a:gd name="adj" fmla="val 20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  <a:cs typeface="Arial"/>
              </a:rPr>
              <a:t>Sat →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440680"/>
            <a:ext cx="1554480" cy="822960"/>
          </a:xfrm>
          <a:prstGeom prst="roundRect">
            <a:avLst>
              <a:gd name="adj" fmla="val 20000"/>
            </a:avLst>
          </a:prstGeom>
          <a:solidFill>
            <a:srgbClr val="2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  <a:cs typeface="Arial"/>
              </a:rPr>
              <a:t>Sun →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1554480"/>
            <a:ext cx="4096512" cy="46634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R="274320" indent="-274320" algn="r" rtl="1">
              <a:spcAft>
                <a:spcPts val="1400"/>
              </a:spcAft>
              <a:buClr>
                <a:srgbClr val="17A398"/>
              </a:buClr>
              <a:buFont typeface="Arial"/>
              <a:buChar char="•"/>
            </a:pPr>
            <a:r>
              <a:rPr lang="he-IL" sz="1600" b="1" i="0">
                <a:solidFill>
                  <a:srgbClr val="2B1E3F"/>
                </a:solidFill>
                <a:latin typeface="Courier New"/>
                <a:cs typeface="Courier New"/>
              </a:rPr>
              <a:t>idx</a:t>
            </a:r>
            <a:r>
              <a:rPr lang="he-IL" sz="1600" b="0" i="0">
                <a:solidFill>
                  <a:srgbClr val="2B1E3F"/>
                </a:solidFill>
                <a:latin typeface="Arial"/>
                <a:cs typeface="Arial"/>
              </a:rPr>
              <a:t> — לכל תצפית: מספר היום שלה (0 עד 3)</a:t>
            </a:r>
          </a:p>
          <a:p>
            <a:pPr marR="274320" indent="-274320" algn="r" rtl="1">
              <a:spcAft>
                <a:spcPts val="1400"/>
              </a:spcAft>
              <a:buClr>
                <a:srgbClr val="17A398"/>
              </a:buClr>
              <a:buFont typeface="Arial"/>
              <a:buChar char="•"/>
            </a:pPr>
            <a:r>
              <a:rPr lang="en-US" sz="1600" b="1" i="0">
                <a:solidFill>
                  <a:srgbClr val="2B1E3F"/>
                </a:solidFill>
                <a:latin typeface="Courier New"/>
                <a:cs typeface="Courier New"/>
              </a:rPr>
              <a:t>μ</a:t>
            </a:r>
            <a:r>
              <a:rPr lang="he-IL" sz="1600" b="1" i="0">
                <a:solidFill>
                  <a:srgbClr val="2B1E3F"/>
                </a:solidFill>
                <a:latin typeface="Courier New"/>
                <a:cs typeface="Courier New"/>
              </a:rPr>
              <a:t>[idx]</a:t>
            </a:r>
            <a:r>
              <a:rPr lang="he-IL" sz="1600" b="0" i="0">
                <a:solidFill>
                  <a:srgbClr val="2B1E3F"/>
                </a:solidFill>
                <a:latin typeface="Arial"/>
                <a:cs typeface="Arial"/>
              </a:rPr>
              <a:t> — לכל תצפית: הממוצע של היום שלה</a:t>
            </a:r>
          </a:p>
          <a:p>
            <a:pPr marR="274320" indent="-274320" algn="r" rtl="1">
              <a:spcAft>
                <a:spcPts val="1400"/>
              </a:spcAft>
              <a:buClr>
                <a:srgbClr val="17A398"/>
              </a:buClr>
              <a:buFont typeface="Arial"/>
              <a:buChar char="•"/>
            </a:pPr>
            <a:r>
              <a:rPr lang="he-IL" sz="1600" b="0" i="0">
                <a:solidFill>
                  <a:srgbClr val="2B1E3F"/>
                </a:solidFill>
                <a:latin typeface="Arial"/>
                <a:cs typeface="Arial"/>
              </a:rPr>
              <a:t>כך מודל אחד מכיל ארבע קבוצות — בלי לולאות ובלי ארבעה מודלים נפרדים</a:t>
            </a:r>
          </a:p>
          <a:p>
            <a:pPr marR="274320" indent="-274320" algn="r" rtl="1">
              <a:spcAft>
                <a:spcPts val="1400"/>
              </a:spcAft>
              <a:buClr>
                <a:srgbClr val="17A398"/>
              </a:buClr>
              <a:buFont typeface="Arial"/>
              <a:buChar char="•"/>
            </a:pPr>
            <a:r>
              <a:rPr lang="he-IL" sz="1600" b="1" i="0">
                <a:solidFill>
                  <a:srgbClr val="2B1E3F"/>
                </a:solidFill>
                <a:latin typeface="Courier New"/>
                <a:cs typeface="Courier New"/>
              </a:rPr>
              <a:t>categories[idx]</a:t>
            </a:r>
            <a:r>
              <a:rPr lang="he-IL" sz="1600" b="0" i="0">
                <a:solidFill>
                  <a:srgbClr val="2B1E3F"/>
                </a:solidFill>
                <a:latin typeface="Arial"/>
                <a:cs typeface="Arial"/>
              </a:rPr>
              <a:t> — בדיקה שהקידוד נכון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3400" b="1" i="0">
                <a:solidFill>
                  <a:srgbClr val="2B1E3F"/>
                </a:solidFill>
                <a:latin typeface="Arial"/>
                <a:cs typeface="Arial"/>
              </a:rPr>
              <a:t>המודל: ממוצע וסטיית תקן לכל יום</a:t>
            </a:r>
          </a:p>
        </p:txBody>
      </p:sp>
      <p:sp>
        <p:nvSpPr>
          <p:cNvPr id="3" name="card"/>
          <p:cNvSpPr/>
          <p:nvPr/>
        </p:nvSpPr>
        <p:spPr>
          <a:xfrm>
            <a:off x="548640" y="1463040"/>
            <a:ext cx="11091672" cy="192024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" name="Picture 3" descr="f_tip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49428"/>
            <a:ext cx="5486400" cy="387343"/>
          </a:xfrm>
          <a:prstGeom prst="rect">
            <a:avLst/>
          </a:prstGeom>
        </p:spPr>
      </p:pic>
      <p:pic>
        <p:nvPicPr>
          <p:cNvPr id="5" name="Picture 4" descr="f_t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497922"/>
            <a:ext cx="5486400" cy="6277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1554480"/>
            <a:ext cx="4754880" cy="1737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R="274320" indent="-274320" algn="r" rtl="1">
              <a:spcAft>
                <a:spcPts val="1000"/>
              </a:spcAft>
              <a:buClr>
                <a:srgbClr val="17A398"/>
              </a:buClr>
              <a:buFont typeface="Arial"/>
              <a:buChar char="•"/>
            </a:pPr>
            <a:r>
              <a:rPr lang="he-IL" sz="1600" b="0" i="0">
                <a:solidFill>
                  <a:srgbClr val="2B1E3F"/>
                </a:solidFill>
                <a:latin typeface="Arial"/>
                <a:cs typeface="Arial"/>
              </a:rPr>
              <a:t>ארבעה ממוצעים וארבע סטיות תקן — זוג לכל יום</a:t>
            </a:r>
          </a:p>
          <a:p>
            <a:pPr marR="274320" indent="-274320" algn="r" rtl="1">
              <a:spcAft>
                <a:spcPts val="1000"/>
              </a:spcAft>
              <a:buClr>
                <a:srgbClr val="17A398"/>
              </a:buClr>
              <a:buFont typeface="Arial"/>
              <a:buChar char="•"/>
            </a:pPr>
            <a:r>
              <a:rPr lang="he-IL" sz="1600" b="0" i="0">
                <a:solidFill>
                  <a:srgbClr val="2B1E3F"/>
                </a:solidFill>
                <a:latin typeface="Arial"/>
                <a:cs typeface="Arial"/>
              </a:rPr>
              <a:t>HalfNormal — כי שניהם חייבים להיות חיוביים</a:t>
            </a:r>
          </a:p>
        </p:txBody>
      </p:sp>
      <p:sp>
        <p:nvSpPr>
          <p:cNvPr id="7" name="card"/>
          <p:cNvSpPr/>
          <p:nvPr/>
        </p:nvSpPr>
        <p:spPr>
          <a:xfrm>
            <a:off x="6281928" y="3657600"/>
            <a:ext cx="5358384" cy="260604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badge Γ"/>
          <p:cNvSpPr/>
          <p:nvPr/>
        </p:nvSpPr>
        <p:spPr>
          <a:xfrm>
            <a:off x="10680192" y="3886200"/>
            <a:ext cx="685800" cy="68580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  <a:cs typeface="Arial"/>
              </a:rPr>
              <a:t>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6248" y="3886200"/>
            <a:ext cx="402336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2000" b="1" i="0">
                <a:solidFill>
                  <a:srgbClr val="2B1E3F"/>
                </a:solidFill>
                <a:latin typeface="Arial"/>
                <a:cs typeface="Arial"/>
              </a:rPr>
              <a:t>למה התפלגות גמא?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4709160"/>
            <a:ext cx="4809744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1600" b="0" i="0">
                <a:solidFill>
                  <a:srgbClr val="6B6478"/>
                </a:solidFill>
                <a:latin typeface="Arial"/>
                <a:cs typeface="Arial"/>
              </a:rPr>
              <a:t>מוגדרת רק על ערכים חיוביים, ויכולה להיות א-סימטרית עם זנב ימני — בדיוק כמו טיפים</a:t>
            </a:r>
          </a:p>
        </p:txBody>
      </p:sp>
      <p:sp>
        <p:nvSpPr>
          <p:cNvPr id="11" name="card"/>
          <p:cNvSpPr/>
          <p:nvPr/>
        </p:nvSpPr>
        <p:spPr>
          <a:xfrm>
            <a:off x="548640" y="3657600"/>
            <a:ext cx="5358384" cy="260604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badge μ"/>
          <p:cNvSpPr/>
          <p:nvPr/>
        </p:nvSpPr>
        <p:spPr>
          <a:xfrm>
            <a:off x="4946904" y="3886200"/>
            <a:ext cx="685800" cy="685800"/>
          </a:xfrm>
          <a:prstGeom prst="ellipse">
            <a:avLst/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  <a:cs typeface="Arial"/>
              </a:rPr>
              <a:t>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886200"/>
            <a:ext cx="402336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2000" b="1" i="0">
                <a:solidFill>
                  <a:srgbClr val="2B1E3F"/>
                </a:solidFill>
                <a:latin typeface="Arial"/>
                <a:cs typeface="Arial"/>
              </a:rPr>
              <a:t>פרמטריזציה נוחה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709160"/>
            <a:ext cx="4809744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1600" b="0" i="0">
                <a:solidFill>
                  <a:srgbClr val="6B6478"/>
                </a:solidFill>
                <a:latin typeface="Arial"/>
                <a:cs typeface="Arial"/>
              </a:rPr>
              <a:t>ב-PyMC אפשר להגדיר Gamma ישירות דרך הממוצע וסטיית התקן — mu ו-sigma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3400" b="1" i="0">
                <a:solidFill>
                  <a:srgbClr val="2B1E3F"/>
                </a:solidFill>
                <a:latin typeface="Arial"/>
                <a:cs typeface="Arial"/>
              </a:rPr>
              <a:t>המודל בקוד: coords ו-dims</a:t>
            </a:r>
          </a:p>
        </p:txBody>
      </p:sp>
      <p:sp>
        <p:nvSpPr>
          <p:cNvPr id="3" name="code block"/>
          <p:cNvSpPr/>
          <p:nvPr/>
        </p:nvSpPr>
        <p:spPr>
          <a:xfrm>
            <a:off x="548640" y="1463040"/>
            <a:ext cx="6949440" cy="3200400"/>
          </a:xfrm>
          <a:prstGeom prst="roundRect">
            <a:avLst>
              <a:gd name="adj" fmla="val 8000"/>
            </a:avLst>
          </a:prstGeom>
          <a:solidFill>
            <a:srgbClr val="24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code"/>
          <p:cNvSpPr txBox="1"/>
          <p:nvPr/>
        </p:nvSpPr>
        <p:spPr>
          <a:xfrm>
            <a:off x="777240" y="1645920"/>
            <a:ext cx="6492240" cy="2834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US" sz="1400" b="0" i="0">
                <a:solidFill>
                  <a:srgbClr val="EDE8F5"/>
                </a:solidFill>
                <a:latin typeface="Courier New"/>
                <a:cs typeface="Courier New"/>
              </a:rPr>
              <a:t>coords = {"days": categories,</a:t>
            </a:r>
          </a:p>
          <a:p>
            <a:pPr algn="l" rtl="0">
              <a:spcAft>
                <a:spcPts val="0"/>
              </a:spcAft>
            </a:pPr>
            <a:r>
              <a:rPr lang="en-US" sz="1400" b="0" i="0">
                <a:solidFill>
                  <a:srgbClr val="EDE8F5"/>
                </a:solidFill>
                <a:latin typeface="Courier New"/>
                <a:cs typeface="Courier New"/>
              </a:rPr>
              <a:t>          "days_flat": categories[idx]}</a:t>
            </a:r>
          </a:p>
          <a:p>
            <a:pPr algn="l" rtl="0">
              <a:spcAft>
                <a:spcPts val="0"/>
              </a:spcAft>
            </a:pPr>
            <a:r>
              <a:rPr lang="en-US" sz="1400" b="0" i="0">
                <a:solidFill>
                  <a:srgbClr val="EDE8F5"/>
                </a:solidFill>
                <a:latin typeface="Courier New"/>
                <a:cs typeface="Courier New"/>
              </a:rPr>
              <a:t> </a:t>
            </a:r>
          </a:p>
          <a:p>
            <a:pPr algn="l" rtl="0">
              <a:spcAft>
                <a:spcPts val="0"/>
              </a:spcAft>
            </a:pPr>
            <a:r>
              <a:rPr lang="en-US" sz="1400" b="0" i="0">
                <a:solidFill>
                  <a:srgbClr val="EDE8F5"/>
                </a:solidFill>
                <a:latin typeface="Courier New"/>
                <a:cs typeface="Courier New"/>
              </a:rPr>
              <a:t>with pm.Model(coords=coords) as comparing_groups:</a:t>
            </a:r>
          </a:p>
          <a:p>
            <a:pPr algn="l" rtl="0">
              <a:spcAft>
                <a:spcPts val="0"/>
              </a:spcAft>
            </a:pPr>
            <a:r>
              <a:rPr lang="en-US" sz="1400" b="0" i="0">
                <a:solidFill>
                  <a:srgbClr val="EDE8F5"/>
                </a:solidFill>
                <a:latin typeface="Courier New"/>
                <a:cs typeface="Courier New"/>
              </a:rPr>
              <a:t>    μ = pm.HalfNormal('μ', sigma=5, dims="days")</a:t>
            </a:r>
          </a:p>
          <a:p>
            <a:pPr algn="l" rtl="0">
              <a:spcAft>
                <a:spcPts val="0"/>
              </a:spcAft>
            </a:pPr>
            <a:r>
              <a:rPr lang="en-US" sz="1400" b="0" i="0">
                <a:solidFill>
                  <a:srgbClr val="EDE8F5"/>
                </a:solidFill>
                <a:latin typeface="Courier New"/>
                <a:cs typeface="Courier New"/>
              </a:rPr>
              <a:t>    σ = pm.HalfNormal('σ', sigma=1, dims="days")</a:t>
            </a:r>
          </a:p>
          <a:p>
            <a:pPr algn="l" rtl="0">
              <a:spcAft>
                <a:spcPts val="0"/>
              </a:spcAft>
            </a:pPr>
            <a:r>
              <a:rPr lang="en-US" sz="1400" b="0" i="0">
                <a:solidFill>
                  <a:srgbClr val="EDE8F5"/>
                </a:solidFill>
                <a:latin typeface="Courier New"/>
                <a:cs typeface="Courier New"/>
              </a:rPr>
              <a:t> </a:t>
            </a:r>
          </a:p>
          <a:p>
            <a:pPr algn="l" rtl="0">
              <a:spcAft>
                <a:spcPts val="0"/>
              </a:spcAft>
            </a:pPr>
            <a:r>
              <a:rPr lang="en-US" sz="1400" b="0" i="0">
                <a:solidFill>
                  <a:srgbClr val="EDE8F5"/>
                </a:solidFill>
                <a:latin typeface="Courier New"/>
                <a:cs typeface="Courier New"/>
              </a:rPr>
              <a:t>    y = pm.Gamma('y', mu=μ[idx], sigma=σ[idx],</a:t>
            </a:r>
          </a:p>
          <a:p>
            <a:pPr algn="l" rtl="0">
              <a:spcAft>
                <a:spcPts val="0"/>
              </a:spcAft>
            </a:pPr>
            <a:r>
              <a:rPr lang="en-US" sz="1400" b="0" i="0">
                <a:solidFill>
                  <a:srgbClr val="EDE8F5"/>
                </a:solidFill>
                <a:latin typeface="Courier New"/>
                <a:cs typeface="Courier New"/>
              </a:rPr>
              <a:t>                 observed=tip, dims="days_flat")</a:t>
            </a:r>
          </a:p>
          <a:p>
            <a:pPr algn="l" rtl="0">
              <a:spcAft>
                <a:spcPts val="0"/>
              </a:spcAft>
            </a:pPr>
            <a:r>
              <a:rPr lang="en-US" sz="1400" b="0" i="0">
                <a:solidFill>
                  <a:srgbClr val="EDE8F5"/>
                </a:solidFill>
                <a:latin typeface="Courier New"/>
                <a:cs typeface="Courier New"/>
              </a:rPr>
              <a:t>    idata_cg = pm.sample()</a:t>
            </a:r>
          </a:p>
        </p:txBody>
      </p:sp>
      <p:sp>
        <p:nvSpPr>
          <p:cNvPr id="5" name="code block"/>
          <p:cNvSpPr/>
          <p:nvPr/>
        </p:nvSpPr>
        <p:spPr>
          <a:xfrm>
            <a:off x="548640" y="4892040"/>
            <a:ext cx="6949440" cy="1371600"/>
          </a:xfrm>
          <a:prstGeom prst="roundRect">
            <a:avLst>
              <a:gd name="adj" fmla="val 8000"/>
            </a:avLst>
          </a:prstGeom>
          <a:solidFill>
            <a:srgbClr val="24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code"/>
          <p:cNvSpPr txBox="1"/>
          <p:nvPr/>
        </p:nvSpPr>
        <p:spPr>
          <a:xfrm>
            <a:off x="777240" y="5074920"/>
            <a:ext cx="649224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US" sz="1400" b="0" i="0">
                <a:solidFill>
                  <a:srgbClr val="EDE8F5"/>
                </a:solidFill>
                <a:latin typeface="Courier New"/>
                <a:cs typeface="Courier New"/>
              </a:rPr>
              <a:t>&gt;&gt;&gt; idata_cg.posterior['μ'].shape</a:t>
            </a:r>
          </a:p>
          <a:p>
            <a:pPr algn="l" rtl="0">
              <a:spcAft>
                <a:spcPts val="0"/>
              </a:spcAft>
            </a:pPr>
            <a:r>
              <a:rPr lang="en-US" sz="1400" b="0" i="0">
                <a:solidFill>
                  <a:srgbClr val="EDE8F5"/>
                </a:solidFill>
                <a:latin typeface="Courier New"/>
                <a:cs typeface="Courier New"/>
              </a:rPr>
              <a:t>(2, 1000, 4)      # chains, draws, days</a:t>
            </a:r>
          </a:p>
        </p:txBody>
      </p:sp>
      <p:sp>
        <p:nvSpPr>
          <p:cNvPr id="7" name="card"/>
          <p:cNvSpPr/>
          <p:nvPr/>
        </p:nvSpPr>
        <p:spPr>
          <a:xfrm>
            <a:off x="7818120" y="1463040"/>
            <a:ext cx="3822191" cy="141732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01000" y="1600200"/>
            <a:ext cx="345643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0">
              <a:spcAft>
                <a:spcPts val="600"/>
              </a:spcAft>
            </a:pPr>
            <a:r>
              <a:rPr lang="en-US" sz="1700" b="1" i="0">
                <a:solidFill>
                  <a:srgbClr val="17A398"/>
                </a:solidFill>
                <a:latin typeface="Courier New"/>
                <a:cs typeface="Courier New"/>
              </a:rPr>
              <a:t>coords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084832"/>
            <a:ext cx="3456432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1500" b="0" i="0">
                <a:solidFill>
                  <a:srgbClr val="6B6478"/>
                </a:solidFill>
                <a:latin typeface="Arial"/>
                <a:cs typeface="Arial"/>
              </a:rPr>
              <a:t>שמות לממדים של המודל</a:t>
            </a:r>
          </a:p>
        </p:txBody>
      </p:sp>
      <p:sp>
        <p:nvSpPr>
          <p:cNvPr id="10" name="card"/>
          <p:cNvSpPr/>
          <p:nvPr/>
        </p:nvSpPr>
        <p:spPr>
          <a:xfrm>
            <a:off x="7818120" y="3108960"/>
            <a:ext cx="3822191" cy="141732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01000" y="3246120"/>
            <a:ext cx="345643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0">
              <a:spcAft>
                <a:spcPts val="600"/>
              </a:spcAft>
            </a:pPr>
            <a:r>
              <a:rPr lang="en-US" sz="1700" b="1" i="0">
                <a:solidFill>
                  <a:srgbClr val="7B5EA7"/>
                </a:solidFill>
                <a:latin typeface="Courier New"/>
                <a:cs typeface="Courier New"/>
              </a:rPr>
              <a:t>dims="days"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3730752"/>
            <a:ext cx="3456432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1500" b="0" i="0">
                <a:solidFill>
                  <a:srgbClr val="6B6478"/>
                </a:solidFill>
                <a:latin typeface="Arial"/>
                <a:cs typeface="Arial"/>
              </a:rPr>
              <a:t>וקטור באורך 4 — פרמטר לכל יום, עם שם</a:t>
            </a:r>
          </a:p>
        </p:txBody>
      </p:sp>
      <p:sp>
        <p:nvSpPr>
          <p:cNvPr id="13" name="card"/>
          <p:cNvSpPr/>
          <p:nvPr/>
        </p:nvSpPr>
        <p:spPr>
          <a:xfrm>
            <a:off x="7818120" y="4754880"/>
            <a:ext cx="3822191" cy="141732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01000" y="4892040"/>
            <a:ext cx="345643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0">
              <a:spcAft>
                <a:spcPts val="600"/>
              </a:spcAft>
            </a:pPr>
            <a:r>
              <a:rPr lang="en-US" sz="1700" b="1" i="0">
                <a:solidFill>
                  <a:srgbClr val="E4572E"/>
                </a:solidFill>
                <a:latin typeface="Courier New"/>
                <a:cs typeface="Courier New"/>
              </a:rPr>
              <a:t>μ[idx]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5376672"/>
            <a:ext cx="3456432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1500" b="0" i="0">
                <a:solidFill>
                  <a:srgbClr val="6B6478"/>
                </a:solidFill>
                <a:latin typeface="Arial"/>
                <a:cs typeface="Arial"/>
              </a:rPr>
              <a:t>לכל תצפית — הפרמטר של היום שלה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3400" b="1" i="0">
                <a:solidFill>
                  <a:srgbClr val="2B1E3F"/>
                </a:solidFill>
                <a:latin typeface="Arial"/>
                <a:cs typeface="Arial"/>
              </a:rPr>
              <a:t>הפוסטריור של הטיפ הממוצע בכל יום</a:t>
            </a:r>
          </a:p>
        </p:txBody>
      </p:sp>
      <p:pic>
        <p:nvPicPr>
          <p:cNvPr id="3" name="Picture 2" descr="fo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6766560" cy="3947160"/>
          </a:xfrm>
          <a:prstGeom prst="rect">
            <a:avLst/>
          </a:prstGeom>
        </p:spPr>
      </p:pic>
      <p:sp>
        <p:nvSpPr>
          <p:cNvPr id="4" name="card"/>
          <p:cNvSpPr/>
          <p:nvPr/>
        </p:nvSpPr>
        <p:spPr>
          <a:xfrm>
            <a:off x="10607040" y="1463040"/>
            <a:ext cx="914400" cy="137160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07040" y="1508760"/>
            <a:ext cx="91440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900" b="1" i="0">
                <a:solidFill>
                  <a:srgbClr val="17A398"/>
                </a:solidFill>
                <a:latin typeface="Arial"/>
                <a:cs typeface="Arial"/>
              </a:rPr>
              <a:t>2.78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2240280"/>
            <a:ext cx="9144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200" b="0" i="0">
                <a:solidFill>
                  <a:srgbClr val="6B6478"/>
                </a:solidFill>
                <a:latin typeface="Arial"/>
                <a:cs typeface="Arial"/>
              </a:rPr>
              <a:t>חמישי</a:t>
            </a:r>
          </a:p>
        </p:txBody>
      </p:sp>
      <p:sp>
        <p:nvSpPr>
          <p:cNvPr id="7" name="card"/>
          <p:cNvSpPr/>
          <p:nvPr/>
        </p:nvSpPr>
        <p:spPr>
          <a:xfrm>
            <a:off x="9628632" y="1463040"/>
            <a:ext cx="914400" cy="137160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28632" y="1508760"/>
            <a:ext cx="91440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900" b="1" i="0">
                <a:solidFill>
                  <a:srgbClr val="7B5EA7"/>
                </a:solidFill>
                <a:latin typeface="Arial"/>
                <a:cs typeface="Arial"/>
              </a:rPr>
              <a:t>2.77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8632" y="2240280"/>
            <a:ext cx="9144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200" b="0" i="0">
                <a:solidFill>
                  <a:srgbClr val="6B6478"/>
                </a:solidFill>
                <a:latin typeface="Arial"/>
                <a:cs typeface="Arial"/>
              </a:rPr>
              <a:t>שישי</a:t>
            </a:r>
          </a:p>
        </p:txBody>
      </p:sp>
      <p:sp>
        <p:nvSpPr>
          <p:cNvPr id="10" name="card"/>
          <p:cNvSpPr/>
          <p:nvPr/>
        </p:nvSpPr>
        <p:spPr>
          <a:xfrm>
            <a:off x="8650224" y="1463040"/>
            <a:ext cx="914400" cy="137160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50224" y="1508760"/>
            <a:ext cx="91440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900" b="1" i="0">
                <a:solidFill>
                  <a:srgbClr val="E4572E"/>
                </a:solidFill>
                <a:latin typeface="Arial"/>
                <a:cs typeface="Arial"/>
              </a:rPr>
              <a:t>3.00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0224" y="2240280"/>
            <a:ext cx="9144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200" b="0" i="0">
                <a:solidFill>
                  <a:srgbClr val="6B6478"/>
                </a:solidFill>
                <a:latin typeface="Arial"/>
                <a:cs typeface="Arial"/>
              </a:rPr>
              <a:t>שבת</a:t>
            </a:r>
          </a:p>
        </p:txBody>
      </p:sp>
      <p:sp>
        <p:nvSpPr>
          <p:cNvPr id="13" name="card"/>
          <p:cNvSpPr/>
          <p:nvPr/>
        </p:nvSpPr>
        <p:spPr>
          <a:xfrm>
            <a:off x="7671816" y="1463040"/>
            <a:ext cx="914400" cy="137160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71816" y="1508760"/>
            <a:ext cx="91440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900" b="1" i="0">
                <a:solidFill>
                  <a:srgbClr val="2B1E3F"/>
                </a:solidFill>
                <a:latin typeface="Arial"/>
                <a:cs typeface="Arial"/>
              </a:rPr>
              <a:t>3.26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71816" y="2240280"/>
            <a:ext cx="9144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200" b="0" i="0">
                <a:solidFill>
                  <a:srgbClr val="6B6478"/>
                </a:solidFill>
                <a:latin typeface="Arial"/>
                <a:cs typeface="Arial"/>
              </a:rPr>
              <a:t>ראשון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108960"/>
            <a:ext cx="4050791" cy="3108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R="274320" indent="-274320" algn="r" rtl="1">
              <a:spcAft>
                <a:spcPts val="1200"/>
              </a:spcAft>
              <a:buClr>
                <a:srgbClr val="17A398"/>
              </a:buClr>
              <a:buFont typeface="Arial"/>
              <a:buChar char="•"/>
            </a:pPr>
            <a:r>
              <a:rPr lang="he-IL" sz="1600" b="0" i="0">
                <a:solidFill>
                  <a:srgbClr val="2B1E3F"/>
                </a:solidFill>
                <a:latin typeface="Arial"/>
                <a:cs typeface="Arial"/>
              </a:rPr>
              <a:t>נקודה: ממוצע הפוסטריור; קו: מרווח HDI של 94%</a:t>
            </a:r>
          </a:p>
          <a:p>
            <a:pPr marR="274320" indent="-274320" algn="r" rtl="1">
              <a:spcAft>
                <a:spcPts val="1200"/>
              </a:spcAft>
              <a:buClr>
                <a:srgbClr val="17A398"/>
              </a:buClr>
              <a:buFont typeface="Arial"/>
              <a:buChar char="•"/>
            </a:pPr>
            <a:r>
              <a:rPr lang="he-IL" sz="1600" b="1" i="0">
                <a:solidFill>
                  <a:srgbClr val="7B5EA7"/>
                </a:solidFill>
                <a:latin typeface="Arial"/>
                <a:cs typeface="Arial"/>
              </a:rPr>
              <a:t>שישי</a:t>
            </a:r>
            <a:r>
              <a:rPr lang="he-IL" sz="1600" b="0" i="0">
                <a:solidFill>
                  <a:srgbClr val="2B1E3F"/>
                </a:solidFill>
                <a:latin typeface="Arial"/>
                <a:cs typeface="Arial"/>
              </a:rPr>
              <a:t> — המרווח הרחב ביותר: רק 19 ארוחות</a:t>
            </a:r>
          </a:p>
          <a:p>
            <a:pPr marR="274320" indent="-274320" algn="r" rtl="1">
              <a:spcAft>
                <a:spcPts val="1200"/>
              </a:spcAft>
              <a:buClr>
                <a:srgbClr val="17A398"/>
              </a:buClr>
              <a:buFont typeface="Arial"/>
              <a:buChar char="•"/>
            </a:pPr>
            <a:r>
              <a:rPr lang="he-IL" sz="1600" b="1" i="0">
                <a:solidFill>
                  <a:srgbClr val="2B1E3F"/>
                </a:solidFill>
                <a:latin typeface="Arial"/>
                <a:cs typeface="Arial"/>
              </a:rPr>
              <a:t>ראשון</a:t>
            </a:r>
            <a:r>
              <a:rPr lang="he-IL" sz="1600" b="0" i="0">
                <a:solidFill>
                  <a:srgbClr val="2B1E3F"/>
                </a:solidFill>
                <a:latin typeface="Arial"/>
                <a:cs typeface="Arial"/>
              </a:rPr>
              <a:t> — הגבוה ביותר, אבל המרווחים חופפים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3400" b="1" i="0">
                <a:solidFill>
                  <a:srgbClr val="2B1E3F"/>
                </a:solidFill>
                <a:latin typeface="Arial"/>
                <a:cs typeface="Arial"/>
              </a:rPr>
              <a:t>גודל האפקט של כהן</a:t>
            </a:r>
          </a:p>
        </p:txBody>
      </p:sp>
      <p:sp>
        <p:nvSpPr>
          <p:cNvPr id="3" name="card"/>
          <p:cNvSpPr/>
          <p:nvPr/>
        </p:nvSpPr>
        <p:spPr>
          <a:xfrm>
            <a:off x="6400800" y="1463040"/>
            <a:ext cx="5239512" cy="155448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" name="Picture 3" descr="f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6932" y="1554480"/>
            <a:ext cx="3087246" cy="1371600"/>
          </a:xfrm>
          <a:prstGeom prst="rect">
            <a:avLst/>
          </a:prstGeom>
        </p:spPr>
      </p:pic>
      <p:sp>
        <p:nvSpPr>
          <p:cNvPr id="5" name="card"/>
          <p:cNvSpPr/>
          <p:nvPr/>
        </p:nvSpPr>
        <p:spPr>
          <a:xfrm>
            <a:off x="6400800" y="3200400"/>
            <a:ext cx="5239512" cy="137160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f_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408351"/>
            <a:ext cx="4873752" cy="955696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6400800" y="4754880"/>
            <a:ext cx="5239512" cy="150876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f_sp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5006268"/>
            <a:ext cx="4873752" cy="100598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554480"/>
            <a:ext cx="5486400" cy="46634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Aft>
                <a:spcPts val="1400"/>
              </a:spcAft>
            </a:pPr>
            <a:r>
              <a:rPr lang="he-IL" sz="1900" b="1" i="0">
                <a:solidFill>
                  <a:srgbClr val="2B1E3F"/>
                </a:solidFill>
                <a:latin typeface="Arial"/>
                <a:cs typeface="Arial"/>
              </a:rPr>
              <a:t>למה לא מספיק להשוות ממוצעים?</a:t>
            </a:r>
          </a:p>
          <a:p>
            <a:pPr marR="274320" indent="-274320" algn="r" rtl="1">
              <a:spcAft>
                <a:spcPts val="1200"/>
              </a:spcAft>
              <a:buClr>
                <a:srgbClr val="17A398"/>
              </a:buClr>
              <a:buFont typeface="Arial"/>
              <a:buChar char="•"/>
            </a:pPr>
            <a:r>
              <a:rPr lang="he-IL" sz="1600" b="0" i="0">
                <a:solidFill>
                  <a:srgbClr val="2B1E3F"/>
                </a:solidFill>
                <a:latin typeface="Arial"/>
                <a:cs typeface="Arial"/>
              </a:rPr>
              <a:t>הפרש של דולר אחד הוא גדול אם הפיזור קטן — וזניח אם הפיזור גדול</a:t>
            </a:r>
          </a:p>
          <a:p>
            <a:pPr marR="274320" indent="-274320" algn="r" rtl="1">
              <a:spcAft>
                <a:spcPts val="1200"/>
              </a:spcAft>
              <a:buClr>
                <a:srgbClr val="17A398"/>
              </a:buClr>
              <a:buFont typeface="Arial"/>
              <a:buChar char="•"/>
            </a:pPr>
            <a:r>
              <a:rPr lang="he-IL" sz="1600" b="1" i="0">
                <a:solidFill>
                  <a:srgbClr val="2B1E3F"/>
                </a:solidFill>
                <a:latin typeface="Arial"/>
                <a:cs typeface="Arial"/>
              </a:rPr>
              <a:t>d</a:t>
            </a:r>
            <a:r>
              <a:rPr lang="he-IL" sz="1600" b="0" i="0">
                <a:solidFill>
                  <a:srgbClr val="2B1E3F"/>
                </a:solidFill>
                <a:latin typeface="Arial"/>
                <a:cs typeface="Arial"/>
              </a:rPr>
              <a:t> מודד את ההפרש </a:t>
            </a:r>
            <a:r>
              <a:rPr lang="he-IL" sz="1600" b="1" i="0">
                <a:solidFill>
                  <a:srgbClr val="7B5EA7"/>
                </a:solidFill>
                <a:latin typeface="Arial"/>
                <a:cs typeface="Arial"/>
              </a:rPr>
              <a:t>ביחידות של סטיית תקן</a:t>
            </a:r>
          </a:p>
          <a:p>
            <a:pPr marR="274320" indent="-274320" algn="r" rtl="1">
              <a:spcAft>
                <a:spcPts val="1200"/>
              </a:spcAft>
              <a:buClr>
                <a:srgbClr val="17A398"/>
              </a:buClr>
              <a:buFont typeface="Arial"/>
              <a:buChar char="•"/>
            </a:pPr>
            <a:r>
              <a:rPr lang="he-IL" sz="1600" b="1" i="0">
                <a:solidFill>
                  <a:srgbClr val="2B1E3F"/>
                </a:solidFill>
                <a:latin typeface="Arial"/>
                <a:cs typeface="Arial"/>
              </a:rPr>
              <a:t>S</a:t>
            </a:r>
            <a:r>
              <a:rPr lang="he-IL" sz="1600" b="0" i="0">
                <a:solidFill>
                  <a:srgbClr val="2B1E3F"/>
                </a:solidFill>
                <a:latin typeface="Arial"/>
                <a:cs typeface="Arial"/>
              </a:rPr>
              <a:t>pooled — ממוצע משוקלל של סטיות התקן של שתי הקבוצות</a:t>
            </a:r>
          </a:p>
          <a:p>
            <a:pPr marR="274320" indent="-274320" algn="r" rtl="1">
              <a:spcAft>
                <a:spcPts val="1200"/>
              </a:spcAft>
              <a:buClr>
                <a:srgbClr val="17A398"/>
              </a:buClr>
              <a:buFont typeface="Arial"/>
              <a:buChar char="•"/>
            </a:pPr>
            <a:r>
              <a:rPr lang="he-IL" sz="1600" b="0" i="0">
                <a:solidFill>
                  <a:srgbClr val="2B1E3F"/>
                </a:solidFill>
                <a:latin typeface="Arial"/>
                <a:cs typeface="Arial"/>
              </a:rPr>
              <a:t>כשגודל הקבוצות שווה — שורש ממוצע השונויות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3400" b="1" i="0">
                <a:solidFill>
                  <a:srgbClr val="2B1E3F"/>
                </a:solidFill>
                <a:latin typeface="Arial"/>
                <a:cs typeface="Arial"/>
              </a:rPr>
              <a:t>איך לפרש את d?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757172" cy="1188720"/>
          </a:xfrm>
          <a:prstGeom prst="rect">
            <a:avLst/>
          </a:prstGeom>
          <a:solidFill>
            <a:srgbClr val="E6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395728"/>
            <a:ext cx="1757172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2200" b="1" i="0">
                <a:solidFill>
                  <a:srgbClr val="2B1E3F"/>
                </a:solidFill>
                <a:latin typeface="Arial"/>
                <a:cs typeface="Arial"/>
              </a:rPr>
              <a:t>זניח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757172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500" b="0" i="0">
                <a:solidFill>
                  <a:srgbClr val="2B1E3F"/>
                </a:solidFill>
                <a:latin typeface="Arial"/>
                <a:cs typeface="Arial"/>
              </a:rPr>
              <a:t>מתחת ל-0.2</a:t>
            </a:r>
          </a:p>
        </p:txBody>
      </p:sp>
      <p:sp>
        <p:nvSpPr>
          <p:cNvPr id="6" name="Rectangle 5"/>
          <p:cNvSpPr/>
          <p:nvPr/>
        </p:nvSpPr>
        <p:spPr>
          <a:xfrm>
            <a:off x="2580132" y="2377440"/>
            <a:ext cx="2635758" cy="1188720"/>
          </a:xfrm>
          <a:prstGeom prst="rect">
            <a:avLst/>
          </a:prstGeom>
          <a:solidFill>
            <a:srgbClr val="B9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80132" y="2395728"/>
            <a:ext cx="2635758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2200" b="1" i="0">
                <a:solidFill>
                  <a:srgbClr val="2B1E3F"/>
                </a:solidFill>
                <a:latin typeface="Arial"/>
                <a:cs typeface="Arial"/>
              </a:rPr>
              <a:t>קטן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80132" y="2971800"/>
            <a:ext cx="2635758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500" b="0" i="0">
                <a:solidFill>
                  <a:srgbClr val="2B1E3F"/>
                </a:solidFill>
                <a:latin typeface="Arial"/>
                <a:cs typeface="Arial"/>
              </a:rPr>
              <a:t>0.2 עד 0.5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5890" y="2377440"/>
            <a:ext cx="2635758" cy="1188720"/>
          </a:xfrm>
          <a:prstGeom prst="rect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5890" y="2395728"/>
            <a:ext cx="2635758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2200" b="1" i="0">
                <a:solidFill>
                  <a:srgbClr val="FFFFFF"/>
                </a:solidFill>
                <a:latin typeface="Arial"/>
                <a:cs typeface="Arial"/>
              </a:rPr>
              <a:t>בינוני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5890" y="2971800"/>
            <a:ext cx="2635758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500" b="0" i="0">
                <a:solidFill>
                  <a:srgbClr val="FFFFFF"/>
                </a:solidFill>
                <a:latin typeface="Arial"/>
                <a:cs typeface="Arial"/>
              </a:rPr>
              <a:t>0.5 עד 0.8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51647" y="2377440"/>
            <a:ext cx="3514344" cy="118872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51647" y="2395728"/>
            <a:ext cx="3514344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2200" b="1" i="0">
                <a:solidFill>
                  <a:srgbClr val="FFFFFF"/>
                </a:solidFill>
                <a:latin typeface="Arial"/>
                <a:cs typeface="Arial"/>
              </a:rPr>
              <a:t>גדול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1647" y="2971800"/>
            <a:ext cx="3514344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500" b="0" i="0">
                <a:solidFill>
                  <a:srgbClr val="FFFFFF"/>
                </a:solidFill>
                <a:latin typeface="Arial"/>
                <a:cs typeface="Arial"/>
              </a:rPr>
              <a:t>0.8 ומעלה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0"/>
            <a:ext cx="7315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rtl="0">
              <a:spcAft>
                <a:spcPts val="600"/>
              </a:spcAft>
            </a:pPr>
            <a:r>
              <a:rPr lang="en-US" sz="1300" b="0" i="0">
                <a:solidFill>
                  <a:srgbClr val="6B6478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4372" y="3657600"/>
            <a:ext cx="7315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rtl="0">
              <a:spcAft>
                <a:spcPts val="600"/>
              </a:spcAft>
            </a:pPr>
            <a:r>
              <a:rPr lang="en-US" sz="1300" b="0" i="0">
                <a:solidFill>
                  <a:srgbClr val="6B6478"/>
                </a:solidFill>
                <a:latin typeface="Arial"/>
                <a:cs typeface="Arial"/>
              </a:rPr>
              <a:t>0.2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0130" y="3657600"/>
            <a:ext cx="7315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rtl="0">
              <a:spcAft>
                <a:spcPts val="600"/>
              </a:spcAft>
            </a:pPr>
            <a:r>
              <a:rPr lang="en-US" sz="1300" b="0" i="0">
                <a:solidFill>
                  <a:srgbClr val="6B6478"/>
                </a:solidFill>
                <a:latin typeface="Arial"/>
                <a:cs typeface="Arial"/>
              </a:rPr>
              <a:t>0.5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85887" y="3657600"/>
            <a:ext cx="7315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rtl="0">
              <a:spcAft>
                <a:spcPts val="600"/>
              </a:spcAft>
            </a:pPr>
            <a:r>
              <a:rPr lang="en-US" sz="1300" b="0" i="0">
                <a:solidFill>
                  <a:srgbClr val="6B6478"/>
                </a:solidFill>
                <a:latin typeface="Arial"/>
                <a:cs typeface="Arial"/>
              </a:rPr>
              <a:t>0.8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0232" y="3657600"/>
            <a:ext cx="7315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rtl="0">
              <a:spcAft>
                <a:spcPts val="600"/>
              </a:spcAft>
            </a:pPr>
            <a:r>
              <a:rPr lang="en-US" sz="1300" b="0" i="0">
                <a:solidFill>
                  <a:srgbClr val="6B6478"/>
                </a:solidFill>
                <a:latin typeface="Arial"/>
                <a:cs typeface="Arial"/>
              </a:rPr>
              <a:t>1.2+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11091672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500" b="0" i="0">
                <a:solidFill>
                  <a:srgbClr val="6B6478"/>
                </a:solidFill>
                <a:latin typeface="Arial"/>
                <a:cs typeface="Arial"/>
              </a:rPr>
              <a:t>ערך מוחלט של d</a:t>
            </a:r>
          </a:p>
        </p:txBody>
      </p:sp>
      <p:sp>
        <p:nvSpPr>
          <p:cNvPr id="21" name="card"/>
          <p:cNvSpPr/>
          <p:nvPr/>
        </p:nvSpPr>
        <p:spPr>
          <a:xfrm>
            <a:off x="548640" y="4434840"/>
            <a:ext cx="11091672" cy="1828800"/>
          </a:xfrm>
          <a:prstGeom prst="roundRect">
            <a:avLst>
              <a:gd name="adj" fmla="val 8000"/>
            </a:avLst>
          </a:prstGeom>
          <a:solidFill>
            <a:srgbClr val="E6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526280"/>
            <a:ext cx="10634472" cy="1645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Aft>
                <a:spcPts val="800"/>
              </a:spcAft>
            </a:pPr>
            <a:r>
              <a:rPr lang="he-IL" sz="1800" b="1" i="0">
                <a:solidFill>
                  <a:srgbClr val="2B1E3F"/>
                </a:solidFill>
                <a:latin typeface="Arial"/>
                <a:cs typeface="Arial"/>
              </a:rPr>
              <a:t>כללי אצבע — לא חוקי טבע</a:t>
            </a:r>
          </a:p>
          <a:p>
            <a:pPr algn="r" rtl="1">
              <a:spcAft>
                <a:spcPts val="600"/>
              </a:spcAft>
            </a:pPr>
            <a:r>
              <a:rPr lang="he-IL" sz="1600" b="0" i="0">
                <a:solidFill>
                  <a:srgbClr val="6B6478"/>
                </a:solidFill>
                <a:latin typeface="Arial"/>
                <a:cs typeface="Arial"/>
              </a:rPr>
              <a:t>פירוש גודל האפקט לצד המובהקות נותן תמונה מלאה יותר של המשמעות המעשית של ההבדל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3400" b="1" i="0">
                <a:solidFill>
                  <a:srgbClr val="2B1E3F"/>
                </a:solidFill>
                <a:latin typeface="Arial"/>
                <a:cs typeface="Arial"/>
              </a:rPr>
              <a:t>d בייסיאני: התפלגות במקום מספר</a:t>
            </a:r>
          </a:p>
        </p:txBody>
      </p:sp>
      <p:sp>
        <p:nvSpPr>
          <p:cNvPr id="3" name="code block"/>
          <p:cNvSpPr/>
          <p:nvPr/>
        </p:nvSpPr>
        <p:spPr>
          <a:xfrm>
            <a:off x="548640" y="1463040"/>
            <a:ext cx="7132320" cy="3474720"/>
          </a:xfrm>
          <a:prstGeom prst="roundRect">
            <a:avLst>
              <a:gd name="adj" fmla="val 8000"/>
            </a:avLst>
          </a:prstGeom>
          <a:solidFill>
            <a:srgbClr val="24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code"/>
          <p:cNvSpPr txBox="1"/>
          <p:nvPr/>
        </p:nvSpPr>
        <p:spPr>
          <a:xfrm>
            <a:off x="777240" y="1645920"/>
            <a:ext cx="6675120" cy="3108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US" sz="1400" b="0" i="0">
                <a:solidFill>
                  <a:srgbClr val="EDE8F5"/>
                </a:solidFill>
                <a:latin typeface="Courier New"/>
                <a:cs typeface="Courier New"/>
              </a:rPr>
              <a:t>post = az.extract(idata_cg)</a:t>
            </a:r>
          </a:p>
          <a:p>
            <a:pPr algn="l" rtl="0">
              <a:spcAft>
                <a:spcPts val="0"/>
              </a:spcAft>
            </a:pPr>
            <a:r>
              <a:rPr lang="en-US" sz="1400" b="0" i="0">
                <a:solidFill>
                  <a:srgbClr val="EDE8F5"/>
                </a:solidFill>
                <a:latin typeface="Courier New"/>
                <a:cs typeface="Courier New"/>
              </a:rPr>
              <a:t> </a:t>
            </a:r>
          </a:p>
          <a:p>
            <a:pPr algn="l" rtl="0">
              <a:spcAft>
                <a:spcPts val="0"/>
              </a:spcAft>
            </a:pPr>
            <a:r>
              <a:rPr lang="en-US" sz="1400" b="0" i="0">
                <a:solidFill>
                  <a:srgbClr val="EDE8F5"/>
                </a:solidFill>
                <a:latin typeface="Courier New"/>
                <a:cs typeface="Courier New"/>
              </a:rPr>
              <a:t>for i, j in comparisons:</a:t>
            </a:r>
          </a:p>
          <a:p>
            <a:pPr algn="l" rtl="0">
              <a:spcAft>
                <a:spcPts val="0"/>
              </a:spcAft>
            </a:pPr>
            <a:r>
              <a:rPr lang="en-US" sz="1400" b="0" i="0">
                <a:solidFill>
                  <a:srgbClr val="EDE8F5"/>
                </a:solidFill>
                <a:latin typeface="Courier New"/>
                <a:cs typeface="Courier New"/>
              </a:rPr>
              <a:t>    diff = post['μ'].sel(days=i) - post['μ'].sel(days=j)</a:t>
            </a:r>
          </a:p>
          <a:p>
            <a:pPr algn="l" rtl="0">
              <a:spcAft>
                <a:spcPts val="0"/>
              </a:spcAft>
            </a:pPr>
            <a:r>
              <a:rPr lang="en-US" sz="1400" b="0" i="0">
                <a:solidFill>
                  <a:srgbClr val="EDE8F5"/>
                </a:solidFill>
                <a:latin typeface="Courier New"/>
                <a:cs typeface="Courier New"/>
              </a:rPr>
              <a:t>    d = (diff / np.sqrt((post['σ'].sel(days=i)**2 +</a:t>
            </a:r>
          </a:p>
          <a:p>
            <a:pPr algn="l" rtl="0">
              <a:spcAft>
                <a:spcPts val="0"/>
              </a:spcAft>
            </a:pPr>
            <a:r>
              <a:rPr lang="en-US" sz="1400" b="0" i="0">
                <a:solidFill>
                  <a:srgbClr val="EDE8F5"/>
                </a:solidFill>
                <a:latin typeface="Courier New"/>
                <a:cs typeface="Courier New"/>
              </a:rPr>
              <a:t>                         post['σ'].sel(days=j)**2) / 2)</a:t>
            </a:r>
          </a:p>
          <a:p>
            <a:pPr algn="l" rtl="0">
              <a:spcAft>
                <a:spcPts val="0"/>
              </a:spcAft>
            </a:pPr>
            <a:r>
              <a:rPr lang="en-US" sz="1400" b="0" i="0">
                <a:solidFill>
                  <a:srgbClr val="EDE8F5"/>
                </a:solidFill>
                <a:latin typeface="Courier New"/>
                <a:cs typeface="Courier New"/>
              </a:rPr>
              <a:t>         ).mean()</a:t>
            </a:r>
          </a:p>
          <a:p>
            <a:pPr algn="l" rtl="0">
              <a:spcAft>
                <a:spcPts val="0"/>
              </a:spcAft>
            </a:pPr>
            <a:r>
              <a:rPr lang="en-US" sz="1400" b="0" i="0">
                <a:solidFill>
                  <a:srgbClr val="EDE8F5"/>
                </a:solidFill>
                <a:latin typeface="Courier New"/>
                <a:cs typeface="Courier New"/>
              </a:rPr>
              <a:t>    az.plot_posterior(diff.values, ref_val=0)</a:t>
            </a:r>
          </a:p>
        </p:txBody>
      </p:sp>
      <p:sp>
        <p:nvSpPr>
          <p:cNvPr id="5" name="card"/>
          <p:cNvSpPr/>
          <p:nvPr/>
        </p:nvSpPr>
        <p:spPr>
          <a:xfrm>
            <a:off x="8001000" y="1463040"/>
            <a:ext cx="3639312" cy="105156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badge 1"/>
          <p:cNvSpPr/>
          <p:nvPr/>
        </p:nvSpPr>
        <p:spPr>
          <a:xfrm>
            <a:off x="11018520" y="1709928"/>
            <a:ext cx="548640" cy="548640"/>
          </a:xfrm>
          <a:prstGeom prst="ellipse">
            <a:avLst/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554480"/>
            <a:ext cx="27889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1500" b="1" i="0">
                <a:solidFill>
                  <a:srgbClr val="2B1E3F"/>
                </a:solidFill>
                <a:latin typeface="Arial"/>
                <a:cs typeface="Arial"/>
              </a:rPr>
              <a:t>לכל דגימה מהפוסטריור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965960"/>
            <a:ext cx="27889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1300" b="0" i="0">
                <a:solidFill>
                  <a:srgbClr val="6B6478"/>
                </a:solidFill>
                <a:latin typeface="Arial"/>
                <a:cs typeface="Arial"/>
              </a:rPr>
              <a:t>מחשבים הפרש בין ממוצעי שני ימים</a:t>
            </a:r>
          </a:p>
        </p:txBody>
      </p:sp>
      <p:sp>
        <p:nvSpPr>
          <p:cNvPr id="9" name="card"/>
          <p:cNvSpPr/>
          <p:nvPr/>
        </p:nvSpPr>
        <p:spPr>
          <a:xfrm>
            <a:off x="8001000" y="2651760"/>
            <a:ext cx="3639312" cy="105156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badge 2"/>
          <p:cNvSpPr/>
          <p:nvPr/>
        </p:nvSpPr>
        <p:spPr>
          <a:xfrm>
            <a:off x="11018520" y="2898648"/>
            <a:ext cx="548640" cy="548640"/>
          </a:xfrm>
          <a:prstGeom prst="ellipse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743200"/>
            <a:ext cx="27889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1500" b="1" i="0">
                <a:solidFill>
                  <a:srgbClr val="2B1E3F"/>
                </a:solidFill>
                <a:latin typeface="Arial"/>
                <a:cs typeface="Arial"/>
              </a:rPr>
              <a:t>מחלקים בסטיית התקן המאוחדת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154680"/>
            <a:ext cx="27889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1300" b="0" i="0">
                <a:solidFill>
                  <a:srgbClr val="6B6478"/>
                </a:solidFill>
                <a:latin typeface="Arial"/>
                <a:cs typeface="Arial"/>
              </a:rPr>
              <a:t>מקבלים d לכל דגימה</a:t>
            </a:r>
          </a:p>
        </p:txBody>
      </p:sp>
      <p:sp>
        <p:nvSpPr>
          <p:cNvPr id="13" name="card"/>
          <p:cNvSpPr/>
          <p:nvPr/>
        </p:nvSpPr>
        <p:spPr>
          <a:xfrm>
            <a:off x="8001000" y="3840480"/>
            <a:ext cx="3639312" cy="105156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badge 3"/>
          <p:cNvSpPr/>
          <p:nvPr/>
        </p:nvSpPr>
        <p:spPr>
          <a:xfrm>
            <a:off x="11018520" y="4087368"/>
            <a:ext cx="548640" cy="54864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931920"/>
            <a:ext cx="27889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1500" b="1" i="0">
                <a:solidFill>
                  <a:srgbClr val="2B1E3F"/>
                </a:solidFill>
                <a:latin typeface="Arial"/>
                <a:cs typeface="Arial"/>
              </a:rPr>
              <a:t>מקבלים התפלגות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4343400"/>
            <a:ext cx="27889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1300" b="0" i="0">
                <a:solidFill>
                  <a:srgbClr val="6B6478"/>
                </a:solidFill>
                <a:latin typeface="Arial"/>
                <a:cs typeface="Arial"/>
              </a:rPr>
              <a:t>של ההפרש — עם אי-הוודאות המלאה</a:t>
            </a:r>
          </a:p>
        </p:txBody>
      </p:sp>
      <p:sp>
        <p:nvSpPr>
          <p:cNvPr id="17" name="card"/>
          <p:cNvSpPr/>
          <p:nvPr/>
        </p:nvSpPr>
        <p:spPr>
          <a:xfrm>
            <a:off x="548640" y="5166360"/>
            <a:ext cx="11091672" cy="1097280"/>
          </a:xfrm>
          <a:prstGeom prst="roundRect">
            <a:avLst>
              <a:gd name="adj" fmla="val 8000"/>
            </a:avLst>
          </a:prstGeom>
          <a:solidFill>
            <a:srgbClr val="E6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5166360"/>
            <a:ext cx="10634472" cy="10972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en-US" sz="1600" b="1" i="0">
                <a:solidFill>
                  <a:srgbClr val="2B1E3F"/>
                </a:solidFill>
                <a:latin typeface="Courier New"/>
                <a:cs typeface="Courier New"/>
              </a:rPr>
              <a:t>ref_val=0</a:t>
            </a:r>
            <a:r>
              <a:rPr lang="he-IL" sz="1600" b="0" i="0">
                <a:solidFill>
                  <a:srgbClr val="2B1E3F"/>
                </a:solidFill>
                <a:latin typeface="Arial"/>
                <a:cs typeface="Arial"/>
              </a:rPr>
              <a:t> מסמן את האפס — ורואים מיד כמה מההתפלגות נמצאת מכל צד שלו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3400" b="1" i="0">
                <a:solidFill>
                  <a:srgbClr val="2B1E3F"/>
                </a:solidFill>
                <a:latin typeface="Arial"/>
                <a:cs typeface="Arial"/>
              </a:rPr>
              <a:t>התוצאות: שש השוואות בין ימים</a:t>
            </a:r>
          </a:p>
        </p:txBody>
      </p:sp>
      <p:pic>
        <p:nvPicPr>
          <p:cNvPr id="3" name="Picture 2" descr="diff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766560" cy="500725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814255" y="1463040"/>
            <a:ext cx="1828800" cy="566928"/>
          </a:xfrm>
          <a:prstGeom prst="rect">
            <a:avLst/>
          </a:prstGeom>
          <a:solidFill>
            <a:srgbClr val="2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14255" y="1463040"/>
            <a:ext cx="1828800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0">
              <a:spcAft>
                <a:spcPts val="600"/>
              </a:spcAft>
            </a:pPr>
            <a:r>
              <a:rPr lang="en-US" sz="1400" b="1" i="0">
                <a:solidFill>
                  <a:srgbClr val="FFFFFF"/>
                </a:solidFill>
                <a:latin typeface="Arial"/>
                <a:cs typeface="Arial"/>
              </a:rPr>
              <a:t>השוואה</a:t>
            </a:r>
          </a:p>
        </p:txBody>
      </p:sp>
      <p:sp>
        <p:nvSpPr>
          <p:cNvPr id="6" name="Rectangle 5"/>
          <p:cNvSpPr/>
          <p:nvPr/>
        </p:nvSpPr>
        <p:spPr>
          <a:xfrm>
            <a:off x="8899855" y="1463040"/>
            <a:ext cx="914400" cy="566928"/>
          </a:xfrm>
          <a:prstGeom prst="rect">
            <a:avLst/>
          </a:prstGeom>
          <a:solidFill>
            <a:srgbClr val="2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99855" y="1463040"/>
            <a:ext cx="914400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400" b="1" i="0">
                <a:solidFill>
                  <a:srgbClr val="FFFFFF"/>
                </a:solidFill>
                <a:latin typeface="Arial"/>
                <a:cs typeface="Arial"/>
              </a:rPr>
              <a:t>|d|</a:t>
            </a:r>
          </a:p>
        </p:txBody>
      </p:sp>
      <p:sp>
        <p:nvSpPr>
          <p:cNvPr id="8" name="Rectangle 7"/>
          <p:cNvSpPr/>
          <p:nvPr/>
        </p:nvSpPr>
        <p:spPr>
          <a:xfrm>
            <a:off x="7592263" y="1463040"/>
            <a:ext cx="1307592" cy="566928"/>
          </a:xfrm>
          <a:prstGeom prst="rect">
            <a:avLst/>
          </a:prstGeom>
          <a:solidFill>
            <a:srgbClr val="2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92263" y="1463040"/>
            <a:ext cx="1307592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400" b="1" i="0">
                <a:solidFill>
                  <a:srgbClr val="FFFFFF"/>
                </a:solidFill>
                <a:latin typeface="Arial"/>
                <a:cs typeface="Arial"/>
              </a:rPr>
              <a:t>אפקט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14255" y="2029968"/>
            <a:ext cx="1828800" cy="566928"/>
          </a:xfrm>
          <a:prstGeom prst="rect">
            <a:avLst/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14255" y="2029968"/>
            <a:ext cx="1828800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0">
              <a:spcAft>
                <a:spcPts val="600"/>
              </a:spcAft>
            </a:pPr>
            <a:r>
              <a:rPr lang="en-US" sz="1400" b="0" i="0">
                <a:solidFill>
                  <a:srgbClr val="2B1E3F"/>
                </a:solidFill>
                <a:latin typeface="Arial"/>
                <a:cs typeface="Arial"/>
              </a:rPr>
              <a:t>Thur − Fri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99855" y="2029968"/>
            <a:ext cx="914400" cy="566928"/>
          </a:xfrm>
          <a:prstGeom prst="rect">
            <a:avLst/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99855" y="2029968"/>
            <a:ext cx="914400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400" b="0" i="0">
                <a:solidFill>
                  <a:srgbClr val="2B1E3F"/>
                </a:solidFill>
                <a:latin typeface="Arial"/>
                <a:cs typeface="Arial"/>
              </a:rPr>
              <a:t>0.01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92263" y="2029968"/>
            <a:ext cx="1307592" cy="566928"/>
          </a:xfrm>
          <a:prstGeom prst="rect">
            <a:avLst/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92263" y="2029968"/>
            <a:ext cx="1307592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400" b="0" i="0">
                <a:solidFill>
                  <a:srgbClr val="2B1E3F"/>
                </a:solidFill>
                <a:latin typeface="Arial"/>
                <a:cs typeface="Arial"/>
              </a:rPr>
              <a:t>זניח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14255" y="2596896"/>
            <a:ext cx="18288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14255" y="2596896"/>
            <a:ext cx="1828800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0">
              <a:spcAft>
                <a:spcPts val="600"/>
              </a:spcAft>
            </a:pPr>
            <a:r>
              <a:rPr lang="en-US" sz="1400" b="0" i="0">
                <a:solidFill>
                  <a:srgbClr val="2B1E3F"/>
                </a:solidFill>
                <a:latin typeface="Arial"/>
                <a:cs typeface="Arial"/>
              </a:rPr>
              <a:t>Thur − Sat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99855" y="2596896"/>
            <a:ext cx="9144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99855" y="2596896"/>
            <a:ext cx="914400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400" b="0" i="0">
                <a:solidFill>
                  <a:srgbClr val="2B1E3F"/>
                </a:solidFill>
                <a:latin typeface="Arial"/>
                <a:cs typeface="Arial"/>
              </a:rPr>
              <a:t>0.17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92263" y="2596896"/>
            <a:ext cx="130759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92263" y="2596896"/>
            <a:ext cx="1307592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400" b="0" i="0">
                <a:solidFill>
                  <a:srgbClr val="2B1E3F"/>
                </a:solidFill>
                <a:latin typeface="Arial"/>
                <a:cs typeface="Arial"/>
              </a:rPr>
              <a:t>זניח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14255" y="3163824"/>
            <a:ext cx="1828800" cy="566928"/>
          </a:xfrm>
          <a:prstGeom prst="rect">
            <a:avLst/>
          </a:prstGeom>
          <a:solidFill>
            <a:srgbClr val="E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14255" y="3163824"/>
            <a:ext cx="1828800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0">
              <a:spcAft>
                <a:spcPts val="600"/>
              </a:spcAft>
            </a:pPr>
            <a:r>
              <a:rPr lang="en-US" sz="1400" b="1" i="0">
                <a:solidFill>
                  <a:srgbClr val="2B1E3F"/>
                </a:solidFill>
                <a:latin typeface="Arial"/>
                <a:cs typeface="Arial"/>
              </a:rPr>
              <a:t>Thur − Sun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99855" y="3163824"/>
            <a:ext cx="914400" cy="566928"/>
          </a:xfrm>
          <a:prstGeom prst="rect">
            <a:avLst/>
          </a:prstGeom>
          <a:solidFill>
            <a:srgbClr val="E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99855" y="3163824"/>
            <a:ext cx="914400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400" b="1" i="0">
                <a:solidFill>
                  <a:srgbClr val="2B1E3F"/>
                </a:solidFill>
                <a:latin typeface="Arial"/>
                <a:cs typeface="Arial"/>
              </a:rPr>
              <a:t>0.40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92263" y="3163824"/>
            <a:ext cx="1307592" cy="566928"/>
          </a:xfrm>
          <a:prstGeom prst="rect">
            <a:avLst/>
          </a:prstGeom>
          <a:solidFill>
            <a:srgbClr val="E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92263" y="3163824"/>
            <a:ext cx="1307592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400" b="1" i="0">
                <a:solidFill>
                  <a:srgbClr val="17A398"/>
                </a:solidFill>
                <a:latin typeface="Arial"/>
                <a:cs typeface="Arial"/>
              </a:rPr>
              <a:t>קטן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14255" y="3730752"/>
            <a:ext cx="18288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14255" y="3730752"/>
            <a:ext cx="1828800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0">
              <a:spcAft>
                <a:spcPts val="600"/>
              </a:spcAft>
            </a:pPr>
            <a:r>
              <a:rPr lang="en-US" sz="1400" b="0" i="0">
                <a:solidFill>
                  <a:srgbClr val="2B1E3F"/>
                </a:solidFill>
                <a:latin typeface="Arial"/>
                <a:cs typeface="Arial"/>
              </a:rPr>
              <a:t>Fri − Sat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99855" y="3730752"/>
            <a:ext cx="9144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99855" y="3730752"/>
            <a:ext cx="914400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400" b="0" i="0">
                <a:solidFill>
                  <a:srgbClr val="2B1E3F"/>
                </a:solidFill>
                <a:latin typeface="Arial"/>
                <a:cs typeface="Arial"/>
              </a:rPr>
              <a:t>0.18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92263" y="3730752"/>
            <a:ext cx="130759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92263" y="3730752"/>
            <a:ext cx="1307592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400" b="0" i="0">
                <a:solidFill>
                  <a:srgbClr val="2B1E3F"/>
                </a:solidFill>
                <a:latin typeface="Arial"/>
                <a:cs typeface="Arial"/>
              </a:rPr>
              <a:t>זניח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14255" y="4297680"/>
            <a:ext cx="1828800" cy="566928"/>
          </a:xfrm>
          <a:prstGeom prst="rect">
            <a:avLst/>
          </a:prstGeom>
          <a:solidFill>
            <a:srgbClr val="E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814255" y="4297680"/>
            <a:ext cx="1828800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0">
              <a:spcAft>
                <a:spcPts val="600"/>
              </a:spcAft>
            </a:pPr>
            <a:r>
              <a:rPr lang="en-US" sz="1400" b="1" i="0">
                <a:solidFill>
                  <a:srgbClr val="2B1E3F"/>
                </a:solidFill>
                <a:latin typeface="Arial"/>
                <a:cs typeface="Arial"/>
              </a:rPr>
              <a:t>Fri − Sun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99855" y="4297680"/>
            <a:ext cx="914400" cy="566928"/>
          </a:xfrm>
          <a:prstGeom prst="rect">
            <a:avLst/>
          </a:prstGeom>
          <a:solidFill>
            <a:srgbClr val="E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899855" y="4297680"/>
            <a:ext cx="914400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400" b="1" i="0">
                <a:solidFill>
                  <a:srgbClr val="2B1E3F"/>
                </a:solidFill>
                <a:latin typeface="Arial"/>
                <a:cs typeface="Arial"/>
              </a:rPr>
              <a:t>0.42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92263" y="4297680"/>
            <a:ext cx="1307592" cy="566928"/>
          </a:xfrm>
          <a:prstGeom prst="rect">
            <a:avLst/>
          </a:prstGeom>
          <a:solidFill>
            <a:srgbClr val="E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592263" y="4297680"/>
            <a:ext cx="1307592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400" b="1" i="0">
                <a:solidFill>
                  <a:srgbClr val="17A398"/>
                </a:solidFill>
                <a:latin typeface="Arial"/>
                <a:cs typeface="Arial"/>
              </a:rPr>
              <a:t>קטן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14255" y="4864608"/>
            <a:ext cx="18288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814255" y="4864608"/>
            <a:ext cx="1828800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0">
              <a:spcAft>
                <a:spcPts val="600"/>
              </a:spcAft>
            </a:pPr>
            <a:r>
              <a:rPr lang="en-US" sz="1400" b="0" i="0">
                <a:solidFill>
                  <a:srgbClr val="2B1E3F"/>
                </a:solidFill>
                <a:latin typeface="Arial"/>
                <a:cs typeface="Arial"/>
              </a:rPr>
              <a:t>Sat − Sun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99855" y="4864608"/>
            <a:ext cx="9144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899855" y="4864608"/>
            <a:ext cx="914400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400" b="0" i="0">
                <a:solidFill>
                  <a:srgbClr val="2B1E3F"/>
                </a:solidFill>
                <a:latin typeface="Arial"/>
                <a:cs typeface="Arial"/>
              </a:rPr>
              <a:t>0.19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92263" y="4864608"/>
            <a:ext cx="130759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592263" y="4864608"/>
            <a:ext cx="1307592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400" b="0" i="0">
                <a:solidFill>
                  <a:srgbClr val="2B1E3F"/>
                </a:solidFill>
                <a:latin typeface="Arial"/>
                <a:cs typeface="Arial"/>
              </a:rPr>
              <a:t>זניח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20" y="5532120"/>
            <a:ext cx="4050791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1400" b="1" i="0">
                <a:solidFill>
                  <a:srgbClr val="17A398"/>
                </a:solidFill>
                <a:latin typeface="Arial"/>
                <a:cs typeface="Arial"/>
              </a:rPr>
              <a:t>ראשון מול חמישי ושישי: אפקט קטן; כל השאר — זניח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3400" b="1" i="0">
                <a:solidFill>
                  <a:srgbClr val="2B1E3F"/>
                </a:solidFill>
                <a:latin typeface="Arial"/>
                <a:cs typeface="Arial"/>
              </a:rPr>
              <a:t>מסקנות</a:t>
            </a:r>
          </a:p>
        </p:txBody>
      </p:sp>
      <p:sp>
        <p:nvSpPr>
          <p:cNvPr id="3" name="card"/>
          <p:cNvSpPr/>
          <p:nvPr/>
        </p:nvSpPr>
        <p:spPr>
          <a:xfrm>
            <a:off x="548640" y="1508760"/>
            <a:ext cx="11091672" cy="109728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badge א"/>
          <p:cNvSpPr/>
          <p:nvPr/>
        </p:nvSpPr>
        <p:spPr>
          <a:xfrm>
            <a:off x="10835640" y="1691639"/>
            <a:ext cx="731520" cy="731520"/>
          </a:xfrm>
          <a:prstGeom prst="ellipse">
            <a:avLst/>
          </a:prstGeom>
          <a:solidFill>
            <a:srgbClr val="2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  <a:cs typeface="Arial"/>
              </a:rPr>
              <a:t>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18488"/>
            <a:ext cx="98755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2000" b="1" i="0">
                <a:solidFill>
                  <a:srgbClr val="2B1E3F"/>
                </a:solidFill>
                <a:latin typeface="Arial"/>
                <a:cs typeface="Arial"/>
              </a:rPr>
              <a:t>ראשון — הטיפ הגבוה ביותר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75688"/>
            <a:ext cx="98755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1500" b="0" i="0">
                <a:solidFill>
                  <a:srgbClr val="6B6478"/>
                </a:solidFill>
                <a:latin typeface="Arial"/>
                <a:cs typeface="Arial"/>
              </a:rPr>
              <a:t>בממוצע כחצי דולר יותר מחמישי ושישי</a:t>
            </a:r>
          </a:p>
        </p:txBody>
      </p:sp>
      <p:sp>
        <p:nvSpPr>
          <p:cNvPr id="7" name="card"/>
          <p:cNvSpPr/>
          <p:nvPr/>
        </p:nvSpPr>
        <p:spPr>
          <a:xfrm>
            <a:off x="548640" y="2834639"/>
            <a:ext cx="11091672" cy="109728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badge %"/>
          <p:cNvSpPr/>
          <p:nvPr/>
        </p:nvSpPr>
        <p:spPr>
          <a:xfrm>
            <a:off x="10835640" y="3017520"/>
            <a:ext cx="731520" cy="731520"/>
          </a:xfrm>
          <a:prstGeom prst="ellipse">
            <a:avLst/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  <a:cs typeface="Arial"/>
              </a:rPr>
              <a:t>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44368"/>
            <a:ext cx="98755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2000" b="1" i="0">
                <a:solidFill>
                  <a:srgbClr val="2B1E3F"/>
                </a:solidFill>
                <a:latin typeface="Arial"/>
                <a:cs typeface="Arial"/>
              </a:rPr>
              <a:t>כ-99% סיכוי שהטיפ בראשון גבוה מבחמישי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01568"/>
            <a:ext cx="98755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1500" b="0" i="0">
                <a:solidFill>
                  <a:srgbClr val="6B6478"/>
                </a:solidFill>
                <a:latin typeface="Arial"/>
                <a:cs typeface="Arial"/>
              </a:rPr>
              <a:t>ישירות מהתפלגות ההפרש בפוסטריור</a:t>
            </a:r>
          </a:p>
        </p:txBody>
      </p:sp>
      <p:sp>
        <p:nvSpPr>
          <p:cNvPr id="11" name="card"/>
          <p:cNvSpPr/>
          <p:nvPr/>
        </p:nvSpPr>
        <p:spPr>
          <a:xfrm>
            <a:off x="548640" y="4160520"/>
            <a:ext cx="11091672" cy="109728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badge d"/>
          <p:cNvSpPr/>
          <p:nvPr/>
        </p:nvSpPr>
        <p:spPr>
          <a:xfrm>
            <a:off x="10835640" y="4343400"/>
            <a:ext cx="731520" cy="73152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  <a:cs typeface="Arial"/>
              </a:rPr>
              <a:t>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270248"/>
            <a:ext cx="98755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2000" b="1" i="0">
                <a:solidFill>
                  <a:srgbClr val="2B1E3F"/>
                </a:solidFill>
                <a:latin typeface="Arial"/>
                <a:cs typeface="Arial"/>
              </a:rPr>
              <a:t>אבל האפקט קטן: d בסביבת 0.4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27448"/>
            <a:ext cx="98755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1500" b="0" i="0">
                <a:solidFill>
                  <a:srgbClr val="6B6478"/>
                </a:solidFill>
                <a:latin typeface="Arial"/>
                <a:cs typeface="Arial"/>
              </a:rPr>
              <a:t>ההבדל אמיתי כנראה — אך מתון ביחס לפיזור הטיפים</a:t>
            </a:r>
          </a:p>
        </p:txBody>
      </p:sp>
      <p:sp>
        <p:nvSpPr>
          <p:cNvPr id="15" name="card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8000"/>
            </a:avLst>
          </a:prstGeom>
          <a:solidFill>
            <a:srgbClr val="E6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5532120"/>
            <a:ext cx="10634472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1600" b="1" i="0">
                <a:solidFill>
                  <a:srgbClr val="7B5EA7"/>
                </a:solidFill>
                <a:latin typeface="Arial"/>
                <a:cs typeface="Arial"/>
              </a:rPr>
              <a:t>הגישה הבייסיאנית נותנת התפלגות שלמה של ההבדל — לא רק ”מובהק / לא מובהק“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3400" b="1" i="0">
                <a:solidFill>
                  <a:srgbClr val="FFFFFF"/>
                </a:solidFill>
                <a:latin typeface="Arial"/>
                <a:cs typeface="Arial"/>
              </a:rPr>
              <a:t>סיכום</a:t>
            </a:r>
          </a:p>
        </p:txBody>
      </p:sp>
      <p:sp>
        <p:nvSpPr>
          <p:cNvPr id="3" name="badge #"/>
          <p:cNvSpPr/>
          <p:nvPr/>
        </p:nvSpPr>
        <p:spPr>
          <a:xfrm>
            <a:off x="10835640" y="1600200"/>
            <a:ext cx="777240" cy="777240"/>
          </a:xfrm>
          <a:prstGeom prst="ellipse">
            <a:avLst/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  <a:cs typeface="Arial"/>
              </a:rPr>
              <a:t>#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978408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2100" b="0" i="0">
                <a:solidFill>
                  <a:srgbClr val="FFFFFF"/>
                </a:solidFill>
                <a:latin typeface="Arial"/>
                <a:cs typeface="Arial"/>
              </a:rPr>
              <a:t>קידוד קבוצות לאינדקס: </a:t>
            </a:r>
            <a:r>
              <a:rPr lang="en-US" sz="2100" b="0" i="0">
                <a:solidFill>
                  <a:srgbClr val="FFFFFF"/>
                </a:solidFill>
                <a:latin typeface="Arial"/>
                <a:cs typeface="Arial"/>
              </a:rPr>
              <a:t>μ</a:t>
            </a:r>
            <a:r>
              <a:rPr lang="he-IL" sz="2100" b="0" i="0">
                <a:solidFill>
                  <a:srgbClr val="FFFFFF"/>
                </a:solidFill>
                <a:latin typeface="Arial"/>
                <a:cs typeface="Arial"/>
              </a:rPr>
              <a:t>[idx] — מודל אחד לכל הקבוצות</a:t>
            </a:r>
          </a:p>
        </p:txBody>
      </p:sp>
      <p:sp>
        <p:nvSpPr>
          <p:cNvPr id="5" name="badge Γ"/>
          <p:cNvSpPr/>
          <p:nvPr/>
        </p:nvSpPr>
        <p:spPr>
          <a:xfrm>
            <a:off x="10835640" y="2743200"/>
            <a:ext cx="777240" cy="77724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  <a:cs typeface="Arial"/>
              </a:rPr>
              <a:t>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978408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2100" b="0" i="0">
                <a:solidFill>
                  <a:srgbClr val="FFFFFF"/>
                </a:solidFill>
                <a:latin typeface="Arial"/>
                <a:cs typeface="Arial"/>
              </a:rPr>
              <a:t>נראות גמא לנתונים חיוביים וא-סימטריים</a:t>
            </a:r>
          </a:p>
        </p:txBody>
      </p:sp>
      <p:sp>
        <p:nvSpPr>
          <p:cNvPr id="7" name="badge μ"/>
          <p:cNvSpPr/>
          <p:nvPr/>
        </p:nvSpPr>
        <p:spPr>
          <a:xfrm>
            <a:off x="10835640" y="3886200"/>
            <a:ext cx="777240" cy="777240"/>
          </a:xfrm>
          <a:prstGeom prst="ellipse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  <a:cs typeface="Arial"/>
              </a:rPr>
              <a:t>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978408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2100" b="0" i="0">
                <a:solidFill>
                  <a:srgbClr val="FFFFFF"/>
                </a:solidFill>
                <a:latin typeface="Arial"/>
                <a:cs typeface="Arial"/>
              </a:rPr>
              <a:t>coords ו-dims: תוצאות מתויגות בשמות הקבוצות</a:t>
            </a:r>
          </a:p>
        </p:txBody>
      </p:sp>
      <p:sp>
        <p:nvSpPr>
          <p:cNvPr id="9" name="badge d"/>
          <p:cNvSpPr/>
          <p:nvPr/>
        </p:nvSpPr>
        <p:spPr>
          <a:xfrm>
            <a:off x="10835640" y="5029200"/>
            <a:ext cx="777240" cy="777240"/>
          </a:xfrm>
          <a:prstGeom prst="ellipse">
            <a:avLst/>
          </a:prstGeom>
          <a:solidFill>
            <a:srgbClr val="CFC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  <a:cs typeface="Arial"/>
              </a:rPr>
              <a:t>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29200"/>
            <a:ext cx="978408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2100" b="0" i="0">
                <a:solidFill>
                  <a:srgbClr val="FFFFFF"/>
                </a:solidFill>
                <a:latin typeface="Arial"/>
                <a:cs typeface="Arial"/>
              </a:rPr>
              <a:t>גודל האפקט של כהן — כהתפלגות פוסטריורית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1410</Words>
  <Application>Microsoft Office PowerPoint</Application>
  <PresentationFormat>Widescreen</PresentationFormat>
  <Paragraphs>171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אלירן שרצר/Eliran Sherzer</cp:lastModifiedBy>
  <cp:revision>1</cp:revision>
  <dcterms:created xsi:type="dcterms:W3CDTF">2013-01-27T09:14:16Z</dcterms:created>
  <dcterms:modified xsi:type="dcterms:W3CDTF">2026-10-13T09:33:27Z</dcterms:modified>
  <cp:category/>
</cp:coreProperties>
</file>