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83" r:id="rId7"/>
    <p:sldId id="261" r:id="rId8"/>
    <p:sldId id="284" r:id="rId9"/>
    <p:sldId id="285" r:id="rId10"/>
    <p:sldId id="262" r:id="rId11"/>
    <p:sldId id="286" r:id="rId12"/>
    <p:sldId id="263" r:id="rId13"/>
    <p:sldId id="264" r:id="rId14"/>
    <p:sldId id="266" r:id="rId15"/>
    <p:sldId id="265" r:id="rId16"/>
    <p:sldId id="267" r:id="rId17"/>
    <p:sldId id="268" r:id="rId18"/>
    <p:sldId id="269" r:id="rId19"/>
    <p:sldId id="271" r:id="rId20"/>
    <p:sldId id="270" r:id="rId21"/>
    <p:sldId id="287" r:id="rId22"/>
    <p:sldId id="288" r:id="rId23"/>
    <p:sldId id="289" r:id="rId24"/>
    <p:sldId id="29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1813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4528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96640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6434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932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786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540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446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3818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6902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9232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5F2A0FB-C061-41D3-B0AC-214264C195BD}" type="datetimeFigureOut">
              <a:rPr lang="en-IL" smtClean="0"/>
              <a:t>15/10/2026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5611480-8C76-46E5-A33C-AFFC0405CE2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6784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5D57-860A-9DA0-3B49-74F02ED38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Bayesian models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74ED5F-53A7-5312-50FC-9482EB5491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Its all about that Bayes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0423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F5421-2FDC-4339-4C77-F83713B71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19757-7371-DB20-BCD9-977D70FBE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the general manager of a Baseball team</a:t>
            </a:r>
          </a:p>
          <a:p>
            <a:r>
              <a:rPr lang="en-US" dirty="0"/>
              <a:t>You have a new player, and you want to assess his bating average</a:t>
            </a:r>
          </a:p>
          <a:p>
            <a:r>
              <a:rPr lang="en-US" dirty="0"/>
              <a:t>Bating average: the proportion of time you hit the ball and the get to first base</a:t>
            </a:r>
          </a:p>
          <a:p>
            <a:r>
              <a:rPr lang="en-US" dirty="0"/>
              <a:t>The new player had 10 trials and made 8 hits and 2 misses.</a:t>
            </a:r>
          </a:p>
          <a:p>
            <a:r>
              <a:rPr lang="en-US" dirty="0"/>
              <a:t>How much you would estimate his batting average?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2338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83CF1-4FD6-CB8A-98AA-FE8FAC7FD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batting average of baseball players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7BEC-3272-64A0-1263-BCA899852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best player ever did not exceed 0.4.</a:t>
            </a:r>
          </a:p>
          <a:p>
            <a:r>
              <a:rPr lang="en-US" dirty="0"/>
              <a:t>What do you think now?</a:t>
            </a:r>
            <a:endParaRPr lang="en-IL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7061B0F-B4E1-3AA6-3DEE-80E309C7F5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8312987"/>
              </p:ext>
            </p:extLst>
          </p:nvPr>
        </p:nvGraphicFramePr>
        <p:xfrm>
          <a:off x="2429982" y="2996439"/>
          <a:ext cx="7505188" cy="3752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4571941" imgH="2285764" progId="Acrobat.Document.DC">
                  <p:embed/>
                </p:oleObj>
              </mc:Choice>
              <mc:Fallback>
                <p:oleObj name="Acrobat Document" r:id="rId2" imgW="4571941" imgH="2285764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9982" y="2996439"/>
                        <a:ext cx="7505188" cy="37525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9319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1AAD-01C2-CB5E-CE3B-114AAAED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make a model Bayesian?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1890A-0F84-D156-8584-398CCF09E4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classic approach  - frequentist statistics – returns a single results</a:t>
                </a:r>
              </a:p>
              <a:p>
                <a:r>
                  <a:rPr lang="en-US" dirty="0"/>
                  <a:t>The frequentist approach requires great knowledge in statistics.</a:t>
                </a:r>
              </a:p>
              <a:p>
                <a:r>
                  <a:rPr lang="en-US" dirty="0"/>
                  <a:t>The Bayesian results – return a distribution which reflect a set of beliefs.</a:t>
                </a:r>
              </a:p>
              <a:p>
                <a:r>
                  <a:rPr lang="en-US" dirty="0"/>
                  <a:t>The Bayesian approach requires one thing: Bayes formula: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Let’s practice this equation.</a:t>
                </a:r>
                <a:br>
                  <a:rPr lang="en-US" dirty="0"/>
                </a:br>
                <a:endParaRPr lang="en-US" dirty="0"/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D1890A-0F84-D156-8584-398CCF09E4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117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98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7FDF8-C849-C743-A98F-A16C5B1D3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938DA-D17A-74F4-C43D-AADA7740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4252" y="152816"/>
            <a:ext cx="7729728" cy="1188720"/>
          </a:xfrm>
        </p:spPr>
        <p:txBody>
          <a:bodyPr/>
          <a:lstStyle/>
          <a:p>
            <a:r>
              <a:rPr lang="en-US" dirty="0"/>
              <a:t>Let practice Bayes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0F213-8A05-798B-FD6E-70252A4A8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416" y="1555686"/>
            <a:ext cx="10515600" cy="4351338"/>
          </a:xfrm>
        </p:spPr>
        <p:txBody>
          <a:bodyPr/>
          <a:lstStyle/>
          <a:p>
            <a:r>
              <a:rPr lang="en-US" dirty="0"/>
              <a:t>We have two vessels: 1 and 2 which contains balls</a:t>
            </a:r>
          </a:p>
          <a:p>
            <a:r>
              <a:rPr lang="en-US" dirty="0"/>
              <a:t>Vessels 1: has 1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ball and 1 </a:t>
            </a:r>
            <a:r>
              <a:rPr lang="en-US" dirty="0">
                <a:solidFill>
                  <a:srgbClr val="002060"/>
                </a:solidFill>
              </a:rPr>
              <a:t>blue</a:t>
            </a:r>
            <a:r>
              <a:rPr lang="en-US" dirty="0"/>
              <a:t> ball</a:t>
            </a:r>
          </a:p>
          <a:p>
            <a:r>
              <a:rPr lang="en-US" dirty="0"/>
              <a:t>Vessels 2: has 1 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 ball and 2 </a:t>
            </a:r>
            <a:r>
              <a:rPr lang="en-US" dirty="0">
                <a:solidFill>
                  <a:srgbClr val="002060"/>
                </a:solidFill>
              </a:rPr>
              <a:t>blue</a:t>
            </a:r>
            <a:r>
              <a:rPr lang="en-US" dirty="0"/>
              <a:t> balls</a:t>
            </a:r>
          </a:p>
          <a:p>
            <a:r>
              <a:rPr lang="en-US" dirty="0"/>
              <a:t>One of the ball is randomly picked.</a:t>
            </a:r>
          </a:p>
          <a:p>
            <a:r>
              <a:rPr lang="en-US" dirty="0"/>
              <a:t>Event A: choosing vessel 1</a:t>
            </a:r>
          </a:p>
          <a:p>
            <a:r>
              <a:rPr lang="en-US" dirty="0"/>
              <a:t>Event B: choosing a red ball</a:t>
            </a:r>
          </a:p>
          <a:p>
            <a:r>
              <a:rPr lang="en-US" dirty="0"/>
              <a:t>Question: a red ball is picked, what is the probability that it was from vessel 1?</a:t>
            </a:r>
          </a:p>
          <a:p>
            <a:endParaRPr lang="en-IL" dirty="0"/>
          </a:p>
          <a:p>
            <a:endParaRPr lang="en-IL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EAC2505A-FAB6-6269-B802-C9B97DC6EA9F}"/>
              </a:ext>
            </a:extLst>
          </p:cNvPr>
          <p:cNvSpPr/>
          <p:nvPr/>
        </p:nvSpPr>
        <p:spPr>
          <a:xfrm>
            <a:off x="9363456" y="403194"/>
            <a:ext cx="941832" cy="978408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729D5603-69B3-1411-070D-98F335319589}"/>
              </a:ext>
            </a:extLst>
          </p:cNvPr>
          <p:cNvSpPr/>
          <p:nvPr/>
        </p:nvSpPr>
        <p:spPr>
          <a:xfrm>
            <a:off x="10768584" y="370904"/>
            <a:ext cx="941832" cy="978408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C39AC8-D621-3424-649F-75BAB6F8B971}"/>
              </a:ext>
            </a:extLst>
          </p:cNvPr>
          <p:cNvSpPr/>
          <p:nvPr/>
        </p:nvSpPr>
        <p:spPr>
          <a:xfrm>
            <a:off x="9921240" y="685800"/>
            <a:ext cx="283464" cy="2651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4735FA-E7F4-BAE5-844C-287FBA614FD0}"/>
              </a:ext>
            </a:extLst>
          </p:cNvPr>
          <p:cNvSpPr/>
          <p:nvPr/>
        </p:nvSpPr>
        <p:spPr>
          <a:xfrm>
            <a:off x="9779508" y="1045591"/>
            <a:ext cx="283464" cy="2651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03771E-33E0-B9CC-C42D-A6AE3E79CC1D}"/>
              </a:ext>
            </a:extLst>
          </p:cNvPr>
          <p:cNvSpPr/>
          <p:nvPr/>
        </p:nvSpPr>
        <p:spPr>
          <a:xfrm>
            <a:off x="9476232" y="759810"/>
            <a:ext cx="283464" cy="26517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1CBD92-F2CC-E9A5-698D-F36D85C5F7C3}"/>
              </a:ext>
            </a:extLst>
          </p:cNvPr>
          <p:cNvSpPr/>
          <p:nvPr/>
        </p:nvSpPr>
        <p:spPr>
          <a:xfrm>
            <a:off x="10908792" y="725424"/>
            <a:ext cx="283464" cy="26517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highlight>
                <a:srgbClr val="FF0000"/>
              </a:highligh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902310A-588B-F474-21B6-D34B083DB03E}"/>
              </a:ext>
            </a:extLst>
          </p:cNvPr>
          <p:cNvSpPr/>
          <p:nvPr/>
        </p:nvSpPr>
        <p:spPr>
          <a:xfrm>
            <a:off x="11288268" y="713486"/>
            <a:ext cx="283464" cy="2651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A7579-792F-B7FA-7FD2-A6858B0926E9}"/>
              </a:ext>
            </a:extLst>
          </p:cNvPr>
          <p:cNvSpPr txBox="1"/>
          <p:nvPr/>
        </p:nvSpPr>
        <p:spPr>
          <a:xfrm>
            <a:off x="11084052" y="-14128"/>
            <a:ext cx="46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5BC260-21D9-225E-2EFE-326AF10D100E}"/>
              </a:ext>
            </a:extLst>
          </p:cNvPr>
          <p:cNvSpPr txBox="1"/>
          <p:nvPr/>
        </p:nvSpPr>
        <p:spPr>
          <a:xfrm>
            <a:off x="9654540" y="-5607"/>
            <a:ext cx="445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9821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52816-E794-CC8D-DDBF-7C72D478C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BB71D-A3A1-F925-29A0-50E9B0710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01" y="224028"/>
            <a:ext cx="7729728" cy="1188720"/>
          </a:xfrm>
        </p:spPr>
        <p:txBody>
          <a:bodyPr/>
          <a:lstStyle/>
          <a:p>
            <a:r>
              <a:rPr lang="en-US" dirty="0"/>
              <a:t>Let’s practice Bayes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6DC1B6-8652-7170-2BB1-37BDE09B44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42416" y="1555686"/>
                <a:ext cx="10515600" cy="489912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Event A: choosing vessel 1</a:t>
                </a:r>
              </a:p>
              <a:p>
                <a:r>
                  <a:rPr lang="en-US" dirty="0"/>
                  <a:t>Event B: choosing a red ball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P(A) = 0.5</a:t>
                </a:r>
              </a:p>
              <a:p>
                <a:r>
                  <a:rPr lang="en-US" dirty="0"/>
                  <a:t>P(B|A) = 0.5</a:t>
                </a:r>
              </a:p>
              <a:p>
                <a:r>
                  <a:rPr lang="en-US" dirty="0"/>
                  <a:t>Total law probability: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⋂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⋂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0.5∗0.5</m:t>
                        </m:r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b="0" dirty="0"/>
                  <a:t> </a:t>
                </a: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6DC1B6-8652-7170-2BB1-37BDE09B44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42416" y="1555686"/>
                <a:ext cx="10515600" cy="4899120"/>
              </a:xfrm>
              <a:blipFill>
                <a:blip r:embed="rId2"/>
                <a:stretch>
                  <a:fillRect l="-348" t="-622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ylinder 3">
            <a:extLst>
              <a:ext uri="{FF2B5EF4-FFF2-40B4-BE49-F238E27FC236}">
                <a16:creationId xmlns:a16="http://schemas.microsoft.com/office/drawing/2014/main" id="{1ADE7F4B-CA54-6DE6-473A-F15BDBC416E1}"/>
              </a:ext>
            </a:extLst>
          </p:cNvPr>
          <p:cNvSpPr/>
          <p:nvPr/>
        </p:nvSpPr>
        <p:spPr>
          <a:xfrm>
            <a:off x="9363456" y="403194"/>
            <a:ext cx="941832" cy="978408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364CB928-35C7-1A5E-FA1B-09397087E478}"/>
              </a:ext>
            </a:extLst>
          </p:cNvPr>
          <p:cNvSpPr/>
          <p:nvPr/>
        </p:nvSpPr>
        <p:spPr>
          <a:xfrm>
            <a:off x="10768584" y="370904"/>
            <a:ext cx="941832" cy="978408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54DE56-2E3A-17BC-94AC-AE5CE6965C62}"/>
              </a:ext>
            </a:extLst>
          </p:cNvPr>
          <p:cNvSpPr/>
          <p:nvPr/>
        </p:nvSpPr>
        <p:spPr>
          <a:xfrm>
            <a:off x="9921240" y="685800"/>
            <a:ext cx="283464" cy="2651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49C9F5-1ED9-9275-231D-5827D46424F6}"/>
              </a:ext>
            </a:extLst>
          </p:cNvPr>
          <p:cNvSpPr/>
          <p:nvPr/>
        </p:nvSpPr>
        <p:spPr>
          <a:xfrm>
            <a:off x="9779508" y="1045591"/>
            <a:ext cx="283464" cy="2651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2A4A79-E8EC-84CF-2801-35E42D922507}"/>
              </a:ext>
            </a:extLst>
          </p:cNvPr>
          <p:cNvSpPr/>
          <p:nvPr/>
        </p:nvSpPr>
        <p:spPr>
          <a:xfrm>
            <a:off x="9476232" y="759810"/>
            <a:ext cx="283464" cy="26517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8BDBF9-455C-8C7B-9FCE-4DC8E726185F}"/>
              </a:ext>
            </a:extLst>
          </p:cNvPr>
          <p:cNvSpPr/>
          <p:nvPr/>
        </p:nvSpPr>
        <p:spPr>
          <a:xfrm>
            <a:off x="10908792" y="725424"/>
            <a:ext cx="283464" cy="26517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dirty="0">
              <a:highlight>
                <a:srgbClr val="FF0000"/>
              </a:highligh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3E17E5-EB2C-BDB4-7720-624C11D2C5FF}"/>
              </a:ext>
            </a:extLst>
          </p:cNvPr>
          <p:cNvSpPr/>
          <p:nvPr/>
        </p:nvSpPr>
        <p:spPr>
          <a:xfrm>
            <a:off x="11288268" y="713486"/>
            <a:ext cx="283464" cy="26517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8F2CA5-29CF-D69B-1842-FE726CCED9A2}"/>
              </a:ext>
            </a:extLst>
          </p:cNvPr>
          <p:cNvSpPr txBox="1"/>
          <p:nvPr/>
        </p:nvSpPr>
        <p:spPr>
          <a:xfrm>
            <a:off x="11084052" y="-14128"/>
            <a:ext cx="460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91A9F-038C-D47D-C5C1-2F717F1094DD}"/>
              </a:ext>
            </a:extLst>
          </p:cNvPr>
          <p:cNvSpPr txBox="1"/>
          <p:nvPr/>
        </p:nvSpPr>
        <p:spPr>
          <a:xfrm>
            <a:off x="9654540" y="-5607"/>
            <a:ext cx="445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B89E2A4-43A3-1183-065B-AFEBA73CC155}"/>
                  </a:ext>
                </a:extLst>
              </p:cNvPr>
              <p:cNvSpPr/>
              <p:nvPr/>
            </p:nvSpPr>
            <p:spPr>
              <a:xfrm>
                <a:off x="7576457" y="2127380"/>
                <a:ext cx="1390261" cy="1026367"/>
              </a:xfrm>
              <a:prstGeom prst="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IL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B89E2A4-43A3-1183-065B-AFEBA73CC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6457" y="2127380"/>
                <a:ext cx="1390261" cy="10263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48780B2-9A60-8A1F-5D95-314AB336CEF4}"/>
                  </a:ext>
                </a:extLst>
              </p:cNvPr>
              <p:cNvSpPr/>
              <p:nvPr/>
            </p:nvSpPr>
            <p:spPr>
              <a:xfrm>
                <a:off x="8966718" y="2127380"/>
                <a:ext cx="1390261" cy="1026367"/>
              </a:xfrm>
              <a:prstGeom prst="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p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48780B2-9A60-8A1F-5D95-314AB336CE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718" y="2127380"/>
                <a:ext cx="1390261" cy="10263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679E7D94-D524-860C-BE2B-AB115C6EFB74}"/>
              </a:ext>
            </a:extLst>
          </p:cNvPr>
          <p:cNvSpPr txBox="1"/>
          <p:nvPr/>
        </p:nvSpPr>
        <p:spPr>
          <a:xfrm>
            <a:off x="8691842" y="1017210"/>
            <a:ext cx="463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</a:t>
            </a:r>
            <a:endParaRPr lang="en-IL" sz="3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F5C1E8-F0AB-4520-ED00-7447F6050C17}"/>
              </a:ext>
            </a:extLst>
          </p:cNvPr>
          <p:cNvCxnSpPr>
            <a:cxnSpLocks/>
          </p:cNvCxnSpPr>
          <p:nvPr/>
        </p:nvCxnSpPr>
        <p:spPr>
          <a:xfrm>
            <a:off x="8923636" y="1636931"/>
            <a:ext cx="0" cy="397142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96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FD1C-E00C-0AEE-CFAC-F17CCA59E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2E6B-3134-DE9C-3B25-DD62B075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Formula with data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559E0-5A8F-1D91-42DB-2215300CD2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We wish to infer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given the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the baseball 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is the player betting average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the number of batting hits out of 10: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Thus, we wish to answer: 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i="0" dirty="0"/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- Likelihood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- Prior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Evidence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en-US" dirty="0"/>
                  <a:t> - </a:t>
                </a:r>
                <a:r>
                  <a:rPr lang="en-US" b="1" dirty="0"/>
                  <a:t>Posterior</a:t>
                </a:r>
                <a:endParaRPr lang="en-IL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5559E0-5A8F-1D91-42DB-2215300CD2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94" t="-2358" b="-2358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219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E8BB-77BD-447D-BD3E-6EF5C07F4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- Geometric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C34F2-5EBA-0DCD-02E7-B5AE3A332A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algn="r" rtl="1"/>
                <a:r>
                  <a:rPr lang="he-IL" dirty="0"/>
                  <a:t>בקורס הכנה לפסיכומטרי נשאלים התלמידים שאלות הכנה על ידי המדריך על מנת להכין אותם לבחינה. (נלקח מהרצאה של שני אלקובי).</a:t>
                </a:r>
                <a:endParaRPr lang="en-US" dirty="0"/>
              </a:p>
              <a:p>
                <a:pPr algn="r" rtl="1"/>
                <a:r>
                  <a:rPr lang="he-IL" dirty="0"/>
                  <a:t>הסיכוי ששאלה שניתנה לתלמידים תגרום להם להיות מוכנים לגמרי הוא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dirty="0"/>
                  <a:t>. ברגע שהתלמידים יהיו מוכנים המדריך ישיג את מטרתו ויפסיק לשאול.</a:t>
                </a:r>
                <a:endParaRPr lang="en-US" dirty="0"/>
              </a:p>
              <a:p>
                <a:pPr marL="0" indent="0" algn="r" rtl="1">
                  <a:buNone/>
                </a:pPr>
                <a:r>
                  <a:rPr lang="he-IL" dirty="0"/>
                  <a:t>האם מדובר בהתפלגות מוכרת? אם כן, מהי?</a:t>
                </a:r>
              </a:p>
              <a:p>
                <a:pPr marL="457200" lvl="1" indent="0" algn="r" rtl="1">
                  <a:buNone/>
                </a:pPr>
                <a:r>
                  <a:rPr lang="he-IL" dirty="0">
                    <a:solidFill>
                      <a:srgbClr val="FF0000"/>
                    </a:solidFill>
                  </a:rPr>
                  <a:t>פתרון:</a:t>
                </a:r>
              </a:p>
              <a:p>
                <a:pPr marL="457200" lvl="1" indent="0" algn="r" rtl="1">
                  <a:buNone/>
                </a:pPr>
                <a:r>
                  <a:rPr lang="he-IL" dirty="0"/>
                  <a:t>כיוון שמספר הניסויים אינו ידוע, הסיכוי להצלחה קבוע, והמדריך ימשיך לנסות עד שיצליח להכין אותם לבחינה ואז יפסיק, אנחנו מבינים שמדובר על התפלגות גיאומטרית. נסמן זאת באופן הבא:</a:t>
                </a:r>
              </a:p>
              <a:p>
                <a:pPr marL="457200" lvl="1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he-IL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57200" lvl="1" indent="0" algn="r" rtl="1">
                  <a:buNone/>
                </a:pPr>
                <a:r>
                  <a:rPr lang="he-IL" dirty="0"/>
                  <a:t>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he-IL" dirty="0"/>
                  <a:t> הוא מספר הניסיונות עד וכולל ההצלחה הראשונה</a:t>
                </a:r>
                <a:r>
                  <a:rPr lang="en-US" dirty="0"/>
                  <a:t> </a:t>
                </a:r>
                <a:r>
                  <a:rPr lang="he-IL" dirty="0"/>
                  <a:t> ו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dirty="0"/>
                  <a:t> הוא הסיכוי להצלחה בכל פעם.</a:t>
                </a:r>
              </a:p>
              <a:p>
                <a:pPr algn="r" rtl="1"/>
                <a:endParaRPr lang="en-US" dirty="0"/>
              </a:p>
              <a:p>
                <a:pPr algn="r" rtl="1"/>
                <a:endParaRPr lang="he-IL" dirty="0"/>
              </a:p>
              <a:p>
                <a:pPr algn="r" rtl="1"/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4C34F2-5EBA-0DCD-02E7-B5AE3A332A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72" r="-47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94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C3C18-98C5-E294-D3D7-E16BB2CC8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- Geometric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5A6335-61AE-ED1F-E567-73EF002993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 algn="r" rtl="1">
                  <a:buNone/>
                </a:pPr>
                <a:r>
                  <a:rPr lang="he-IL" dirty="0"/>
                  <a:t>המדריך ביצע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/>
                  <a:t> מדגמים כאלו, רשמו את פונקציית התפלגות המדגם על פי הפרמטר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dirty="0"/>
                  <a:t>.</a:t>
                </a:r>
              </a:p>
              <a:p>
                <a:pPr marL="457200" lvl="1" indent="0" algn="r" rtl="1">
                  <a:buNone/>
                </a:pPr>
                <a:r>
                  <a:rPr lang="he-IL" dirty="0">
                    <a:solidFill>
                      <a:srgbClr val="FF0000"/>
                    </a:solidFill>
                  </a:rPr>
                  <a:t>פתרון:</a:t>
                </a:r>
              </a:p>
              <a:p>
                <a:pPr marL="457200" lvl="1" indent="0" algn="r" rtl="1">
                  <a:buNone/>
                </a:pPr>
                <a:r>
                  <a:rPr lang="he-IL" dirty="0">
                    <a:solidFill>
                      <a:schemeClr val="tx1"/>
                    </a:solidFill>
                  </a:rPr>
                  <a:t>פונקציית ההסתברות הרגילה של ההתפלגות הגיאומטרית היא: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457200" lvl="1" indent="0" algn="ctr" rtl="1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he-IL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pPr marL="457200" lvl="1" indent="0" algn="r" rtl="1">
                  <a:buNone/>
                </a:pPr>
                <a:r>
                  <a:rPr lang="he-IL" b="1" u="sng" dirty="0">
                    <a:solidFill>
                      <a:schemeClr val="tx1"/>
                    </a:solidFill>
                  </a:rPr>
                  <a:t>אבל</a:t>
                </a:r>
                <a:r>
                  <a:rPr lang="he-IL" dirty="0">
                    <a:solidFill>
                      <a:schemeClr val="tx1"/>
                    </a:solidFill>
                  </a:rPr>
                  <a:t> פונקציה זו מתאימה למדגם יחיד, במקרה של מספר </a:t>
                </a:r>
                <a:r>
                  <a:rPr lang="he-IL" dirty="0"/>
                  <a:t>מדגמים</a:t>
                </a:r>
                <a:r>
                  <a:rPr lang="he-IL" dirty="0">
                    <a:solidFill>
                      <a:schemeClr val="tx1"/>
                    </a:solidFill>
                  </a:rPr>
                  <a:t> שאינם תלויים זה בזה, פונקציית התפלגות המדגם היא תוצאה של מכפלת פונקציות ההסתברות של המדגמים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he-IL" dirty="0">
                    <a:solidFill>
                      <a:schemeClr val="tx1"/>
                    </a:solidFill>
                  </a:rPr>
                  <a:t>כתלות בתוצאות המדגמים, ולכן:</a:t>
                </a:r>
              </a:p>
              <a:p>
                <a:pPr marL="457200" lvl="1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∙… ∙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he-IL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457200" lvl="1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he-IL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−1+…+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sup>
                      </m:sSup>
                    </m:oMath>
                  </m:oMathPara>
                </a14:m>
                <a:endParaRPr lang="he-IL" dirty="0">
                  <a:solidFill>
                    <a:schemeClr val="tx1"/>
                  </a:solidFill>
                </a:endParaRPr>
              </a:p>
              <a:p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95A6335-61AE-ED1F-E567-73EF002993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52" t="-1572" r="-473" b="-5501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934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2F1DB-1709-4711-A78C-D565E28EF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EFDAD-9A69-45E5-509D-8E96DC0BD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- Binomial 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47115-71F5-DF57-B7A7-590D78D304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r" rtl="1">
                  <a:buNone/>
                </a:pPr>
                <a:r>
                  <a:rPr lang="he-IL" dirty="0"/>
                  <a:t>סטף קרי זורק לסל וקולע בהסתברות </a:t>
                </a:r>
                <a:r>
                  <a:rPr lang="en-US" dirty="0"/>
                  <a:t>p</a:t>
                </a:r>
                <a:r>
                  <a:rPr lang="he-IL" dirty="0"/>
                  <a:t>, נניח כי הוא זורק לסל </a:t>
                </a:r>
                <a:r>
                  <a:rPr lang="en-US" dirty="0"/>
                  <a:t>n</a:t>
                </a:r>
                <a:r>
                  <a:rPr lang="he-IL" dirty="0"/>
                  <a:t> פעמים. </a:t>
                </a:r>
                <a:r>
                  <a:rPr lang="en-US" dirty="0"/>
                  <a:t>X</a:t>
                </a:r>
                <a:r>
                  <a:rPr lang="he-IL" dirty="0"/>
                  <a:t> – משתנה מקרי המתאר את מספר הקליעות.</a:t>
                </a:r>
                <a:br>
                  <a:rPr lang="en-US" dirty="0"/>
                </a:br>
                <a:endParaRPr lang="he-IL" dirty="0"/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r" rtl="1">
                  <a:buNone/>
                </a:pPr>
                <a:endParaRPr lang="he-IL" dirty="0"/>
              </a:p>
              <a:p>
                <a:pPr marL="457200" lvl="1" indent="0" algn="r" rtl="1">
                  <a:buNone/>
                </a:pPr>
                <a:r>
                  <a:rPr lang="he-IL" dirty="0">
                    <a:solidFill>
                      <a:schemeClr val="tx1"/>
                    </a:solidFill>
                  </a:rPr>
                  <a:t>פונקציית ההסתברות הרגילה של ההתפלגות הבינומית היא: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457200" lvl="1" indent="0" algn="ct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457200" lvl="1" indent="0" algn="r" rtl="1">
                  <a:buNone/>
                </a:pPr>
                <a:endParaRPr lang="en-US" u="sng" dirty="0"/>
              </a:p>
              <a:p>
                <a:pPr marL="0" indent="0" algn="r" rtl="1">
                  <a:buNone/>
                </a:pPr>
                <a:r>
                  <a:rPr lang="he-IL" sz="2400" dirty="0"/>
                  <a:t>נשים לב שכיוון שמדובר על מקרה כללית אין לנו כאן תוצאות מדגם שנוכל להציב ולכן פונקציית הנראות שווה לפונקציית התפלגות המדגם ונוכל לומר ש: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sSup>
                        <m:sSupPr>
                          <m:ctrlPr>
                            <a:rPr lang="en-US" sz="2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5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47115-71F5-DF57-B7A7-590D78D304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768" r="-71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5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A058-5F76-9400-E2E6-C07D540A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F6E0-97A5-B411-6C51-4EC322F5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– Baseball example 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54844-219F-EC41-07D5-BA45161364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 algn="r" rtl="1">
                  <a:buNone/>
                </a:pPr>
                <a:r>
                  <a:rPr lang="he-IL" dirty="0"/>
                  <a:t>יש לנו 8 הצלחות חבטה מתוך 10.</a:t>
                </a:r>
                <a:br>
                  <a:rPr lang="en-US" dirty="0"/>
                </a:br>
                <a:endParaRPr lang="he-IL" dirty="0"/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 algn="r" rtl="1">
                  <a:buNone/>
                </a:pPr>
                <a:endParaRPr lang="he-IL" dirty="0"/>
              </a:p>
              <a:p>
                <a:pPr marL="457200" lvl="1" indent="0" algn="r" rtl="1">
                  <a:buNone/>
                </a:pPr>
                <a:r>
                  <a:rPr lang="he-IL" dirty="0">
                    <a:solidFill>
                      <a:schemeClr val="tx1"/>
                    </a:solidFill>
                  </a:rPr>
                  <a:t>פונקציית ההסתברות הרגילה של ההתפלגות </a:t>
                </a:r>
                <a:r>
                  <a:rPr lang="he-IL" dirty="0"/>
                  <a:t>בינומית</a:t>
                </a:r>
                <a:r>
                  <a:rPr lang="he-IL" dirty="0">
                    <a:solidFill>
                      <a:schemeClr val="tx1"/>
                    </a:solidFill>
                  </a:rPr>
                  <a:t> היא: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457200" lvl="1" indent="0" algn="ct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457200" lvl="1" indent="0" algn="r" rtl="1">
                  <a:buNone/>
                </a:pPr>
                <a:endParaRPr lang="en-US" u="sng" dirty="0"/>
              </a:p>
              <a:p>
                <a:pPr marL="0" indent="0" algn="r" rtl="1">
                  <a:buNone/>
                </a:pPr>
                <a:r>
                  <a:rPr lang="he-IL" sz="2400" dirty="0"/>
                  <a:t>לכן פונקציית נראות היא:</a:t>
                </a:r>
              </a:p>
              <a:p>
                <a:pPr marL="0" indent="0" algn="r" rtl="1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5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5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US" sz="25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5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p>
                      </m:sSup>
                    </m:oMath>
                  </m:oMathPara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254844-219F-EC41-07D5-BA45161364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768" r="-71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568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E649E-F9E1-1208-B345-1B22FB94A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EB1AA-BB13-128C-10A7-FC8DECA4A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F83D3-DEC6-A80F-24AD-7E99D35B6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64725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en-US" sz="7200" dirty="0"/>
              <a:t>Represents our initial belief about a parameter before</a:t>
            </a:r>
          </a:p>
          <a:p>
            <a:endParaRPr lang="en-US" sz="7200" b="1" dirty="0"/>
          </a:p>
          <a:p>
            <a:r>
              <a:rPr lang="en-US" sz="7200" b="1" dirty="0"/>
              <a:t>Uninformative (Non-Informative) Priors</a:t>
            </a:r>
            <a:endParaRPr lang="en-US" sz="7200" dirty="0"/>
          </a:p>
          <a:p>
            <a:pPr lvl="1"/>
            <a:r>
              <a:rPr lang="en-US" sz="7200" dirty="0"/>
              <a:t>Used when we have little prior knowledge.</a:t>
            </a:r>
          </a:p>
          <a:p>
            <a:pPr lvl="1"/>
            <a:r>
              <a:rPr lang="en-US" sz="7200" dirty="0"/>
              <a:t>Example: A </a:t>
            </a:r>
            <a:r>
              <a:rPr lang="en-US" sz="7200" b="1" dirty="0"/>
              <a:t>Uniform(0,1)</a:t>
            </a:r>
            <a:r>
              <a:rPr lang="en-US" sz="7200" dirty="0"/>
              <a:t> prior for a probability parameter expresses complete ignorance.</a:t>
            </a:r>
          </a:p>
          <a:p>
            <a:r>
              <a:rPr lang="en-US" sz="7200" b="1" dirty="0"/>
              <a:t>Conjugate Priors</a:t>
            </a:r>
            <a:endParaRPr lang="en-US" sz="7200" dirty="0"/>
          </a:p>
          <a:p>
            <a:pPr lvl="1"/>
            <a:r>
              <a:rPr lang="en-US" sz="7200" dirty="0"/>
              <a:t>A prior is conjugate if the </a:t>
            </a:r>
            <a:r>
              <a:rPr lang="en-US" sz="7200" b="1" dirty="0"/>
              <a:t>posterior</a:t>
            </a:r>
            <a:r>
              <a:rPr lang="en-US" sz="7200" dirty="0"/>
              <a:t> belongs to the same family as the prior.</a:t>
            </a:r>
          </a:p>
          <a:p>
            <a:pPr lvl="1"/>
            <a:r>
              <a:rPr lang="en-US" sz="7200" dirty="0"/>
              <a:t>Example: If the likelihood is </a:t>
            </a:r>
            <a:r>
              <a:rPr lang="en-US" sz="7200" b="1" dirty="0"/>
              <a:t>Binomial</a:t>
            </a:r>
            <a:r>
              <a:rPr lang="en-US" sz="7200" dirty="0"/>
              <a:t>, the </a:t>
            </a:r>
            <a:r>
              <a:rPr lang="en-US" sz="7200" b="1" dirty="0"/>
              <a:t>Beta distribution</a:t>
            </a:r>
            <a:r>
              <a:rPr lang="en-US" sz="7200" dirty="0"/>
              <a:t> is a conjugate prior.</a:t>
            </a:r>
          </a:p>
          <a:p>
            <a:pPr algn="l"/>
            <a:r>
              <a:rPr lang="en-US" sz="7200" b="1" dirty="0"/>
              <a:t>Informative Priors: </a:t>
            </a:r>
          </a:p>
          <a:p>
            <a:pPr lvl="1"/>
            <a:r>
              <a:rPr lang="en-US" sz="7200" dirty="0"/>
              <a:t>Used when we have prior knowledge about the parameter.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										</a:t>
            </a:r>
          </a:p>
        </p:txBody>
      </p:sp>
    </p:spTree>
    <p:extLst>
      <p:ext uri="{BB962C8B-B14F-4D97-AF65-F5344CB8AC3E}">
        <p14:creationId xmlns:p14="http://schemas.microsoft.com/office/powerpoint/2010/main" val="2953418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4D7B-E227-542E-1391-EF8938C51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B4569-6C67-67D3-2051-4A4D3DBBB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Informative priors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1CBFE-FF7D-A84D-BEC4-C86755D25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batting average, we wish to use a distributions that is between 0 to 1. </a:t>
            </a:r>
          </a:p>
          <a:p>
            <a:r>
              <a:rPr lang="en-US" dirty="0"/>
              <a:t>We use Beta distribution:</a:t>
            </a:r>
            <a:br>
              <a:rPr lang="en-US" dirty="0"/>
            </a:br>
            <a:endParaRPr lang="en-IL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C5DB400-5950-F05A-CB62-020E320E69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3372711"/>
              </p:ext>
            </p:extLst>
          </p:nvPr>
        </p:nvGraphicFramePr>
        <p:xfrm>
          <a:off x="3630613" y="3611880"/>
          <a:ext cx="4572000" cy="2523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4571941" imgH="2285764" progId="Acrobat.Document.DC">
                  <p:embed/>
                </p:oleObj>
              </mc:Choice>
              <mc:Fallback>
                <p:oleObj name="Acrobat Document" r:id="rId2" imgW="4571941" imgH="2285764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30613" y="3611880"/>
                        <a:ext cx="4572000" cy="25238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003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F507-E196-0C27-8B28-AFBCF943C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CD9DC-E4BE-C37B-41B3-8EE0ACF0B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363" y="0"/>
            <a:ext cx="10515600" cy="1325563"/>
          </a:xfrm>
        </p:spPr>
        <p:txBody>
          <a:bodyPr/>
          <a:lstStyle/>
          <a:p>
            <a:r>
              <a:rPr lang="en-US" dirty="0"/>
              <a:t>Beta distribution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9AD54B-A78F-2362-57BF-E2106DAC5A8F}"/>
                  </a:ext>
                </a:extLst>
              </p:cNvPr>
              <p:cNvSpPr txBox="1"/>
              <p:nvPr/>
            </p:nvSpPr>
            <p:spPr>
              <a:xfrm>
                <a:off x="947057" y="1574116"/>
                <a:ext cx="159087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𝐵𝑒𝑡𝑎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9AD54B-A78F-2362-57BF-E2106DAC5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57" y="1574116"/>
                <a:ext cx="1590870" cy="276999"/>
              </a:xfrm>
              <a:prstGeom prst="rect">
                <a:avLst/>
              </a:prstGeom>
              <a:blipFill>
                <a:blip r:embed="rId2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A984A711-168B-EC32-7D95-EB4FD828A9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776" y="1436686"/>
            <a:ext cx="6134415" cy="48834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B35AEF-DF2F-022A-D4FE-3A0D8859CA33}"/>
                  </a:ext>
                </a:extLst>
              </p:cNvPr>
              <p:cNvSpPr txBox="1"/>
              <p:nvPr/>
            </p:nvSpPr>
            <p:spPr>
              <a:xfrm>
                <a:off x="881743" y="2099668"/>
                <a:ext cx="1590870" cy="5209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0B35AEF-DF2F-022A-D4FE-3A0D8859C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43" y="2099668"/>
                <a:ext cx="1590870" cy="5209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210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A8758-6B47-9EE7-40DF-191E751DF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3DE9-7837-1E54-15CD-A86F063B4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Beta prior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6CE87-A57A-487F-3F84-5D7F3DF8E3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In order to achieve the prior of baseball batting average, we require: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=81,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=219. 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If we return the Bayes formula: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i="0" dirty="0"/>
                          <m:t> 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I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66CE87-A57A-487F-3F84-5D7F3DF8E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3" t="-1179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725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7B731-14B9-3753-0C95-6CFFADF9E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BDF6B-3D5D-0D8D-E54A-76460EFD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</a:t>
            </a:r>
            <a:endParaRPr lang="en-IL" dirty="0"/>
          </a:p>
        </p:txBody>
      </p:sp>
      <p:pic>
        <p:nvPicPr>
          <p:cNvPr id="5" name="Content Placeholder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F2DA439-5905-1FFF-4F25-7FC770E4D0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00" y="3329734"/>
            <a:ext cx="9078724" cy="237302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403A4F-0756-8B68-6B56-3C297FAFCBF3}"/>
              </a:ext>
            </a:extLst>
          </p:cNvPr>
          <p:cNvSpPr txBox="1"/>
          <p:nvPr/>
        </p:nvSpPr>
        <p:spPr>
          <a:xfrm>
            <a:off x="1052000" y="2653215"/>
            <a:ext cx="3779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We’ll use the total law of probability: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32523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9982-FC33-B17D-E9FF-426BBB01C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E476B-68E7-A151-1AE2-EDF063309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 – Baseball example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B0F819-04FD-F3D8-094D-DACC4C8F8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⋉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Or: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Let rearrange: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Since we know that the structure of the Beta distribution is: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𝐵𝑒𝑡𝑎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 b="0" dirty="0"/>
                  <a:t>, then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I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B0F819-04FD-F3D8-094D-DACC4C8F8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37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351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BAB7F-537C-7D3C-9421-C133AA891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45F5-0113-4B63-7A17-DD5EB739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Posterior</a:t>
            </a:r>
            <a:endParaRPr lang="en-I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946FD-7A60-4388-3EE9-4A5AB66E37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2000" dirty="0"/>
              </a:p>
              <a:p>
                <a:r>
                  <a:rPr lang="en-US" sz="2000" dirty="0"/>
                  <a:t>In other words: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𝐵𝑒𝑡𝑎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In this case, we were able to obtain the posterior distribution, analytically. This is almost never the case!</a:t>
                </a:r>
              </a:p>
              <a:p>
                <a:r>
                  <a:rPr lang="en-US" sz="2000" dirty="0"/>
                  <a:t>What happens if it not? This is what the course is all about…</a:t>
                </a:r>
              </a:p>
              <a:p>
                <a:r>
                  <a:rPr lang="en-US" sz="2000" dirty="0"/>
                  <a:t>Let’s analyze the posterior distribution, and what it means.</a:t>
                </a:r>
              </a:p>
              <a:p>
                <a:r>
                  <a:rPr lang="en-US" sz="2000" dirty="0"/>
                  <a:t>Notice – the posterior is a distribution not a single value! </a:t>
                </a:r>
              </a:p>
              <a:p>
                <a:r>
                  <a:rPr lang="en-US" sz="2000" dirty="0"/>
                  <a:t>Hands on- moving to </a:t>
                </a:r>
                <a:r>
                  <a:rPr lang="en-US" sz="2000" dirty="0" err="1"/>
                  <a:t>Jupyter</a:t>
                </a:r>
                <a:r>
                  <a:rPr lang="en-US" sz="2000" dirty="0"/>
                  <a:t> lab. </a:t>
                </a:r>
                <a:endParaRPr lang="en-IL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2946FD-7A60-4388-3EE9-4A5AB66E3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10" b="-30845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6125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A3F6-2DA9-7309-46FC-A05CD19E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43AF8-4D57-9C88-1570-93B39FA21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posterior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AD39-47F7-6588-4E72-3645312F55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posterior is a set of belief where the true parameter is.</a:t>
            </a:r>
          </a:p>
          <a:p>
            <a:r>
              <a:rPr lang="en-US" sz="2000" dirty="0"/>
              <a:t>When observing the posterior, we wish to look for several things:</a:t>
            </a:r>
          </a:p>
          <a:p>
            <a:pPr lvl="1"/>
            <a:r>
              <a:rPr lang="en-US" sz="2000" dirty="0"/>
              <a:t>The support: the feasible values</a:t>
            </a:r>
          </a:p>
          <a:p>
            <a:pPr lvl="1"/>
            <a:r>
              <a:rPr lang="en-US" sz="2000" dirty="0"/>
              <a:t>The variance of the distribution – to see how certain we are</a:t>
            </a:r>
          </a:p>
          <a:p>
            <a:pPr lvl="1"/>
            <a:r>
              <a:rPr lang="en-US" sz="2000" dirty="0"/>
              <a:t>The mode of the distribution – to see what it the most likely values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2079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7719-76FB-87FE-0F7D-B4331F0A0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98B0C-984F-3E00-2291-1D12F270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Posterior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CC391-253A-C05A-D1ED-C2AB3FE67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In the baseball example, we knew the distribution of the Posterior.</a:t>
            </a:r>
          </a:p>
          <a:p>
            <a:r>
              <a:rPr lang="en-US" sz="2400" dirty="0"/>
              <a:t> We could identify it as Beta distribution</a:t>
            </a:r>
          </a:p>
          <a:p>
            <a:r>
              <a:rPr lang="en-US" sz="2400" dirty="0"/>
              <a:t>What happens if this is not the case??</a:t>
            </a:r>
          </a:p>
          <a:p>
            <a:r>
              <a:rPr lang="en-US" sz="2400" dirty="0"/>
              <a:t>We try a new approach - sampling from the posterior</a:t>
            </a:r>
          </a:p>
          <a:p>
            <a:r>
              <a:rPr lang="en-US" sz="2400" dirty="0"/>
              <a:t>Before we show how it is done, let's see how sampling can get us closer to the distribution.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281583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5C057-1D3B-17CB-A221-9D5A3BE8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ystem-ui"/>
              </a:rPr>
              <a:t>HDI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0F6B5-38AA-997B-CAE0-71CEC5900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sz="2400" b="0" i="0" dirty="0">
                <a:effectLst/>
                <a:latin typeface="system-ui"/>
              </a:rPr>
              <a:t>HDI is: Highest Density Interval. This is also considered as the suggested credible interval.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Credible intervals capture our current uncertainty in the location of the parameter values and thus can be interpreted as probabilistic statement about the parameter.</a:t>
            </a:r>
          </a:p>
          <a:p>
            <a:pPr algn="l"/>
            <a:r>
              <a:rPr lang="en-US" sz="2400" b="0" i="0" dirty="0">
                <a:effectLst/>
                <a:latin typeface="system-ui"/>
              </a:rPr>
              <a:t>In contrast, confidence intervals (the frequentist approach) capture the uncertainty about the interval we have obtained (i.e., whether it contains the true value or not). Thus, they cannot be interpreted as a probabilistic statement about the true parameter values.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2776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F9D2-D298-65DE-A75F-B9216A86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problem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00BF-D472-AE7C-5EDC-425AFC2EA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some data x and you are trying to estimate θ. </a:t>
            </a:r>
          </a:p>
          <a:p>
            <a:r>
              <a:rPr lang="en-US" dirty="0"/>
              <a:t>You have a data generating process that describes how x is generated conditional on θ. </a:t>
            </a:r>
          </a:p>
          <a:p>
            <a:r>
              <a:rPr lang="en-US" dirty="0"/>
              <a:t>Your inference problem is: What values of θ are reasonable given the observed data x?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3041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21753-7F12-A151-D1A5-416F3DD79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Frequentist – confidence interval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F86D-6572-AC01-C30F-003F24F85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In this approach, you assume that there is true, fixed value of θ.</a:t>
            </a:r>
          </a:p>
          <a:p>
            <a:r>
              <a:rPr lang="en-US" sz="2400" dirty="0"/>
              <a:t>Given this assumption, you use the data x to get to an estimate of θ.</a:t>
            </a:r>
          </a:p>
          <a:p>
            <a:r>
              <a:rPr lang="en-US" sz="2400" dirty="0"/>
              <a:t>Notice that under this approach the true value is not a random variable. </a:t>
            </a:r>
          </a:p>
          <a:p>
            <a:r>
              <a:rPr lang="en-US" sz="2400" dirty="0"/>
              <a:t>It is a fixed but unknown quantity. </a:t>
            </a:r>
          </a:p>
          <a:p>
            <a:r>
              <a:rPr lang="en-US" sz="2400" dirty="0"/>
              <a:t>In contrast, your estimate is a random variable as it depends on your data x.</a:t>
            </a:r>
          </a:p>
          <a:p>
            <a:r>
              <a:rPr lang="en-US" sz="2400" dirty="0"/>
              <a:t>you realize that you get different estimates each time you repeat your study.</a:t>
            </a:r>
          </a:p>
          <a:p>
            <a:r>
              <a:rPr lang="en-US" sz="2400" dirty="0"/>
              <a:t>In this paradigm, it is meaningless to speak about the probability that a true value is less than or greater than some value as the true value is not a random variable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59028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2782A-3E67-79CA-7112-FD9610FBB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Bayesian - Credible Intervals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2E598-6665-D64E-7694-44895DD35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assume that the true value is a random variable.</a:t>
            </a:r>
          </a:p>
          <a:p>
            <a:r>
              <a:rPr lang="en-US" sz="2400" dirty="0"/>
              <a:t>It is an interval that contains the true parameter with </a:t>
            </a:r>
            <a:r>
              <a:rPr lang="en-US" sz="2400" b="1" dirty="0"/>
              <a:t>X% probability</a:t>
            </a:r>
            <a:r>
              <a:rPr lang="en-US" sz="2400" dirty="0"/>
              <a:t>, given the observed data.</a:t>
            </a:r>
          </a:p>
          <a:p>
            <a:r>
              <a:rPr lang="en-US" sz="2400" dirty="0"/>
              <a:t>Data is </a:t>
            </a:r>
            <a:r>
              <a:rPr lang="en-US" sz="2400" b="1" dirty="0"/>
              <a:t>fixed</a:t>
            </a:r>
            <a:r>
              <a:rPr lang="en-US" sz="2400" dirty="0"/>
              <a:t>, the parameter is treated as a random variable.</a:t>
            </a:r>
          </a:p>
          <a:p>
            <a:r>
              <a:rPr lang="en-US" sz="2400" dirty="0"/>
              <a:t>It is computed via the posterior distribution.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74341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12310</TotalTime>
  <Words>1488</Words>
  <Application>Microsoft Office PowerPoint</Application>
  <PresentationFormat>Widescreen</PresentationFormat>
  <Paragraphs>165</Paragraphs>
  <Slides>24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Cambria Math</vt:lpstr>
      <vt:lpstr>Gill Sans MT</vt:lpstr>
      <vt:lpstr>system-ui</vt:lpstr>
      <vt:lpstr>Parcel</vt:lpstr>
      <vt:lpstr>Acrobat Document</vt:lpstr>
      <vt:lpstr>Bayesian models</vt:lpstr>
      <vt:lpstr>Question</vt:lpstr>
      <vt:lpstr>The batting average of baseball players</vt:lpstr>
      <vt:lpstr>What is make a model Bayesian?</vt:lpstr>
      <vt:lpstr>Let practice Bayes</vt:lpstr>
      <vt:lpstr>Let’s practice Bayes</vt:lpstr>
      <vt:lpstr>Bayes Formula with data</vt:lpstr>
      <vt:lpstr>Likelihood - Geometric</vt:lpstr>
      <vt:lpstr>Likelihood - Geometric</vt:lpstr>
      <vt:lpstr>Likelihood - Binomial </vt:lpstr>
      <vt:lpstr>Likelihood – Baseball example </vt:lpstr>
      <vt:lpstr>Prior</vt:lpstr>
      <vt:lpstr>Informative priors</vt:lpstr>
      <vt:lpstr>Beta distribution</vt:lpstr>
      <vt:lpstr>Beta prior</vt:lpstr>
      <vt:lpstr>Evidence</vt:lpstr>
      <vt:lpstr>Posterior – Baseball example</vt:lpstr>
      <vt:lpstr>Posterior</vt:lpstr>
      <vt:lpstr>Analyzing posterior</vt:lpstr>
      <vt:lpstr>Computing Posterior</vt:lpstr>
      <vt:lpstr>HDI</vt:lpstr>
      <vt:lpstr>Inference problem</vt:lpstr>
      <vt:lpstr>Frequentist – confidence interval</vt:lpstr>
      <vt:lpstr>Bayesian - Credible Intervals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אלירן שרצר/Eliran Sherzer</dc:creator>
  <cp:lastModifiedBy>אלירן שרצר/Eliran Sherzer</cp:lastModifiedBy>
  <cp:revision>5</cp:revision>
  <dcterms:created xsi:type="dcterms:W3CDTF">2025-03-03T13:05:44Z</dcterms:created>
  <dcterms:modified xsi:type="dcterms:W3CDTF">2026-10-18T12:43:44Z</dcterms:modified>
</cp:coreProperties>
</file>