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6" r:id="rId17"/>
    <p:sldId id="271" r:id="rId18"/>
    <p:sldId id="272" r:id="rId19"/>
    <p:sldId id="273" r:id="rId20"/>
    <p:sldId id="274" r:id="rId21"/>
    <p:sldId id="27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50" d="100"/>
          <a:sy n="150" d="100"/>
        </p:scale>
        <p:origin x="2886" y="1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4868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שיעור 3: נבנה מודל נקודת שינוי על נתונים אמיתיים מבייסבול, ובדרך נכיר לעומק את אבני הבניין של PyMC: Model, משתנים סטוכסטיים, משתנים דטרמיניסטיים ומשתנים נצפים.</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תכנות הסתברותי מאפשר להגדיר מודלים בייסיאניים בצורה גמישה בקוד. ל-PyMC תחביר קריא וקרוב לאופן שבו סטטיסטיקאים כותבים מודלים. הדוגם המרכזי הוא NUTS (Hoffman 2014), גרסה שמכוונת את עצמה של Hamiltonian Monte Carlo (Duane 1987). הוא משתמש בגרדיאנט של הנראות ולכן מתכנס הרבה יותר מהר משיטות דגימה מסורתיות, במיוחד במודלים גדולים, ולא דורש ידע מיוחד באלגוריתם.</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מגישים מורחים חומרים על הכדור כדי לשפר את האחיזה ולהגדיל את קצב הסיבוב. בעבר זפת אורנים, ובהמשך תערובת של רוזין ותכשיר הגנה מהשמש. סיבוב גבוה יותר פירושו פחות חבטות ויותר סטרייק-אאוטים. זה תמיד היה אסור, אבל כמעט לא נאכף - עד שבאמצע עונת 2021 הליגה הודיעה על אכיפה והרחקה ל-10 משחקים. סרטון: https://www.youtube.com/watch?v=9jiySFCrBQ8</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הנתונים זמינים בחינם באתר MLB Advanced Media (Baseball Savant), הודות למערכות מעקב אחר הכדור. כל נקודה היא קצב הסיבוב של כדורי הקרב (curveball) של מגיש במשחק מסוים. השאלה: האם אפשר לזהות שינוי בקצב הסיבוב שניתן לייחס להגברת האכיפה? לפי הוושינגטון פוסט, השמועה על האכיפה התחילה להתפשט סביב 3 ביוני. הפער באמצע יולי הוא פגרת האולסטאר.</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pd.factorize ממיר כל תאריך למספר שלם - האינדקס של יום המשחק לפי סדר כרונולוגי. day_ind הוא אינדקס היום של כל תצפית, ו-date הוא רשימת התאריכים הייחודיים. כך τ יכול להיות מספר על ציר הימים.</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מודל נקודת שינוי בצורתו הפשוטה: מודל קבוע למקוטעין, עם ממוצע מוקדם וממוצע מאוחר שמופרדים בנקודת שינוי בדידה. האתגר: נקודת השינוי לא ידועה - נסיק את מיקומה מהנתונים ונבדוק אם היא תואמת את מועד האכיפה. הפעם ההנחה היא שהממוצע קופץ כלפי מטה. קצבי הסיבוב בכל צד מתפלגים נורמלית.</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לפני שרואים את הנתונים, μ1, μ2, τ ו-σ הם כולם משתנים מקריים. 'מקרי' בגישה הבייסיאנית לא חייב לנבוע מתהליך פיזיקלי מקרי - הפירוש הוא אפיסטמי: ההתפלגות p(x) מייצגת את הידע ואי-הוודאות שלנו לגבי x. r_t הוא המשתנה הדטרמיניסטי היחיד: אם נדע את ההורים שלו, נחשב אותו בדיוק. הוא עדיין מקרי, כי ההורים שלו מקריים. לעומת זאת, גם אם נדע את ההורים של μ1, עדיין לא נדע את ערכו - לכן הוא סטוכסטי.</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ממוצעי קצב הסיבוב: נורמלית סביב 2500 סל"ד עם סטיית תקן 100. נקודת השינוי: אחידה רציפה על כל טווח ימי העונה - שימו לב שבשיעור הקודם τ היה בדיד. סטיית התקן של התצפיות σ חייבת להיות חיובית, ולכן HalfNormal.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כל מודל ב-PyMC נבנה מאותם רכיבים: התפלגויות קודמות, פונקציית נראות שמחברת את הנתונים, פונקציה דטרמיניסטית (לא חובה) שמחברת בין משתנים סטוכסטיים, ושיטת דגימה שנלמד בהמשך הקורס.</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יצרנו אובייקט Model - מיכל שמכיל את כל המשתנים של המודל התיאורטי כיחידה אחת. ה-with הוא context manager של פייתון: כל משתנה שמוגדר בתוך הבלוק נוסף אוטומטית למודל. אנלוגיה: Model הוא כמו מכשיר הקלטה שמתעד כל מה שמוסיפים לו. משתני PyMC לא יכולים להיות מוגדרים בלי Model. shape=2 יוצר 'אצווה' של שני משתנים נורמליים - μ1 ו-μ2.</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לכל התפלגות ב-PyMC שתי מתודות מרכזיות: חישוב לוג-ההסתברות של ערך (logp), ויצירת ערכים מקריים (random). PyMC משתמש ב-logp פנימית בכל שיטות ההסקה. כדי לחשב ידנית משתמשים ב-pm.logp, וכדי לדגום ידנית - ב-pm.draw. ההתפלגויות מחולקות לחמש קטגוריות.</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אפשר 'לפתוח מחדש' את המודל ב-with נוסף ולהוסיף לו משתנים. המודל עוקב אחר סוגי המשתנים: unobserved_RVs מחזיר את המשתנים הלא-נצפים. σ עובר טרנספורמציית לוג, והדגימה מתבצעת במרחב המותמר; כל דגימה מוחזרת אוטומטית למרחב המקורי. משתנים מותמרים מוסתרים כברירת מחדל בסיכומים ובגרפים.</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ערכי r נקבעים רק לפי tau ו-mu, בלי אקראיות נוספת. כשמגדירים אותו ישירות עם pm.math.switch הוא 'אנונימי' - חישוב ביניים שלא נשמר בתוצאות. אם רוצים לשמור אותו, עוטפים ב-pm.Deterministic ונותנים שם. השמות משמשים כמפתחות בתוצאות, כתוויות בגרפים וכשמות בטבלאות הסיכום. r הוא וקטור באורך 7,791 - ערך לכל תצפית.</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משתנה סטוכסטי שהערכים שלו נצפים (הנראות) נוצר בכל פעם שמעבירים נתונים בארגומנט observed. תפקיד חשוב נוסף שלו: טיפול אוטומטי בערכים חסרים בנתונים. מימין - הגרף של המודל כפי ש-pm.model_to_graphviz מצייר אותו.</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pm.sample בוחר אוטומטית את הדוגם המתאים - כאן NUTS למשתנים הרציפים. 1,500 דגימות בכל אחת משתי שרשראות. התוצאה היא אובייקט InferenceData של ArviZ, ו-az.plot_posterior מציג את ההתפלגויות הפוסטריוריות עם מרווח HDI של 94%.</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הממוצע לפני נקודת השינוי כ-2539 סל"ד ואחריה כ-2442 - ירידה של כ-97 סל"ד. מרווחי ה-HDI של 94% לא חופפים כלל, ולכן יש ראיה חזקה לירידה בקצב הסיבוב.</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ממוצע הפוסטריור של τ הוא בערך יום 68 בעונה, כלומר 8 ביוני 2021. לפי המחברת, זה המועד שבו נכנס השינוי בכללים. השמועה על האכיפה התחילה להתפשט סביב 3 ביוני. שימו לב שהפוסטריור של τ אינו חלק - יש לו כמה 'גבעות', וזה מאפיין של נקודת שינוי רציפה על נתונים בדידים בזמן.</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הנקודות הן ממוצע קצב הסיבוב היומי. הקו הוא קצב הסיבוב הצפוי לפי הפוסטריור - ממוצע על כל הדגימות של μ1 או μ2 לפי הצד של τ. הרצועה היא מרווח ה-HDI של τ. רואים שהמודל תופס את הירידה, אבל גם שיש רעש יומי רב - בדיוק בשביל זה צריך מודל הסתברותי.</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אותו רעיון של נקודת שינוי, אבל עם רכיבים שונים: נראות נורמלית במקום פואסון, τ רציף במקום בדיד, ודוגם NUTS במקום Metropolis.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מקורות: הרצאת PyData London 2022 של Chris Fonnesbeck; C.D. Pilon, Probabilistic Programming &amp; Bayesian Methods for Hackers; M.I. Jordan (2004), Graphical models; Hoffman &amp; Gelman (2014), The No-U-Turn Sampler.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watch?v=9jiySFCrBQ8"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1E3F"/>
        </a:solidFill>
        <a:effectLst/>
      </p:bgPr>
    </p:bg>
    <p:spTree>
      <p:nvGrpSpPr>
        <p:cNvPr id="1" name=""/>
        <p:cNvGrpSpPr/>
        <p:nvPr/>
      </p:nvGrpSpPr>
      <p:grpSpPr>
        <a:xfrm>
          <a:off x="0" y="0"/>
          <a:ext cx="0" cy="0"/>
          <a:chOff x="0" y="0"/>
          <a:chExt cx="0" cy="0"/>
        </a:xfrm>
      </p:grpSpPr>
      <p:sp>
        <p:nvSpPr>
          <p:cNvPr id="2" name="badge μ₁"/>
          <p:cNvSpPr/>
          <p:nvPr/>
        </p:nvSpPr>
        <p:spPr>
          <a:xfrm>
            <a:off x="822960" y="5120640"/>
            <a:ext cx="914400" cy="914400"/>
          </a:xfrm>
          <a:prstGeom prst="ellipse">
            <a:avLst/>
          </a:prstGeom>
          <a:solidFill>
            <a:srgbClr val="17A39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3000" b="1">
                <a:solidFill>
                  <a:srgbClr val="FFFFFF"/>
                </a:solidFill>
                <a:latin typeface="Arial"/>
                <a:cs typeface="Arial"/>
              </a:rPr>
              <a:t>μ₁</a:t>
            </a:r>
          </a:p>
        </p:txBody>
      </p:sp>
      <p:sp>
        <p:nvSpPr>
          <p:cNvPr id="3" name="badge τ"/>
          <p:cNvSpPr/>
          <p:nvPr/>
        </p:nvSpPr>
        <p:spPr>
          <a:xfrm>
            <a:off x="1965960" y="5120640"/>
            <a:ext cx="914400" cy="914400"/>
          </a:xfrm>
          <a:prstGeom prst="ellipse">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3000" b="1">
                <a:solidFill>
                  <a:srgbClr val="FFFFFF"/>
                </a:solidFill>
                <a:latin typeface="Cambria Math"/>
                <a:cs typeface="Cambria Math"/>
              </a:rPr>
              <a:t>τ</a:t>
            </a:r>
          </a:p>
        </p:txBody>
      </p:sp>
      <p:sp>
        <p:nvSpPr>
          <p:cNvPr id="4" name="badge μ₂"/>
          <p:cNvSpPr/>
          <p:nvPr/>
        </p:nvSpPr>
        <p:spPr>
          <a:xfrm>
            <a:off x="3108960" y="5120640"/>
            <a:ext cx="914400" cy="91440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3000" b="1">
                <a:solidFill>
                  <a:srgbClr val="FFFFFF"/>
                </a:solidFill>
                <a:latin typeface="Arial"/>
                <a:cs typeface="Arial"/>
              </a:rPr>
              <a:t>μ₂</a:t>
            </a:r>
          </a:p>
        </p:txBody>
      </p:sp>
      <p:sp>
        <p:nvSpPr>
          <p:cNvPr id="5" name="Title"/>
          <p:cNvSpPr txBox="1"/>
          <p:nvPr/>
        </p:nvSpPr>
        <p:spPr>
          <a:xfrm>
            <a:off x="822960" y="1554480"/>
            <a:ext cx="10515600" cy="1280160"/>
          </a:xfrm>
          <a:prstGeom prst="rect">
            <a:avLst/>
          </a:prstGeom>
          <a:noFill/>
        </p:spPr>
        <p:txBody>
          <a:bodyPr wrap="square" lIns="45720" tIns="27432" rIns="45720" bIns="27432" anchor="t">
            <a:spAutoFit/>
          </a:bodyPr>
          <a:lstStyle/>
          <a:p>
            <a:pPr algn="r" rtl="1">
              <a:spcAft>
                <a:spcPts val="600"/>
              </a:spcAft>
            </a:pPr>
            <a:r>
              <a:rPr lang="he-IL" sz="4800" b="1" i="0">
                <a:solidFill>
                  <a:srgbClr val="FFFFFF"/>
                </a:solidFill>
                <a:latin typeface="Arial"/>
                <a:cs typeface="Arial"/>
              </a:rPr>
              <a:t>בניית מודלים ב-PyMC</a:t>
            </a:r>
          </a:p>
        </p:txBody>
      </p:sp>
      <p:sp>
        <p:nvSpPr>
          <p:cNvPr id="6" name="TextBox 5"/>
          <p:cNvSpPr txBox="1"/>
          <p:nvPr/>
        </p:nvSpPr>
        <p:spPr>
          <a:xfrm>
            <a:off x="822960" y="2834640"/>
            <a:ext cx="10515600" cy="1097280"/>
          </a:xfrm>
          <a:prstGeom prst="rect">
            <a:avLst/>
          </a:prstGeom>
          <a:noFill/>
        </p:spPr>
        <p:txBody>
          <a:bodyPr wrap="square" lIns="45720" tIns="27432" rIns="45720" bIns="27432" anchor="t">
            <a:spAutoFit/>
          </a:bodyPr>
          <a:lstStyle/>
          <a:p>
            <a:pPr algn="r" rtl="1">
              <a:spcAft>
                <a:spcPts val="600"/>
              </a:spcAft>
            </a:pPr>
            <a:r>
              <a:rPr lang="he-IL" sz="2200" b="0" i="0">
                <a:solidFill>
                  <a:srgbClr val="CFC6DE"/>
                </a:solidFill>
                <a:latin typeface="Arial"/>
                <a:cs typeface="Arial"/>
              </a:rPr>
              <a:t>מודל נקודת שינוי — חלק 2: פרשת ה”חומר הדביק“ בבייסבול</a:t>
            </a:r>
          </a:p>
        </p:txBody>
      </p:sp>
      <p:sp>
        <p:nvSpPr>
          <p:cNvPr id="7" name="TextBox 6"/>
          <p:cNvSpPr txBox="1"/>
          <p:nvPr/>
        </p:nvSpPr>
        <p:spPr>
          <a:xfrm>
            <a:off x="5029200" y="5257800"/>
            <a:ext cx="6309360" cy="640080"/>
          </a:xfrm>
          <a:prstGeom prst="rect">
            <a:avLst/>
          </a:prstGeom>
          <a:noFill/>
        </p:spPr>
        <p:txBody>
          <a:bodyPr wrap="square" lIns="45720" tIns="27432" rIns="45720" bIns="27432" anchor="ctr">
            <a:spAutoFit/>
          </a:bodyPr>
          <a:lstStyle/>
          <a:p>
            <a:pPr algn="r" rtl="1">
              <a:spcAft>
                <a:spcPts val="600"/>
              </a:spcAft>
            </a:pPr>
            <a:r>
              <a:rPr lang="he-IL" sz="1800" b="0" i="0">
                <a:solidFill>
                  <a:srgbClr val="CFC6DE"/>
                </a:solidFill>
                <a:latin typeface="Arial"/>
                <a:cs typeface="Arial"/>
              </a:rPr>
              <a:t>מודלים בייסיאניים · שיעור 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4415" cy="822960"/>
          </a:xfrm>
          <a:prstGeom prst="rect">
            <a:avLst/>
          </a:prstGeom>
          <a:noFill/>
        </p:spPr>
        <p:txBody>
          <a:bodyPr wrap="square" lIns="45720" tIns="27432" rIns="45720" bIns="27432" anchor="ctr">
            <a:spAutoFit/>
          </a:bodyPr>
          <a:lstStyle/>
          <a:p>
            <a:pPr algn="r" rtl="1">
              <a:spcAft>
                <a:spcPts val="600"/>
              </a:spcAft>
            </a:pPr>
            <a:r>
              <a:rPr lang="he-IL" sz="3400" b="1" i="0">
                <a:solidFill>
                  <a:srgbClr val="2B1E3F"/>
                </a:solidFill>
                <a:latin typeface="Arial"/>
                <a:cs typeface="Arial"/>
              </a:rPr>
              <a:t>תכנות הסתברותי ו-PyMC</a:t>
            </a:r>
          </a:p>
        </p:txBody>
      </p:sp>
      <p:sp>
        <p:nvSpPr>
          <p:cNvPr id="3" name="card"/>
          <p:cNvSpPr/>
          <p:nvPr/>
        </p:nvSpPr>
        <p:spPr>
          <a:xfrm>
            <a:off x="6281928" y="1554480"/>
            <a:ext cx="5358384" cy="210312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badge PP"/>
          <p:cNvSpPr/>
          <p:nvPr/>
        </p:nvSpPr>
        <p:spPr>
          <a:xfrm>
            <a:off x="10588752" y="1828800"/>
            <a:ext cx="777240" cy="777240"/>
          </a:xfrm>
          <a:prstGeom prst="ellipse">
            <a:avLst/>
          </a:prstGeom>
          <a:solidFill>
            <a:srgbClr val="17A39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rial"/>
                <a:cs typeface="Arial"/>
              </a:rPr>
              <a:t>PP</a:t>
            </a:r>
          </a:p>
        </p:txBody>
      </p:sp>
      <p:sp>
        <p:nvSpPr>
          <p:cNvPr id="5" name="TextBox 4"/>
          <p:cNvSpPr txBox="1"/>
          <p:nvPr/>
        </p:nvSpPr>
        <p:spPr>
          <a:xfrm>
            <a:off x="6556248" y="1874519"/>
            <a:ext cx="3931920" cy="640080"/>
          </a:xfrm>
          <a:prstGeom prst="rect">
            <a:avLst/>
          </a:prstGeom>
          <a:noFill/>
        </p:spPr>
        <p:txBody>
          <a:bodyPr wrap="square" lIns="45720" tIns="27432" rIns="45720" bIns="27432" anchor="ctr">
            <a:spAutoFit/>
          </a:bodyPr>
          <a:lstStyle/>
          <a:p>
            <a:pPr algn="r" rtl="1">
              <a:spcAft>
                <a:spcPts val="600"/>
              </a:spcAft>
            </a:pPr>
            <a:r>
              <a:rPr lang="he-IL" sz="2000" b="1" i="0">
                <a:solidFill>
                  <a:srgbClr val="2B1E3F"/>
                </a:solidFill>
                <a:latin typeface="Arial"/>
                <a:cs typeface="Arial"/>
              </a:rPr>
              <a:t>תכנות הסתברותי</a:t>
            </a:r>
          </a:p>
        </p:txBody>
      </p:sp>
      <p:sp>
        <p:nvSpPr>
          <p:cNvPr id="6" name="TextBox 5"/>
          <p:cNvSpPr txBox="1"/>
          <p:nvPr/>
        </p:nvSpPr>
        <p:spPr>
          <a:xfrm>
            <a:off x="6556248" y="2606039"/>
            <a:ext cx="4754880" cy="914400"/>
          </a:xfrm>
          <a:prstGeom prst="rect">
            <a:avLst/>
          </a:prstGeom>
          <a:noFill/>
        </p:spPr>
        <p:txBody>
          <a:bodyPr wrap="square" lIns="45720" tIns="27432" rIns="45720" bIns="27432" anchor="t">
            <a:spAutoFit/>
          </a:bodyPr>
          <a:lstStyle/>
          <a:p>
            <a:pPr algn="r" rtl="1">
              <a:spcAft>
                <a:spcPts val="600"/>
              </a:spcAft>
            </a:pPr>
            <a:r>
              <a:rPr lang="he-IL" sz="1600" b="0" i="0">
                <a:solidFill>
                  <a:srgbClr val="6B6478"/>
                </a:solidFill>
                <a:latin typeface="Arial"/>
                <a:cs typeface="Arial"/>
              </a:rPr>
              <a:t>הגדרה גמישה של מודל סטטיסטי בייסיאני — ישירות בקוד</a:t>
            </a:r>
          </a:p>
        </p:txBody>
      </p:sp>
      <p:sp>
        <p:nvSpPr>
          <p:cNvPr id="7" name="card"/>
          <p:cNvSpPr/>
          <p:nvPr/>
        </p:nvSpPr>
        <p:spPr>
          <a:xfrm>
            <a:off x="548640" y="1554480"/>
            <a:ext cx="5358384" cy="210312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badge Py"/>
          <p:cNvSpPr/>
          <p:nvPr/>
        </p:nvSpPr>
        <p:spPr>
          <a:xfrm>
            <a:off x="4855464" y="1828800"/>
            <a:ext cx="777240" cy="777240"/>
          </a:xfrm>
          <a:prstGeom prst="ellipse">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rial"/>
                <a:cs typeface="Arial"/>
              </a:rPr>
              <a:t>Py</a:t>
            </a:r>
          </a:p>
        </p:txBody>
      </p:sp>
      <p:sp>
        <p:nvSpPr>
          <p:cNvPr id="9" name="TextBox 8"/>
          <p:cNvSpPr txBox="1"/>
          <p:nvPr/>
        </p:nvSpPr>
        <p:spPr>
          <a:xfrm>
            <a:off x="822959" y="1874519"/>
            <a:ext cx="3931920" cy="640080"/>
          </a:xfrm>
          <a:prstGeom prst="rect">
            <a:avLst/>
          </a:prstGeom>
          <a:noFill/>
        </p:spPr>
        <p:txBody>
          <a:bodyPr wrap="square" lIns="45720" tIns="27432" rIns="45720" bIns="27432" anchor="ctr">
            <a:spAutoFit/>
          </a:bodyPr>
          <a:lstStyle/>
          <a:p>
            <a:pPr algn="r" rtl="1">
              <a:spcAft>
                <a:spcPts val="600"/>
              </a:spcAft>
            </a:pPr>
            <a:r>
              <a:rPr lang="he-IL" sz="2000" b="1" i="0">
                <a:solidFill>
                  <a:srgbClr val="2B1E3F"/>
                </a:solidFill>
                <a:latin typeface="Arial"/>
                <a:cs typeface="Arial"/>
              </a:rPr>
              <a:t>PyMC</a:t>
            </a:r>
          </a:p>
        </p:txBody>
      </p:sp>
      <p:sp>
        <p:nvSpPr>
          <p:cNvPr id="10" name="TextBox 9"/>
          <p:cNvSpPr txBox="1"/>
          <p:nvPr/>
        </p:nvSpPr>
        <p:spPr>
          <a:xfrm>
            <a:off x="822959" y="2606039"/>
            <a:ext cx="4754880" cy="914400"/>
          </a:xfrm>
          <a:prstGeom prst="rect">
            <a:avLst/>
          </a:prstGeom>
          <a:noFill/>
        </p:spPr>
        <p:txBody>
          <a:bodyPr wrap="square" lIns="45720" tIns="27432" rIns="45720" bIns="27432" anchor="t">
            <a:spAutoFit/>
          </a:bodyPr>
          <a:lstStyle/>
          <a:p>
            <a:pPr algn="r" rtl="1">
              <a:spcAft>
                <a:spcPts val="600"/>
              </a:spcAft>
            </a:pPr>
            <a:r>
              <a:rPr lang="he-IL" sz="1600" b="0" i="0">
                <a:solidFill>
                  <a:srgbClr val="6B6478"/>
                </a:solidFill>
                <a:latin typeface="Arial"/>
                <a:cs typeface="Arial"/>
              </a:rPr>
              <a:t>ספריית קוד פתוח עם תחביר קריא, קרוב לאופן שבו סטטיסטיקאים כותבים מודלים</a:t>
            </a:r>
          </a:p>
        </p:txBody>
      </p:sp>
      <p:sp>
        <p:nvSpPr>
          <p:cNvPr id="11" name="card"/>
          <p:cNvSpPr/>
          <p:nvPr/>
        </p:nvSpPr>
        <p:spPr>
          <a:xfrm>
            <a:off x="6281928" y="3931920"/>
            <a:ext cx="5358384" cy="210312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badge N"/>
          <p:cNvSpPr/>
          <p:nvPr/>
        </p:nvSpPr>
        <p:spPr>
          <a:xfrm>
            <a:off x="10588752" y="4206240"/>
            <a:ext cx="777240" cy="7772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rial"/>
                <a:cs typeface="Arial"/>
              </a:rPr>
              <a:t>N</a:t>
            </a:r>
          </a:p>
        </p:txBody>
      </p:sp>
      <p:sp>
        <p:nvSpPr>
          <p:cNvPr id="13" name="TextBox 12"/>
          <p:cNvSpPr txBox="1"/>
          <p:nvPr/>
        </p:nvSpPr>
        <p:spPr>
          <a:xfrm>
            <a:off x="6556248" y="4251959"/>
            <a:ext cx="3931920" cy="640080"/>
          </a:xfrm>
          <a:prstGeom prst="rect">
            <a:avLst/>
          </a:prstGeom>
          <a:noFill/>
        </p:spPr>
        <p:txBody>
          <a:bodyPr wrap="square" lIns="45720" tIns="27432" rIns="45720" bIns="27432" anchor="ctr">
            <a:spAutoFit/>
          </a:bodyPr>
          <a:lstStyle/>
          <a:p>
            <a:pPr algn="r" rtl="1">
              <a:spcAft>
                <a:spcPts val="600"/>
              </a:spcAft>
            </a:pPr>
            <a:r>
              <a:rPr lang="he-IL" sz="2000" b="1" i="0">
                <a:solidFill>
                  <a:srgbClr val="2B1E3F"/>
                </a:solidFill>
                <a:latin typeface="Arial"/>
                <a:cs typeface="Arial"/>
              </a:rPr>
              <a:t>דוגם NUTS</a:t>
            </a:r>
          </a:p>
        </p:txBody>
      </p:sp>
      <p:sp>
        <p:nvSpPr>
          <p:cNvPr id="14" name="TextBox 13"/>
          <p:cNvSpPr txBox="1"/>
          <p:nvPr/>
        </p:nvSpPr>
        <p:spPr>
          <a:xfrm>
            <a:off x="6556248" y="4983479"/>
            <a:ext cx="4754880" cy="914400"/>
          </a:xfrm>
          <a:prstGeom prst="rect">
            <a:avLst/>
          </a:prstGeom>
          <a:noFill/>
        </p:spPr>
        <p:txBody>
          <a:bodyPr wrap="square" lIns="45720" tIns="27432" rIns="45720" bIns="27432" anchor="t">
            <a:spAutoFit/>
          </a:bodyPr>
          <a:lstStyle/>
          <a:p>
            <a:pPr algn="r" rtl="1">
              <a:spcAft>
                <a:spcPts val="600"/>
              </a:spcAft>
            </a:pPr>
            <a:r>
              <a:rPr lang="he-IL" sz="1600" b="0" i="0">
                <a:solidFill>
                  <a:srgbClr val="6B6478"/>
                </a:solidFill>
                <a:latin typeface="Arial"/>
                <a:cs typeface="Arial"/>
              </a:rPr>
              <a:t>דוגם MCMC מתקדם שמכוון את עצמו — וריאנט של HMC</a:t>
            </a:r>
          </a:p>
        </p:txBody>
      </p:sp>
      <p:sp>
        <p:nvSpPr>
          <p:cNvPr id="15" name="card"/>
          <p:cNvSpPr/>
          <p:nvPr/>
        </p:nvSpPr>
        <p:spPr>
          <a:xfrm>
            <a:off x="548640" y="3931920"/>
            <a:ext cx="5358384" cy="210312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badge ∇"/>
          <p:cNvSpPr/>
          <p:nvPr/>
        </p:nvSpPr>
        <p:spPr>
          <a:xfrm>
            <a:off x="4855464" y="4206240"/>
            <a:ext cx="777240" cy="777240"/>
          </a:xfrm>
          <a:prstGeom prst="ellipse">
            <a:avLst/>
          </a:prstGeom>
          <a:solidFill>
            <a:srgbClr val="2B1E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rial"/>
                <a:cs typeface="Arial"/>
              </a:rPr>
              <a:t>∇</a:t>
            </a:r>
          </a:p>
        </p:txBody>
      </p:sp>
      <p:sp>
        <p:nvSpPr>
          <p:cNvPr id="17" name="TextBox 16"/>
          <p:cNvSpPr txBox="1"/>
          <p:nvPr/>
        </p:nvSpPr>
        <p:spPr>
          <a:xfrm>
            <a:off x="822959" y="4251959"/>
            <a:ext cx="3931920" cy="640080"/>
          </a:xfrm>
          <a:prstGeom prst="rect">
            <a:avLst/>
          </a:prstGeom>
          <a:noFill/>
        </p:spPr>
        <p:txBody>
          <a:bodyPr wrap="square" lIns="45720" tIns="27432" rIns="45720" bIns="27432" anchor="ctr">
            <a:spAutoFit/>
          </a:bodyPr>
          <a:lstStyle/>
          <a:p>
            <a:pPr algn="r" rtl="1">
              <a:spcAft>
                <a:spcPts val="600"/>
              </a:spcAft>
            </a:pPr>
            <a:r>
              <a:rPr lang="he-IL" sz="2000" b="1" i="0">
                <a:solidFill>
                  <a:srgbClr val="2B1E3F"/>
                </a:solidFill>
                <a:latin typeface="Arial"/>
                <a:cs typeface="Arial"/>
              </a:rPr>
              <a:t>שימוש בגרדיאנט</a:t>
            </a:r>
          </a:p>
        </p:txBody>
      </p:sp>
      <p:sp>
        <p:nvSpPr>
          <p:cNvPr id="18" name="TextBox 17"/>
          <p:cNvSpPr txBox="1"/>
          <p:nvPr/>
        </p:nvSpPr>
        <p:spPr>
          <a:xfrm>
            <a:off x="822959" y="4983479"/>
            <a:ext cx="4754880" cy="914400"/>
          </a:xfrm>
          <a:prstGeom prst="rect">
            <a:avLst/>
          </a:prstGeom>
          <a:noFill/>
        </p:spPr>
        <p:txBody>
          <a:bodyPr wrap="square" lIns="45720" tIns="27432" rIns="45720" bIns="27432" anchor="t">
            <a:spAutoFit/>
          </a:bodyPr>
          <a:lstStyle/>
          <a:p>
            <a:pPr algn="r" rtl="1">
              <a:spcAft>
                <a:spcPts val="600"/>
              </a:spcAft>
            </a:pPr>
            <a:r>
              <a:rPr lang="he-IL" sz="1600" b="0" i="0">
                <a:solidFill>
                  <a:srgbClr val="6B6478"/>
                </a:solidFill>
                <a:latin typeface="Arial"/>
                <a:cs typeface="Arial"/>
              </a:rPr>
              <a:t>מנצל את הגרדיאנט של הנראות ← התכנסות מהירה גם במודלים גדולים ומורכבים</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4415" cy="822960"/>
          </a:xfrm>
          <a:prstGeom prst="rect">
            <a:avLst/>
          </a:prstGeom>
          <a:noFill/>
        </p:spPr>
        <p:txBody>
          <a:bodyPr wrap="square" lIns="45720" tIns="27432" rIns="45720" bIns="27432" anchor="ctr">
            <a:spAutoFit/>
          </a:bodyPr>
          <a:lstStyle/>
          <a:p>
            <a:pPr algn="r" rtl="1">
              <a:spcAft>
                <a:spcPts val="600"/>
              </a:spcAft>
            </a:pPr>
            <a:r>
              <a:rPr lang="he-IL" sz="3400" b="1" i="0">
                <a:solidFill>
                  <a:srgbClr val="2B1E3F"/>
                </a:solidFill>
                <a:latin typeface="Arial"/>
                <a:cs typeface="Arial"/>
              </a:rPr>
              <a:t>הסיפור: ה”חומר הדביק“ בליגת MLB</a:t>
            </a:r>
          </a:p>
        </p:txBody>
      </p:sp>
      <p:sp>
        <p:nvSpPr>
          <p:cNvPr id="3" name="card"/>
          <p:cNvSpPr/>
          <p:nvPr/>
        </p:nvSpPr>
        <p:spPr>
          <a:xfrm>
            <a:off x="9082735" y="1508760"/>
            <a:ext cx="2560320" cy="251460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badge 1"/>
          <p:cNvSpPr/>
          <p:nvPr/>
        </p:nvSpPr>
        <p:spPr>
          <a:xfrm>
            <a:off x="9997135" y="1737360"/>
            <a:ext cx="731520" cy="731520"/>
          </a:xfrm>
          <a:prstGeom prst="ellipse">
            <a:avLst/>
          </a:prstGeom>
          <a:solidFill>
            <a:srgbClr val="17A39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200" b="1">
                <a:solidFill>
                  <a:srgbClr val="FFFFFF"/>
                </a:solidFill>
                <a:latin typeface="Arial"/>
                <a:cs typeface="Arial"/>
              </a:rPr>
              <a:t>1</a:t>
            </a:r>
          </a:p>
        </p:txBody>
      </p:sp>
      <p:sp>
        <p:nvSpPr>
          <p:cNvPr id="5" name="TextBox 4"/>
          <p:cNvSpPr txBox="1"/>
          <p:nvPr/>
        </p:nvSpPr>
        <p:spPr>
          <a:xfrm>
            <a:off x="9219895" y="2606040"/>
            <a:ext cx="2286000" cy="548640"/>
          </a:xfrm>
          <a:prstGeom prst="rect">
            <a:avLst/>
          </a:prstGeom>
          <a:noFill/>
        </p:spPr>
        <p:txBody>
          <a:bodyPr wrap="square" lIns="45720" tIns="27432" rIns="45720" bIns="27432" anchor="ctr">
            <a:spAutoFit/>
          </a:bodyPr>
          <a:lstStyle/>
          <a:p>
            <a:pPr algn="ctr" rtl="1">
              <a:spcAft>
                <a:spcPts val="600"/>
              </a:spcAft>
            </a:pPr>
            <a:r>
              <a:rPr lang="he-IL" sz="1700" b="1" i="0">
                <a:solidFill>
                  <a:srgbClr val="2B1E3F"/>
                </a:solidFill>
                <a:latin typeface="Arial"/>
                <a:cs typeface="Arial"/>
              </a:rPr>
              <a:t>חומר דביק על הכדור</a:t>
            </a:r>
          </a:p>
        </p:txBody>
      </p:sp>
      <p:sp>
        <p:nvSpPr>
          <p:cNvPr id="6" name="TextBox 5"/>
          <p:cNvSpPr txBox="1"/>
          <p:nvPr/>
        </p:nvSpPr>
        <p:spPr>
          <a:xfrm>
            <a:off x="9219895" y="3154680"/>
            <a:ext cx="2286000" cy="777240"/>
          </a:xfrm>
          <a:prstGeom prst="rect">
            <a:avLst/>
          </a:prstGeom>
          <a:noFill/>
        </p:spPr>
        <p:txBody>
          <a:bodyPr wrap="square" lIns="45720" tIns="27432" rIns="45720" bIns="27432" anchor="t">
            <a:spAutoFit/>
          </a:bodyPr>
          <a:lstStyle/>
          <a:p>
            <a:pPr algn="ctr" rtl="1">
              <a:spcAft>
                <a:spcPts val="600"/>
              </a:spcAft>
            </a:pPr>
            <a:r>
              <a:rPr lang="he-IL" sz="1400" b="0" i="0">
                <a:solidFill>
                  <a:srgbClr val="6B6478"/>
                </a:solidFill>
                <a:latin typeface="Arial"/>
                <a:cs typeface="Arial"/>
              </a:rPr>
              <a:t>זפת אורנים, ובהמשך רוזין + קרם הגנה</a:t>
            </a:r>
          </a:p>
        </p:txBody>
      </p:sp>
      <p:cxnSp>
        <p:nvCxnSpPr>
          <p:cNvPr id="7" name="Connector 6"/>
          <p:cNvCxnSpPr/>
          <p:nvPr/>
        </p:nvCxnSpPr>
        <p:spPr>
          <a:xfrm flipH="1">
            <a:off x="8835847" y="2743200"/>
            <a:ext cx="210312" cy="0"/>
          </a:xfrm>
          <a:prstGeom prst="line">
            <a:avLst/>
          </a:prstGeom>
          <a:ln w="25400">
            <a:solidFill>
              <a:srgbClr val="CFC6DE"/>
            </a:solidFill>
            <a:tailEnd type="triangle"/>
          </a:ln>
        </p:spPr>
        <p:style>
          <a:lnRef idx="2">
            <a:schemeClr val="accent1"/>
          </a:lnRef>
          <a:fillRef idx="0">
            <a:schemeClr val="accent1"/>
          </a:fillRef>
          <a:effectRef idx="1">
            <a:schemeClr val="accent1"/>
          </a:effectRef>
          <a:fontRef idx="minor">
            <a:schemeClr val="tx1"/>
          </a:fontRef>
        </p:style>
      </p:cxnSp>
      <p:sp>
        <p:nvSpPr>
          <p:cNvPr id="8" name="card"/>
          <p:cNvSpPr/>
          <p:nvPr/>
        </p:nvSpPr>
        <p:spPr>
          <a:xfrm>
            <a:off x="6238951" y="1508760"/>
            <a:ext cx="2560320" cy="251460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badge 2"/>
          <p:cNvSpPr/>
          <p:nvPr/>
        </p:nvSpPr>
        <p:spPr>
          <a:xfrm>
            <a:off x="7153351" y="1737360"/>
            <a:ext cx="731520" cy="731520"/>
          </a:xfrm>
          <a:prstGeom prst="ellipse">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200" b="1">
                <a:solidFill>
                  <a:srgbClr val="FFFFFF"/>
                </a:solidFill>
                <a:latin typeface="Arial"/>
                <a:cs typeface="Arial"/>
              </a:rPr>
              <a:t>2</a:t>
            </a:r>
          </a:p>
        </p:txBody>
      </p:sp>
      <p:sp>
        <p:nvSpPr>
          <p:cNvPr id="10" name="TextBox 9"/>
          <p:cNvSpPr txBox="1"/>
          <p:nvPr/>
        </p:nvSpPr>
        <p:spPr>
          <a:xfrm>
            <a:off x="6376111" y="2606040"/>
            <a:ext cx="2286000" cy="548640"/>
          </a:xfrm>
          <a:prstGeom prst="rect">
            <a:avLst/>
          </a:prstGeom>
          <a:noFill/>
        </p:spPr>
        <p:txBody>
          <a:bodyPr wrap="square" lIns="45720" tIns="27432" rIns="45720" bIns="27432" anchor="ctr">
            <a:spAutoFit/>
          </a:bodyPr>
          <a:lstStyle/>
          <a:p>
            <a:pPr algn="ctr" rtl="1">
              <a:spcAft>
                <a:spcPts val="600"/>
              </a:spcAft>
            </a:pPr>
            <a:r>
              <a:rPr lang="he-IL" sz="1700" b="1" i="0">
                <a:solidFill>
                  <a:srgbClr val="2B1E3F"/>
                </a:solidFill>
                <a:latin typeface="Arial"/>
                <a:cs typeface="Arial"/>
              </a:rPr>
              <a:t>אחיזה חזקה יותר</a:t>
            </a:r>
          </a:p>
        </p:txBody>
      </p:sp>
      <p:sp>
        <p:nvSpPr>
          <p:cNvPr id="11" name="TextBox 10"/>
          <p:cNvSpPr txBox="1"/>
          <p:nvPr/>
        </p:nvSpPr>
        <p:spPr>
          <a:xfrm>
            <a:off x="6376111" y="3154680"/>
            <a:ext cx="2286000" cy="777240"/>
          </a:xfrm>
          <a:prstGeom prst="rect">
            <a:avLst/>
          </a:prstGeom>
          <a:noFill/>
        </p:spPr>
        <p:txBody>
          <a:bodyPr wrap="square" lIns="45720" tIns="27432" rIns="45720" bIns="27432" anchor="t">
            <a:spAutoFit/>
          </a:bodyPr>
          <a:lstStyle/>
          <a:p>
            <a:pPr algn="ctr" rtl="1">
              <a:spcAft>
                <a:spcPts val="600"/>
              </a:spcAft>
            </a:pPr>
            <a:r>
              <a:rPr lang="he-IL" sz="1400" b="0" i="0">
                <a:solidFill>
                  <a:srgbClr val="6B6478"/>
                </a:solidFill>
                <a:latin typeface="Arial"/>
                <a:cs typeface="Arial"/>
              </a:rPr>
              <a:t>הכדור מסתובב מהר יותר (spin rate גבוה)</a:t>
            </a:r>
          </a:p>
        </p:txBody>
      </p:sp>
      <p:cxnSp>
        <p:nvCxnSpPr>
          <p:cNvPr id="12" name="Connector 11"/>
          <p:cNvCxnSpPr/>
          <p:nvPr/>
        </p:nvCxnSpPr>
        <p:spPr>
          <a:xfrm flipH="1">
            <a:off x="5992063" y="2743200"/>
            <a:ext cx="210312" cy="0"/>
          </a:xfrm>
          <a:prstGeom prst="line">
            <a:avLst/>
          </a:prstGeom>
          <a:ln w="25400">
            <a:solidFill>
              <a:srgbClr val="CFC6DE"/>
            </a:solidFill>
            <a:tailEnd type="triangle"/>
          </a:ln>
        </p:spPr>
        <p:style>
          <a:lnRef idx="2">
            <a:schemeClr val="accent1"/>
          </a:lnRef>
          <a:fillRef idx="0">
            <a:schemeClr val="accent1"/>
          </a:fillRef>
          <a:effectRef idx="1">
            <a:schemeClr val="accent1"/>
          </a:effectRef>
          <a:fontRef idx="minor">
            <a:schemeClr val="tx1"/>
          </a:fontRef>
        </p:style>
      </p:cxnSp>
      <p:sp>
        <p:nvSpPr>
          <p:cNvPr id="13" name="card"/>
          <p:cNvSpPr/>
          <p:nvPr/>
        </p:nvSpPr>
        <p:spPr>
          <a:xfrm>
            <a:off x="3395167" y="1508760"/>
            <a:ext cx="2560320" cy="251460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badge 3"/>
          <p:cNvSpPr/>
          <p:nvPr/>
        </p:nvSpPr>
        <p:spPr>
          <a:xfrm>
            <a:off x="4309567" y="1737360"/>
            <a:ext cx="731520" cy="7315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200" b="1">
                <a:solidFill>
                  <a:srgbClr val="FFFFFF"/>
                </a:solidFill>
                <a:latin typeface="Arial"/>
                <a:cs typeface="Arial"/>
              </a:rPr>
              <a:t>3</a:t>
            </a:r>
          </a:p>
        </p:txBody>
      </p:sp>
      <p:sp>
        <p:nvSpPr>
          <p:cNvPr id="15" name="TextBox 14"/>
          <p:cNvSpPr txBox="1"/>
          <p:nvPr/>
        </p:nvSpPr>
        <p:spPr>
          <a:xfrm>
            <a:off x="3532327" y="2606040"/>
            <a:ext cx="2286000" cy="548640"/>
          </a:xfrm>
          <a:prstGeom prst="rect">
            <a:avLst/>
          </a:prstGeom>
          <a:noFill/>
        </p:spPr>
        <p:txBody>
          <a:bodyPr wrap="square" lIns="45720" tIns="27432" rIns="45720" bIns="27432" anchor="ctr">
            <a:spAutoFit/>
          </a:bodyPr>
          <a:lstStyle/>
          <a:p>
            <a:pPr algn="ctr" rtl="1">
              <a:spcAft>
                <a:spcPts val="600"/>
              </a:spcAft>
            </a:pPr>
            <a:r>
              <a:rPr lang="he-IL" sz="1700" b="1" i="0">
                <a:solidFill>
                  <a:srgbClr val="2B1E3F"/>
                </a:solidFill>
                <a:latin typeface="Arial"/>
                <a:cs typeface="Arial"/>
              </a:rPr>
              <a:t>פחות חבטות</a:t>
            </a:r>
          </a:p>
        </p:txBody>
      </p:sp>
      <p:sp>
        <p:nvSpPr>
          <p:cNvPr id="16" name="TextBox 15"/>
          <p:cNvSpPr txBox="1"/>
          <p:nvPr/>
        </p:nvSpPr>
        <p:spPr>
          <a:xfrm>
            <a:off x="3532327" y="3154680"/>
            <a:ext cx="2286000" cy="777240"/>
          </a:xfrm>
          <a:prstGeom prst="rect">
            <a:avLst/>
          </a:prstGeom>
          <a:noFill/>
        </p:spPr>
        <p:txBody>
          <a:bodyPr wrap="square" lIns="45720" tIns="27432" rIns="45720" bIns="27432" anchor="t">
            <a:spAutoFit/>
          </a:bodyPr>
          <a:lstStyle/>
          <a:p>
            <a:pPr algn="ctr" rtl="1">
              <a:spcAft>
                <a:spcPts val="600"/>
              </a:spcAft>
            </a:pPr>
            <a:r>
              <a:rPr lang="he-IL" sz="1400" b="0" i="0">
                <a:solidFill>
                  <a:srgbClr val="6B6478"/>
                </a:solidFill>
                <a:latin typeface="Arial"/>
                <a:cs typeface="Arial"/>
              </a:rPr>
              <a:t>יותר סטרייק-אאוטים — שיא בעונת 2021</a:t>
            </a:r>
          </a:p>
        </p:txBody>
      </p:sp>
      <p:cxnSp>
        <p:nvCxnSpPr>
          <p:cNvPr id="17" name="Connector 16"/>
          <p:cNvCxnSpPr/>
          <p:nvPr/>
        </p:nvCxnSpPr>
        <p:spPr>
          <a:xfrm flipH="1">
            <a:off x="3148279" y="2743200"/>
            <a:ext cx="210312" cy="0"/>
          </a:xfrm>
          <a:prstGeom prst="line">
            <a:avLst/>
          </a:prstGeom>
          <a:ln w="25400">
            <a:solidFill>
              <a:srgbClr val="CFC6DE"/>
            </a:solidFill>
            <a:tailEnd type="triangle"/>
          </a:ln>
        </p:spPr>
        <p:style>
          <a:lnRef idx="2">
            <a:schemeClr val="accent1"/>
          </a:lnRef>
          <a:fillRef idx="0">
            <a:schemeClr val="accent1"/>
          </a:fillRef>
          <a:effectRef idx="1">
            <a:schemeClr val="accent1"/>
          </a:effectRef>
          <a:fontRef idx="minor">
            <a:schemeClr val="tx1"/>
          </a:fontRef>
        </p:style>
      </p:cxnSp>
      <p:sp>
        <p:nvSpPr>
          <p:cNvPr id="18" name="card"/>
          <p:cNvSpPr/>
          <p:nvPr/>
        </p:nvSpPr>
        <p:spPr>
          <a:xfrm>
            <a:off x="551383" y="1508760"/>
            <a:ext cx="2560320" cy="251460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badge 4"/>
          <p:cNvSpPr/>
          <p:nvPr/>
        </p:nvSpPr>
        <p:spPr>
          <a:xfrm>
            <a:off x="1465783" y="1737360"/>
            <a:ext cx="731520" cy="731520"/>
          </a:xfrm>
          <a:prstGeom prst="ellipse">
            <a:avLst/>
          </a:prstGeom>
          <a:solidFill>
            <a:srgbClr val="2B1E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200" b="1">
                <a:solidFill>
                  <a:srgbClr val="FFFFFF"/>
                </a:solidFill>
                <a:latin typeface="Arial"/>
                <a:cs typeface="Arial"/>
              </a:rPr>
              <a:t>4</a:t>
            </a:r>
          </a:p>
        </p:txBody>
      </p:sp>
      <p:sp>
        <p:nvSpPr>
          <p:cNvPr id="20" name="TextBox 19"/>
          <p:cNvSpPr txBox="1"/>
          <p:nvPr/>
        </p:nvSpPr>
        <p:spPr>
          <a:xfrm>
            <a:off x="688543" y="2606040"/>
            <a:ext cx="2286000" cy="548640"/>
          </a:xfrm>
          <a:prstGeom prst="rect">
            <a:avLst/>
          </a:prstGeom>
          <a:noFill/>
        </p:spPr>
        <p:txBody>
          <a:bodyPr wrap="square" lIns="45720" tIns="27432" rIns="45720" bIns="27432" anchor="ctr">
            <a:spAutoFit/>
          </a:bodyPr>
          <a:lstStyle/>
          <a:p>
            <a:pPr algn="ctr" rtl="1">
              <a:spcAft>
                <a:spcPts val="600"/>
              </a:spcAft>
            </a:pPr>
            <a:r>
              <a:rPr lang="he-IL" sz="1700" b="1" i="0">
                <a:solidFill>
                  <a:srgbClr val="2B1E3F"/>
                </a:solidFill>
                <a:latin typeface="Arial"/>
                <a:cs typeface="Arial"/>
              </a:rPr>
              <a:t>אכיפה באמצע העונה</a:t>
            </a:r>
          </a:p>
        </p:txBody>
      </p:sp>
      <p:sp>
        <p:nvSpPr>
          <p:cNvPr id="21" name="TextBox 20"/>
          <p:cNvSpPr txBox="1"/>
          <p:nvPr/>
        </p:nvSpPr>
        <p:spPr>
          <a:xfrm>
            <a:off x="688543" y="3154680"/>
            <a:ext cx="2286000" cy="777240"/>
          </a:xfrm>
          <a:prstGeom prst="rect">
            <a:avLst/>
          </a:prstGeom>
          <a:noFill/>
        </p:spPr>
        <p:txBody>
          <a:bodyPr wrap="square" lIns="45720" tIns="27432" rIns="45720" bIns="27432" anchor="t">
            <a:spAutoFit/>
          </a:bodyPr>
          <a:lstStyle/>
          <a:p>
            <a:pPr algn="ctr" rtl="1">
              <a:spcAft>
                <a:spcPts val="600"/>
              </a:spcAft>
            </a:pPr>
            <a:r>
              <a:rPr lang="he-IL" sz="1400" b="0" i="0">
                <a:solidFill>
                  <a:srgbClr val="6B6478"/>
                </a:solidFill>
                <a:latin typeface="Arial"/>
                <a:cs typeface="Arial"/>
              </a:rPr>
              <a:t>הרחקה אוטומטית ל-10 משחקים</a:t>
            </a:r>
          </a:p>
        </p:txBody>
      </p:sp>
      <p:sp>
        <p:nvSpPr>
          <p:cNvPr id="22" name="card"/>
          <p:cNvSpPr/>
          <p:nvPr/>
        </p:nvSpPr>
        <p:spPr>
          <a:xfrm>
            <a:off x="548640" y="4297680"/>
            <a:ext cx="11091672" cy="1965960"/>
          </a:xfrm>
          <a:prstGeom prst="roundRect">
            <a:avLst>
              <a:gd name="adj" fmla="val 8000"/>
            </a:avLst>
          </a:prstGeom>
          <a:solidFill>
            <a:srgbClr val="E6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22960" y="4434840"/>
            <a:ext cx="10543032" cy="411480"/>
          </a:xfrm>
          <a:prstGeom prst="rect">
            <a:avLst/>
          </a:prstGeom>
          <a:noFill/>
        </p:spPr>
        <p:txBody>
          <a:bodyPr wrap="square" lIns="45720" tIns="27432" rIns="45720" bIns="27432" anchor="t">
            <a:spAutoFit/>
          </a:bodyPr>
          <a:lstStyle/>
          <a:p>
            <a:pPr algn="r" rtl="1">
              <a:spcAft>
                <a:spcPts val="600"/>
              </a:spcAft>
            </a:pPr>
            <a:r>
              <a:rPr lang="he-IL" sz="1400" b="1" i="0">
                <a:solidFill>
                  <a:srgbClr val="7B5EA7"/>
                </a:solidFill>
                <a:latin typeface="Arial"/>
                <a:cs typeface="Arial"/>
              </a:rPr>
              <a:t>הודעת הליגה (בתרגום חופשי)</a:t>
            </a:r>
          </a:p>
        </p:txBody>
      </p:sp>
      <p:sp>
        <p:nvSpPr>
          <p:cNvPr id="24" name="TextBox 23"/>
          <p:cNvSpPr txBox="1"/>
          <p:nvPr/>
        </p:nvSpPr>
        <p:spPr>
          <a:xfrm>
            <a:off x="822960" y="4846320"/>
            <a:ext cx="10543032" cy="1163395"/>
          </a:xfrm>
          <a:prstGeom prst="rect">
            <a:avLst/>
          </a:prstGeom>
          <a:noFill/>
        </p:spPr>
        <p:txBody>
          <a:bodyPr wrap="square" lIns="45720" tIns="27432" rIns="45720" bIns="27432" anchor="t">
            <a:spAutoFit/>
          </a:bodyPr>
          <a:lstStyle/>
          <a:p>
            <a:pPr algn="r" rtl="1">
              <a:spcAft>
                <a:spcPts val="600"/>
              </a:spcAft>
            </a:pPr>
            <a:r>
              <a:rPr lang="he-IL" sz="1800" b="0" i="0" dirty="0">
                <a:solidFill>
                  <a:srgbClr val="2B1E3F"/>
                </a:solidFill>
                <a:latin typeface="Arial"/>
                <a:cs typeface="Arial"/>
              </a:rPr>
              <a:t>”כל מגיש שמחזיק או מורח חומרים זרים יורחק מיד מהמשחק ויושעה אוטומטית. אם שחקן אחר יימצא מורח חומר על הכדור, יורחקו גם הוא וגם המגיש.“</a:t>
            </a:r>
            <a:br>
              <a:rPr lang="en-US" sz="1800" b="0" i="0" dirty="0">
                <a:solidFill>
                  <a:srgbClr val="2B1E3F"/>
                </a:solidFill>
                <a:latin typeface="Arial"/>
                <a:cs typeface="Arial"/>
              </a:rPr>
            </a:br>
            <a:br>
              <a:rPr lang="en-US" sz="1800" b="0" i="0" dirty="0">
                <a:solidFill>
                  <a:srgbClr val="2B1E3F"/>
                </a:solidFill>
                <a:latin typeface="Arial"/>
                <a:cs typeface="Arial"/>
              </a:rPr>
            </a:br>
            <a:r>
              <a:rPr lang="en-IL" dirty="0">
                <a:hlinkClick r:id="rId3"/>
              </a:rPr>
              <a:t>https://www.youtube.com/watch?v=9jiySFCrBQ8</a:t>
            </a:r>
            <a:endParaRPr lang="he-IL" sz="1800" b="0" i="0" dirty="0">
              <a:solidFill>
                <a:srgbClr val="2B1E3F"/>
              </a:solidFill>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4415" cy="822960"/>
          </a:xfrm>
          <a:prstGeom prst="rect">
            <a:avLst/>
          </a:prstGeom>
          <a:noFill/>
        </p:spPr>
        <p:txBody>
          <a:bodyPr wrap="square" lIns="45720" tIns="27432" rIns="45720" bIns="27432" anchor="ctr">
            <a:spAutoFit/>
          </a:bodyPr>
          <a:lstStyle/>
          <a:p>
            <a:pPr algn="r" rtl="1">
              <a:spcAft>
                <a:spcPts val="600"/>
              </a:spcAft>
            </a:pPr>
            <a:r>
              <a:rPr lang="he-IL" sz="3400" b="1" i="0">
                <a:solidFill>
                  <a:srgbClr val="2B1E3F"/>
                </a:solidFill>
                <a:latin typeface="Arial"/>
                <a:cs typeface="Arial"/>
              </a:rPr>
              <a:t>הנתונים: קצב הסיבוב של כדורי קרב ב-2021</a:t>
            </a:r>
          </a:p>
        </p:txBody>
      </p:sp>
      <p:pic>
        <p:nvPicPr>
          <p:cNvPr id="3" name="Picture 2" descr="scatter.png"/>
          <p:cNvPicPr>
            <a:picLocks noChangeAspect="1"/>
          </p:cNvPicPr>
          <p:nvPr/>
        </p:nvPicPr>
        <p:blipFill>
          <a:blip r:embed="rId3"/>
          <a:stretch>
            <a:fillRect/>
          </a:stretch>
        </p:blipFill>
        <p:spPr>
          <a:xfrm>
            <a:off x="548640" y="1463040"/>
            <a:ext cx="7498079" cy="4574789"/>
          </a:xfrm>
          <a:prstGeom prst="rect">
            <a:avLst/>
          </a:prstGeom>
        </p:spPr>
      </p:pic>
      <p:sp>
        <p:nvSpPr>
          <p:cNvPr id="4" name="card"/>
          <p:cNvSpPr/>
          <p:nvPr/>
        </p:nvSpPr>
        <p:spPr>
          <a:xfrm>
            <a:off x="10543032" y="1463040"/>
            <a:ext cx="1097280" cy="128016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543032" y="1536192"/>
            <a:ext cx="1097280" cy="685800"/>
          </a:xfrm>
          <a:prstGeom prst="rect">
            <a:avLst/>
          </a:prstGeom>
          <a:noFill/>
        </p:spPr>
        <p:txBody>
          <a:bodyPr wrap="square" lIns="45720" tIns="27432" rIns="45720" bIns="27432" anchor="ctr">
            <a:spAutoFit/>
          </a:bodyPr>
          <a:lstStyle/>
          <a:p>
            <a:pPr algn="ctr" rtl="1">
              <a:spcAft>
                <a:spcPts val="600"/>
              </a:spcAft>
            </a:pPr>
            <a:r>
              <a:rPr lang="he-IL" sz="2200" b="1" i="0">
                <a:solidFill>
                  <a:srgbClr val="7B5EA7"/>
                </a:solidFill>
                <a:latin typeface="Arial"/>
                <a:cs typeface="Arial"/>
              </a:rPr>
              <a:t>7,791</a:t>
            </a:r>
          </a:p>
        </p:txBody>
      </p:sp>
      <p:sp>
        <p:nvSpPr>
          <p:cNvPr id="6" name="TextBox 5"/>
          <p:cNvSpPr txBox="1"/>
          <p:nvPr/>
        </p:nvSpPr>
        <p:spPr>
          <a:xfrm>
            <a:off x="10543032" y="2240280"/>
            <a:ext cx="1097280" cy="411480"/>
          </a:xfrm>
          <a:prstGeom prst="rect">
            <a:avLst/>
          </a:prstGeom>
          <a:noFill/>
        </p:spPr>
        <p:txBody>
          <a:bodyPr wrap="square" lIns="45720" tIns="27432" rIns="45720" bIns="27432" anchor="t">
            <a:spAutoFit/>
          </a:bodyPr>
          <a:lstStyle/>
          <a:p>
            <a:pPr algn="ctr" rtl="1">
              <a:spcAft>
                <a:spcPts val="600"/>
              </a:spcAft>
            </a:pPr>
            <a:r>
              <a:rPr lang="he-IL" sz="1200" b="0" i="0">
                <a:solidFill>
                  <a:srgbClr val="6B6478"/>
                </a:solidFill>
                <a:latin typeface="Arial"/>
                <a:cs typeface="Arial"/>
              </a:rPr>
              <a:t>תצפיות</a:t>
            </a:r>
          </a:p>
        </p:txBody>
      </p:sp>
      <p:sp>
        <p:nvSpPr>
          <p:cNvPr id="7" name="card"/>
          <p:cNvSpPr/>
          <p:nvPr/>
        </p:nvSpPr>
        <p:spPr>
          <a:xfrm>
            <a:off x="9290304" y="1463040"/>
            <a:ext cx="1097280" cy="128016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290304" y="1536192"/>
            <a:ext cx="1097280" cy="685800"/>
          </a:xfrm>
          <a:prstGeom prst="rect">
            <a:avLst/>
          </a:prstGeom>
          <a:noFill/>
        </p:spPr>
        <p:txBody>
          <a:bodyPr wrap="square" lIns="45720" tIns="27432" rIns="45720" bIns="27432" anchor="ctr">
            <a:spAutoFit/>
          </a:bodyPr>
          <a:lstStyle/>
          <a:p>
            <a:pPr algn="ctr" rtl="1">
              <a:spcAft>
                <a:spcPts val="600"/>
              </a:spcAft>
            </a:pPr>
            <a:r>
              <a:rPr lang="he-IL" sz="2200" b="1" i="0">
                <a:solidFill>
                  <a:srgbClr val="7B5EA7"/>
                </a:solidFill>
                <a:latin typeface="Arial"/>
                <a:cs typeface="Arial"/>
              </a:rPr>
              <a:t>182</a:t>
            </a:r>
          </a:p>
        </p:txBody>
      </p:sp>
      <p:sp>
        <p:nvSpPr>
          <p:cNvPr id="9" name="TextBox 8"/>
          <p:cNvSpPr txBox="1"/>
          <p:nvPr/>
        </p:nvSpPr>
        <p:spPr>
          <a:xfrm>
            <a:off x="9290304" y="2240280"/>
            <a:ext cx="1097280" cy="411480"/>
          </a:xfrm>
          <a:prstGeom prst="rect">
            <a:avLst/>
          </a:prstGeom>
          <a:noFill/>
        </p:spPr>
        <p:txBody>
          <a:bodyPr wrap="square" lIns="45720" tIns="27432" rIns="45720" bIns="27432" anchor="t">
            <a:spAutoFit/>
          </a:bodyPr>
          <a:lstStyle/>
          <a:p>
            <a:pPr algn="ctr" rtl="1">
              <a:spcAft>
                <a:spcPts val="600"/>
              </a:spcAft>
            </a:pPr>
            <a:r>
              <a:rPr lang="he-IL" sz="1200" b="0" i="0">
                <a:solidFill>
                  <a:srgbClr val="6B6478"/>
                </a:solidFill>
                <a:latin typeface="Arial"/>
                <a:cs typeface="Arial"/>
              </a:rPr>
              <a:t>ימי משחק</a:t>
            </a:r>
          </a:p>
        </p:txBody>
      </p:sp>
      <p:sp>
        <p:nvSpPr>
          <p:cNvPr id="10" name="card"/>
          <p:cNvSpPr/>
          <p:nvPr/>
        </p:nvSpPr>
        <p:spPr>
          <a:xfrm>
            <a:off x="8037575" y="1463040"/>
            <a:ext cx="1097280" cy="128016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037575" y="1536192"/>
            <a:ext cx="1097280" cy="685800"/>
          </a:xfrm>
          <a:prstGeom prst="rect">
            <a:avLst/>
          </a:prstGeom>
          <a:noFill/>
        </p:spPr>
        <p:txBody>
          <a:bodyPr wrap="square" lIns="45720" tIns="27432" rIns="45720" bIns="27432" anchor="ctr">
            <a:spAutoFit/>
          </a:bodyPr>
          <a:lstStyle/>
          <a:p>
            <a:pPr algn="ctr" rtl="1">
              <a:spcAft>
                <a:spcPts val="600"/>
              </a:spcAft>
            </a:pPr>
            <a:r>
              <a:rPr lang="he-IL" sz="2200" b="1" i="0">
                <a:solidFill>
                  <a:srgbClr val="7B5EA7"/>
                </a:solidFill>
                <a:latin typeface="Arial"/>
                <a:cs typeface="Arial"/>
              </a:rPr>
              <a:t>469</a:t>
            </a:r>
          </a:p>
        </p:txBody>
      </p:sp>
      <p:sp>
        <p:nvSpPr>
          <p:cNvPr id="12" name="TextBox 11"/>
          <p:cNvSpPr txBox="1"/>
          <p:nvPr/>
        </p:nvSpPr>
        <p:spPr>
          <a:xfrm>
            <a:off x="8037575" y="2240280"/>
            <a:ext cx="1097280" cy="411480"/>
          </a:xfrm>
          <a:prstGeom prst="rect">
            <a:avLst/>
          </a:prstGeom>
          <a:noFill/>
        </p:spPr>
        <p:txBody>
          <a:bodyPr wrap="square" lIns="45720" tIns="27432" rIns="45720" bIns="27432" anchor="t">
            <a:spAutoFit/>
          </a:bodyPr>
          <a:lstStyle/>
          <a:p>
            <a:pPr algn="ctr" rtl="1">
              <a:spcAft>
                <a:spcPts val="600"/>
              </a:spcAft>
            </a:pPr>
            <a:r>
              <a:rPr lang="he-IL" sz="1200" b="0" i="0">
                <a:solidFill>
                  <a:srgbClr val="6B6478"/>
                </a:solidFill>
                <a:latin typeface="Arial"/>
                <a:cs typeface="Arial"/>
              </a:rPr>
              <a:t>מגישים</a:t>
            </a:r>
          </a:p>
        </p:txBody>
      </p:sp>
      <p:sp>
        <p:nvSpPr>
          <p:cNvPr id="13" name="TextBox 12"/>
          <p:cNvSpPr txBox="1"/>
          <p:nvPr/>
        </p:nvSpPr>
        <p:spPr>
          <a:xfrm>
            <a:off x="8321040" y="3017520"/>
            <a:ext cx="3319272" cy="1828800"/>
          </a:xfrm>
          <a:prstGeom prst="rect">
            <a:avLst/>
          </a:prstGeom>
          <a:noFill/>
        </p:spPr>
        <p:txBody>
          <a:bodyPr wrap="square" lIns="45720" tIns="27432" rIns="45720" bIns="27432" anchor="t">
            <a:spAutoFit/>
          </a:bodyPr>
          <a:lstStyle/>
          <a:p>
            <a:pPr marR="274320" indent="-274320" algn="r" rtl="1">
              <a:spcAft>
                <a:spcPts val="1000"/>
              </a:spcAft>
              <a:buClr>
                <a:srgbClr val="17A398"/>
              </a:buClr>
              <a:buFont typeface="Arial"/>
              <a:buChar char="•"/>
            </a:pPr>
            <a:r>
              <a:rPr lang="he-IL" sz="1500" b="0" i="0">
                <a:solidFill>
                  <a:srgbClr val="2B1E3F"/>
                </a:solidFill>
                <a:latin typeface="Arial"/>
                <a:cs typeface="Arial"/>
              </a:rPr>
              <a:t>נתוני מעקב חופשיים מאתר Baseball Savant</a:t>
            </a:r>
          </a:p>
          <a:p>
            <a:pPr marR="274320" indent="-274320" algn="r" rtl="1">
              <a:spcAft>
                <a:spcPts val="1000"/>
              </a:spcAft>
              <a:buClr>
                <a:srgbClr val="17A398"/>
              </a:buClr>
              <a:buFont typeface="Arial"/>
              <a:buChar char="•"/>
            </a:pPr>
            <a:r>
              <a:rPr lang="he-IL" sz="1500" b="0" i="0">
                <a:solidFill>
                  <a:srgbClr val="2B1E3F"/>
                </a:solidFill>
                <a:latin typeface="Arial"/>
                <a:cs typeface="Arial"/>
              </a:rPr>
              <a:t>צריך רק שתי עמודות: קצב הסיבוב ותאריך המשחק</a:t>
            </a:r>
          </a:p>
        </p:txBody>
      </p:sp>
      <p:sp>
        <p:nvSpPr>
          <p:cNvPr id="14" name="card"/>
          <p:cNvSpPr/>
          <p:nvPr/>
        </p:nvSpPr>
        <p:spPr>
          <a:xfrm>
            <a:off x="8321040" y="4800600"/>
            <a:ext cx="3319272" cy="1463040"/>
          </a:xfrm>
          <a:prstGeom prst="roundRect">
            <a:avLst>
              <a:gd name="adj" fmla="val 8000"/>
            </a:avLst>
          </a:prstGeom>
          <a:solidFill>
            <a:srgbClr val="FBE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458200" y="4846320"/>
            <a:ext cx="3044952" cy="1371600"/>
          </a:xfrm>
          <a:prstGeom prst="rect">
            <a:avLst/>
          </a:prstGeom>
          <a:noFill/>
        </p:spPr>
        <p:txBody>
          <a:bodyPr wrap="square" lIns="45720" tIns="27432" rIns="45720" bIns="27432" anchor="ctr">
            <a:spAutoFit/>
          </a:bodyPr>
          <a:lstStyle/>
          <a:p>
            <a:pPr algn="r" rtl="1">
              <a:spcAft>
                <a:spcPts val="600"/>
              </a:spcAft>
            </a:pPr>
            <a:r>
              <a:rPr lang="he-IL" sz="1500" b="1" i="0">
                <a:solidFill>
                  <a:srgbClr val="E4572E"/>
                </a:solidFill>
                <a:latin typeface="Arial"/>
                <a:cs typeface="Arial"/>
              </a:rPr>
              <a:t>השאלה: </a:t>
            </a:r>
            <a:r>
              <a:rPr lang="he-IL" sz="1500" b="0" i="0">
                <a:solidFill>
                  <a:srgbClr val="2B1E3F"/>
                </a:solidFill>
                <a:latin typeface="Arial"/>
                <a:cs typeface="Arial"/>
              </a:rPr>
              <a:t>האם אפשר לזהות בנתונים שינוי בקצב הסיבוב שנובע מהאכיפה?</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4415" cy="822960"/>
          </a:xfrm>
          <a:prstGeom prst="rect">
            <a:avLst/>
          </a:prstGeom>
          <a:noFill/>
        </p:spPr>
        <p:txBody>
          <a:bodyPr wrap="square" lIns="45720" tIns="27432" rIns="45720" bIns="27432" anchor="ctr">
            <a:spAutoFit/>
          </a:bodyPr>
          <a:lstStyle/>
          <a:p>
            <a:pPr algn="r" rtl="1">
              <a:spcAft>
                <a:spcPts val="600"/>
              </a:spcAft>
            </a:pPr>
            <a:r>
              <a:rPr lang="he-IL" sz="3400" b="1" i="0">
                <a:solidFill>
                  <a:srgbClr val="2B1E3F"/>
                </a:solidFill>
                <a:latin typeface="Arial"/>
                <a:cs typeface="Arial"/>
              </a:rPr>
              <a:t>הכנת הנתונים: מתאריכים לאינדקס ימים</a:t>
            </a:r>
          </a:p>
        </p:txBody>
      </p:sp>
      <p:sp>
        <p:nvSpPr>
          <p:cNvPr id="3" name="code block"/>
          <p:cNvSpPr/>
          <p:nvPr/>
        </p:nvSpPr>
        <p:spPr>
          <a:xfrm>
            <a:off x="548640" y="1463040"/>
            <a:ext cx="6675120" cy="2194560"/>
          </a:xfrm>
          <a:prstGeom prst="roundRect">
            <a:avLst>
              <a:gd name="adj" fmla="val 8000"/>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code"/>
          <p:cNvSpPr txBox="1"/>
          <p:nvPr/>
        </p:nvSpPr>
        <p:spPr>
          <a:xfrm>
            <a:off x="777240" y="1645920"/>
            <a:ext cx="6217920" cy="1828800"/>
          </a:xfrm>
          <a:prstGeom prst="rect">
            <a:avLst/>
          </a:prstGeom>
          <a:noFill/>
        </p:spPr>
        <p:txBody>
          <a:bodyPr wrap="square" lIns="45720" tIns="27432" rIns="45720" bIns="27432" anchor="t">
            <a:spAutoFit/>
          </a:bodyPr>
          <a:lstStyle/>
          <a:p>
            <a:pPr algn="l" rtl="0">
              <a:spcAft>
                <a:spcPts val="0"/>
              </a:spcAft>
            </a:pPr>
            <a:r>
              <a:rPr lang="en-US" sz="1500" b="0" i="0">
                <a:solidFill>
                  <a:srgbClr val="EDE8F5"/>
                </a:solidFill>
                <a:latin typeface="Courier New"/>
                <a:cs typeface="Courier New"/>
              </a:rPr>
              <a:t>day_ind, date = pd.factorize(</a:t>
            </a:r>
          </a:p>
          <a:p>
            <a:pPr algn="l" rtl="0">
              <a:spcAft>
                <a:spcPts val="0"/>
              </a:spcAft>
            </a:pPr>
            <a:r>
              <a:rPr lang="en-US" sz="1500" b="0" i="0">
                <a:solidFill>
                  <a:srgbClr val="EDE8F5"/>
                </a:solidFill>
                <a:latin typeface="Courier New"/>
                <a:cs typeface="Courier New"/>
              </a:rPr>
              <a:t>    spin_rate_data.game_date, sort=True)</a:t>
            </a:r>
          </a:p>
          <a:p>
            <a:pPr algn="l" rtl="0">
              <a:spcAft>
                <a:spcPts val="0"/>
              </a:spcAft>
            </a:pPr>
            <a:r>
              <a:rPr lang="en-US" sz="1500" b="0" i="0">
                <a:solidFill>
                  <a:srgbClr val="EDE8F5"/>
                </a:solidFill>
                <a:latin typeface="Courier New"/>
                <a:cs typeface="Courier New"/>
              </a:rPr>
              <a:t>spin_rate = spin_rate_data.spin_rate.values</a:t>
            </a:r>
          </a:p>
        </p:txBody>
      </p:sp>
      <p:sp>
        <p:nvSpPr>
          <p:cNvPr id="5" name="code block"/>
          <p:cNvSpPr/>
          <p:nvPr/>
        </p:nvSpPr>
        <p:spPr>
          <a:xfrm>
            <a:off x="548640" y="3886200"/>
            <a:ext cx="6675120" cy="2377440"/>
          </a:xfrm>
          <a:prstGeom prst="roundRect">
            <a:avLst>
              <a:gd name="adj" fmla="val 8000"/>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code"/>
          <p:cNvSpPr txBox="1"/>
          <p:nvPr/>
        </p:nvSpPr>
        <p:spPr>
          <a:xfrm>
            <a:off x="777240" y="4069080"/>
            <a:ext cx="6217920" cy="2011680"/>
          </a:xfrm>
          <a:prstGeom prst="rect">
            <a:avLst/>
          </a:prstGeom>
          <a:noFill/>
        </p:spPr>
        <p:txBody>
          <a:bodyPr wrap="square" lIns="45720" tIns="27432" rIns="45720" bIns="27432" anchor="t">
            <a:spAutoFit/>
          </a:bodyPr>
          <a:lstStyle/>
          <a:p>
            <a:pPr algn="l" rtl="0">
              <a:spcAft>
                <a:spcPts val="0"/>
              </a:spcAft>
            </a:pPr>
            <a:r>
              <a:rPr lang="en-US" sz="1400" b="0" i="0" dirty="0">
                <a:solidFill>
                  <a:srgbClr val="EDE8F5"/>
                </a:solidFill>
                <a:latin typeface="Courier New"/>
                <a:cs typeface="Courier New"/>
              </a:rPr>
              <a:t>&gt;&gt;&gt; </a:t>
            </a:r>
            <a:r>
              <a:rPr lang="en-US" sz="1400" b="0" i="0" dirty="0" err="1">
                <a:solidFill>
                  <a:srgbClr val="EDE8F5"/>
                </a:solidFill>
                <a:latin typeface="Courier New"/>
                <a:cs typeface="Courier New"/>
              </a:rPr>
              <a:t>day_ind</a:t>
            </a:r>
            <a:r>
              <a:rPr lang="en-US" sz="1400" b="0" i="0" dirty="0">
                <a:solidFill>
                  <a:srgbClr val="EDE8F5"/>
                </a:solidFill>
                <a:latin typeface="Courier New"/>
                <a:cs typeface="Courier New"/>
              </a:rPr>
              <a:t>[:5]</a:t>
            </a:r>
          </a:p>
          <a:p>
            <a:pPr algn="l" rtl="0">
              <a:spcAft>
                <a:spcPts val="0"/>
              </a:spcAft>
            </a:pPr>
            <a:r>
              <a:rPr lang="en-US" sz="1400" b="0" i="0" dirty="0">
                <a:solidFill>
                  <a:srgbClr val="EDE8F5"/>
                </a:solidFill>
                <a:latin typeface="Courier New"/>
                <a:cs typeface="Courier New"/>
              </a:rPr>
              <a:t>array([102,  37,  77, 148,  82])</a:t>
            </a:r>
          </a:p>
          <a:p>
            <a:pPr algn="l" rtl="0">
              <a:spcAft>
                <a:spcPts val="0"/>
              </a:spcAft>
            </a:pPr>
            <a:r>
              <a:rPr lang="en-US" sz="1400" b="0" i="0" dirty="0">
                <a:solidFill>
                  <a:srgbClr val="EDE8F5"/>
                </a:solidFill>
                <a:latin typeface="Courier New"/>
                <a:cs typeface="Courier New"/>
              </a:rPr>
              <a:t>&gt;&gt;&gt; date[:3]</a:t>
            </a:r>
          </a:p>
          <a:p>
            <a:pPr algn="l" rtl="0">
              <a:spcAft>
                <a:spcPts val="0"/>
              </a:spcAft>
            </a:pPr>
            <a:r>
              <a:rPr lang="en-US" sz="1400" b="0" i="0" dirty="0" err="1">
                <a:solidFill>
                  <a:srgbClr val="EDE8F5"/>
                </a:solidFill>
                <a:latin typeface="Courier New"/>
                <a:cs typeface="Courier New"/>
              </a:rPr>
              <a:t>DatetimeIndex</a:t>
            </a:r>
            <a:r>
              <a:rPr lang="en-US" sz="1400" b="0" i="0" dirty="0">
                <a:solidFill>
                  <a:srgbClr val="EDE8F5"/>
                </a:solidFill>
                <a:latin typeface="Courier New"/>
                <a:cs typeface="Courier New"/>
              </a:rPr>
              <a:t>(['2021-04-01', '2021-04-02',</a:t>
            </a:r>
          </a:p>
          <a:p>
            <a:pPr algn="l" rtl="0">
              <a:spcAft>
                <a:spcPts val="0"/>
              </a:spcAft>
            </a:pPr>
            <a:r>
              <a:rPr lang="en-US" sz="1400" b="0" i="0" dirty="0">
                <a:solidFill>
                  <a:srgbClr val="EDE8F5"/>
                </a:solidFill>
                <a:latin typeface="Courier New"/>
                <a:cs typeface="Courier New"/>
              </a:rPr>
              <a:t>               '2021-04-03'])</a:t>
            </a:r>
          </a:p>
        </p:txBody>
      </p:sp>
      <p:sp>
        <p:nvSpPr>
          <p:cNvPr id="7" name="card"/>
          <p:cNvSpPr/>
          <p:nvPr/>
        </p:nvSpPr>
        <p:spPr>
          <a:xfrm>
            <a:off x="7543800" y="1463040"/>
            <a:ext cx="4096512" cy="141732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726679" y="1600200"/>
            <a:ext cx="3730752" cy="457200"/>
          </a:xfrm>
          <a:prstGeom prst="rect">
            <a:avLst/>
          </a:prstGeom>
          <a:noFill/>
        </p:spPr>
        <p:txBody>
          <a:bodyPr wrap="square" lIns="45720" tIns="27432" rIns="45720" bIns="27432" anchor="t">
            <a:spAutoFit/>
          </a:bodyPr>
          <a:lstStyle/>
          <a:p>
            <a:pPr algn="r" rtl="0">
              <a:spcAft>
                <a:spcPts val="600"/>
              </a:spcAft>
            </a:pPr>
            <a:r>
              <a:rPr lang="en-US" sz="1700" b="1" i="0">
                <a:solidFill>
                  <a:srgbClr val="17A398"/>
                </a:solidFill>
                <a:latin typeface="Courier New"/>
                <a:cs typeface="Courier New"/>
              </a:rPr>
              <a:t>day_ind</a:t>
            </a:r>
          </a:p>
        </p:txBody>
      </p:sp>
      <p:sp>
        <p:nvSpPr>
          <p:cNvPr id="9" name="TextBox 8"/>
          <p:cNvSpPr txBox="1"/>
          <p:nvPr/>
        </p:nvSpPr>
        <p:spPr>
          <a:xfrm>
            <a:off x="7726679" y="2103120"/>
            <a:ext cx="3730752" cy="685800"/>
          </a:xfrm>
          <a:prstGeom prst="rect">
            <a:avLst/>
          </a:prstGeom>
          <a:noFill/>
        </p:spPr>
        <p:txBody>
          <a:bodyPr wrap="square" lIns="45720" tIns="27432" rIns="45720" bIns="27432" anchor="t">
            <a:spAutoFit/>
          </a:bodyPr>
          <a:lstStyle/>
          <a:p>
            <a:pPr algn="r" rtl="1">
              <a:spcAft>
                <a:spcPts val="600"/>
              </a:spcAft>
            </a:pPr>
            <a:r>
              <a:rPr lang="he-IL" sz="1500" b="0" i="0">
                <a:solidFill>
                  <a:srgbClr val="6B6478"/>
                </a:solidFill>
                <a:latin typeface="Arial"/>
                <a:cs typeface="Arial"/>
              </a:rPr>
              <a:t>לכל תצפית: האינדקס של יום המשחק (0 עד 181)</a:t>
            </a:r>
          </a:p>
        </p:txBody>
      </p:sp>
      <p:sp>
        <p:nvSpPr>
          <p:cNvPr id="10" name="card"/>
          <p:cNvSpPr/>
          <p:nvPr/>
        </p:nvSpPr>
        <p:spPr>
          <a:xfrm>
            <a:off x="7543800" y="3108960"/>
            <a:ext cx="4096512" cy="141732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726679" y="3246120"/>
            <a:ext cx="3730752" cy="457200"/>
          </a:xfrm>
          <a:prstGeom prst="rect">
            <a:avLst/>
          </a:prstGeom>
          <a:noFill/>
        </p:spPr>
        <p:txBody>
          <a:bodyPr wrap="square" lIns="45720" tIns="27432" rIns="45720" bIns="27432" anchor="t">
            <a:spAutoFit/>
          </a:bodyPr>
          <a:lstStyle/>
          <a:p>
            <a:pPr algn="r" rtl="0">
              <a:spcAft>
                <a:spcPts val="600"/>
              </a:spcAft>
            </a:pPr>
            <a:r>
              <a:rPr lang="en-US" sz="1700" b="1" i="0">
                <a:solidFill>
                  <a:srgbClr val="7B5EA7"/>
                </a:solidFill>
                <a:latin typeface="Courier New"/>
                <a:cs typeface="Courier New"/>
              </a:rPr>
              <a:t>date</a:t>
            </a:r>
          </a:p>
        </p:txBody>
      </p:sp>
      <p:sp>
        <p:nvSpPr>
          <p:cNvPr id="12" name="TextBox 11"/>
          <p:cNvSpPr txBox="1"/>
          <p:nvPr/>
        </p:nvSpPr>
        <p:spPr>
          <a:xfrm>
            <a:off x="7726679" y="3749040"/>
            <a:ext cx="3730752" cy="685800"/>
          </a:xfrm>
          <a:prstGeom prst="rect">
            <a:avLst/>
          </a:prstGeom>
          <a:noFill/>
        </p:spPr>
        <p:txBody>
          <a:bodyPr wrap="square" lIns="45720" tIns="27432" rIns="45720" bIns="27432" anchor="t">
            <a:spAutoFit/>
          </a:bodyPr>
          <a:lstStyle/>
          <a:p>
            <a:pPr algn="r" rtl="1">
              <a:spcAft>
                <a:spcPts val="600"/>
              </a:spcAft>
            </a:pPr>
            <a:r>
              <a:rPr lang="he-IL" sz="1500" b="0" i="0">
                <a:solidFill>
                  <a:srgbClr val="6B6478"/>
                </a:solidFill>
                <a:latin typeface="Arial"/>
                <a:cs typeface="Arial"/>
              </a:rPr>
              <a:t>רשימת התאריכים הייחודיים, ממוינת</a:t>
            </a:r>
          </a:p>
        </p:txBody>
      </p:sp>
      <p:sp>
        <p:nvSpPr>
          <p:cNvPr id="13" name="card"/>
          <p:cNvSpPr/>
          <p:nvPr/>
        </p:nvSpPr>
        <p:spPr>
          <a:xfrm>
            <a:off x="7543800" y="4754880"/>
            <a:ext cx="4096512" cy="141732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726679" y="4892040"/>
            <a:ext cx="3730752" cy="457200"/>
          </a:xfrm>
          <a:prstGeom prst="rect">
            <a:avLst/>
          </a:prstGeom>
          <a:noFill/>
        </p:spPr>
        <p:txBody>
          <a:bodyPr wrap="square" lIns="45720" tIns="27432" rIns="45720" bIns="27432" anchor="t">
            <a:spAutoFit/>
          </a:bodyPr>
          <a:lstStyle/>
          <a:p>
            <a:pPr algn="r" rtl="0">
              <a:spcAft>
                <a:spcPts val="600"/>
              </a:spcAft>
            </a:pPr>
            <a:r>
              <a:rPr lang="en-US" sz="1700" b="1" i="0">
                <a:solidFill>
                  <a:srgbClr val="E4572E"/>
                </a:solidFill>
                <a:latin typeface="Courier New"/>
                <a:cs typeface="Courier New"/>
              </a:rPr>
              <a:t>spin_rate</a:t>
            </a:r>
          </a:p>
        </p:txBody>
      </p:sp>
      <p:sp>
        <p:nvSpPr>
          <p:cNvPr id="15" name="TextBox 14"/>
          <p:cNvSpPr txBox="1"/>
          <p:nvPr/>
        </p:nvSpPr>
        <p:spPr>
          <a:xfrm>
            <a:off x="7726679" y="5394960"/>
            <a:ext cx="3730752" cy="685800"/>
          </a:xfrm>
          <a:prstGeom prst="rect">
            <a:avLst/>
          </a:prstGeom>
          <a:noFill/>
        </p:spPr>
        <p:txBody>
          <a:bodyPr wrap="square" lIns="45720" tIns="27432" rIns="45720" bIns="27432" anchor="t">
            <a:spAutoFit/>
          </a:bodyPr>
          <a:lstStyle/>
          <a:p>
            <a:pPr algn="r" rtl="1">
              <a:spcAft>
                <a:spcPts val="600"/>
              </a:spcAft>
            </a:pPr>
            <a:r>
              <a:rPr lang="he-IL" sz="1500" b="0" i="0">
                <a:solidFill>
                  <a:srgbClr val="6B6478"/>
                </a:solidFill>
                <a:latin typeface="Arial"/>
                <a:cs typeface="Arial"/>
              </a:rPr>
              <a:t>וקטור קצבי הסיבוב — הנתונים הנצפים</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4415" cy="822960"/>
          </a:xfrm>
          <a:prstGeom prst="rect">
            <a:avLst/>
          </a:prstGeom>
          <a:noFill/>
        </p:spPr>
        <p:txBody>
          <a:bodyPr wrap="square" lIns="45720" tIns="27432" rIns="45720" bIns="27432" anchor="ctr">
            <a:spAutoFit/>
          </a:bodyPr>
          <a:lstStyle/>
          <a:p>
            <a:pPr algn="r" rtl="1">
              <a:spcAft>
                <a:spcPts val="600"/>
              </a:spcAft>
            </a:pPr>
            <a:r>
              <a:rPr lang="he-IL" sz="3400" b="1" i="0">
                <a:solidFill>
                  <a:srgbClr val="2B1E3F"/>
                </a:solidFill>
                <a:latin typeface="Arial"/>
                <a:cs typeface="Arial"/>
              </a:rPr>
              <a:t>המודל: נקודת שינוי בממוצע</a:t>
            </a:r>
          </a:p>
        </p:txBody>
      </p:sp>
      <p:sp>
        <p:nvSpPr>
          <p:cNvPr id="3" name="card"/>
          <p:cNvSpPr/>
          <p:nvPr/>
        </p:nvSpPr>
        <p:spPr>
          <a:xfrm>
            <a:off x="548640" y="1463040"/>
            <a:ext cx="11091672" cy="109728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f_like.png"/>
          <p:cNvPicPr>
            <a:picLocks noChangeAspect="1"/>
          </p:cNvPicPr>
          <p:nvPr/>
        </p:nvPicPr>
        <p:blipFill>
          <a:blip r:embed="rId3"/>
          <a:stretch>
            <a:fillRect/>
          </a:stretch>
        </p:blipFill>
        <p:spPr>
          <a:xfrm>
            <a:off x="822960" y="1753308"/>
            <a:ext cx="3291840" cy="516742"/>
          </a:xfrm>
          <a:prstGeom prst="rect">
            <a:avLst/>
          </a:prstGeom>
        </p:spPr>
      </p:pic>
      <p:sp>
        <p:nvSpPr>
          <p:cNvPr id="5" name="TextBox 4"/>
          <p:cNvSpPr txBox="1"/>
          <p:nvPr/>
        </p:nvSpPr>
        <p:spPr>
          <a:xfrm>
            <a:off x="4389120" y="1600200"/>
            <a:ext cx="7040880" cy="822960"/>
          </a:xfrm>
          <a:prstGeom prst="rect">
            <a:avLst/>
          </a:prstGeom>
          <a:noFill/>
        </p:spPr>
        <p:txBody>
          <a:bodyPr wrap="square" lIns="45720" tIns="27432" rIns="45720" bIns="27432" anchor="ctr">
            <a:spAutoFit/>
          </a:bodyPr>
          <a:lstStyle/>
          <a:p>
            <a:pPr algn="r" rtl="1">
              <a:spcAft>
                <a:spcPts val="600"/>
              </a:spcAft>
            </a:pPr>
            <a:r>
              <a:rPr lang="he-IL" sz="1800" b="0" i="0">
                <a:solidFill>
                  <a:srgbClr val="2B1E3F"/>
                </a:solidFill>
                <a:latin typeface="Arial"/>
                <a:cs typeface="Arial"/>
              </a:rPr>
              <a:t>כל קצב סיבוב מתפלג נורמלית סביב הממוצע של היום שבו נזרק</a:t>
            </a:r>
          </a:p>
        </p:txBody>
      </p:sp>
      <p:sp>
        <p:nvSpPr>
          <p:cNvPr id="6" name="Rounded Rectangle 5"/>
          <p:cNvSpPr/>
          <p:nvPr/>
        </p:nvSpPr>
        <p:spPr>
          <a:xfrm>
            <a:off x="822960" y="3246120"/>
            <a:ext cx="4617720" cy="640080"/>
          </a:xfrm>
          <a:prstGeom prst="roundRect">
            <a:avLst>
              <a:gd name="adj" fmla="val 30000"/>
            </a:avLst>
          </a:prstGeom>
          <a:solidFill>
            <a:srgbClr val="17A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5532120" y="3474720"/>
            <a:ext cx="5806440" cy="640080"/>
          </a:xfrm>
          <a:prstGeom prst="roundRect">
            <a:avLst>
              <a:gd name="adj" fmla="val 30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22960" y="3246120"/>
            <a:ext cx="4663440" cy="640080"/>
          </a:xfrm>
          <a:prstGeom prst="rect">
            <a:avLst/>
          </a:prstGeom>
          <a:noFill/>
        </p:spPr>
        <p:txBody>
          <a:bodyPr wrap="square" lIns="45720" tIns="27432" rIns="45720" bIns="27432" anchor="ctr">
            <a:spAutoFit/>
          </a:bodyPr>
          <a:lstStyle/>
          <a:p>
            <a:pPr algn="ctr" rtl="1">
              <a:spcAft>
                <a:spcPts val="600"/>
              </a:spcAft>
            </a:pPr>
            <a:r>
              <a:rPr lang="en-US" sz="1800" b="1" i="0">
                <a:solidFill>
                  <a:srgbClr val="FFFFFF"/>
                </a:solidFill>
                <a:latin typeface="Arial"/>
                <a:cs typeface="Arial"/>
              </a:rPr>
              <a:t>μ₁</a:t>
            </a:r>
            <a:r>
              <a:rPr lang="he-IL" sz="1800" b="1" i="0">
                <a:solidFill>
                  <a:srgbClr val="FFFFFF"/>
                </a:solidFill>
                <a:latin typeface="Arial"/>
                <a:cs typeface="Arial"/>
              </a:rPr>
              <a:t>  —  לפני האכיפה</a:t>
            </a:r>
          </a:p>
        </p:txBody>
      </p:sp>
      <p:sp>
        <p:nvSpPr>
          <p:cNvPr id="9" name="TextBox 8"/>
          <p:cNvSpPr txBox="1"/>
          <p:nvPr/>
        </p:nvSpPr>
        <p:spPr>
          <a:xfrm>
            <a:off x="5486400" y="3474720"/>
            <a:ext cx="5852160" cy="640080"/>
          </a:xfrm>
          <a:prstGeom prst="rect">
            <a:avLst/>
          </a:prstGeom>
          <a:noFill/>
        </p:spPr>
        <p:txBody>
          <a:bodyPr wrap="square" lIns="45720" tIns="27432" rIns="45720" bIns="27432" anchor="ctr">
            <a:spAutoFit/>
          </a:bodyPr>
          <a:lstStyle/>
          <a:p>
            <a:pPr algn="ctr" rtl="1">
              <a:spcAft>
                <a:spcPts val="600"/>
              </a:spcAft>
            </a:pPr>
            <a:r>
              <a:rPr lang="en-US" sz="1800" b="1" i="0">
                <a:solidFill>
                  <a:srgbClr val="FFFFFF"/>
                </a:solidFill>
                <a:latin typeface="Arial"/>
                <a:cs typeface="Arial"/>
              </a:rPr>
              <a:t>μ₂</a:t>
            </a:r>
            <a:r>
              <a:rPr lang="he-IL" sz="1800" b="1" i="0">
                <a:solidFill>
                  <a:srgbClr val="FFFFFF"/>
                </a:solidFill>
                <a:latin typeface="Arial"/>
                <a:cs typeface="Arial"/>
              </a:rPr>
              <a:t>  —  אחרי האכיפה</a:t>
            </a:r>
          </a:p>
        </p:txBody>
      </p:sp>
      <p:cxnSp>
        <p:nvCxnSpPr>
          <p:cNvPr id="10" name="Connector 9"/>
          <p:cNvCxnSpPr/>
          <p:nvPr/>
        </p:nvCxnSpPr>
        <p:spPr>
          <a:xfrm>
            <a:off x="5486400" y="2926079"/>
            <a:ext cx="0" cy="1508761"/>
          </a:xfrm>
          <a:prstGeom prst="line">
            <a:avLst/>
          </a:prstGeom>
          <a:ln w="31750">
            <a:solidFill>
              <a:srgbClr val="2B1E3F"/>
            </a:solidFill>
            <a:prstDash val="dash"/>
          </a:ln>
        </p:spPr>
        <p:style>
          <a:lnRef idx="2">
            <a:schemeClr val="accent1"/>
          </a:lnRef>
          <a:fillRef idx="0">
            <a:schemeClr val="accent1"/>
          </a:fillRef>
          <a:effectRef idx="1">
            <a:schemeClr val="accent1"/>
          </a:effectRef>
          <a:fontRef idx="minor">
            <a:schemeClr val="tx1"/>
          </a:fontRef>
        </p:style>
      </p:cxnSp>
      <p:sp>
        <p:nvSpPr>
          <p:cNvPr id="11" name="badge τ"/>
          <p:cNvSpPr/>
          <p:nvPr/>
        </p:nvSpPr>
        <p:spPr>
          <a:xfrm>
            <a:off x="5166360" y="2286000"/>
            <a:ext cx="640080" cy="640080"/>
          </a:xfrm>
          <a:prstGeom prst="ellipse">
            <a:avLst/>
          </a:prstGeom>
          <a:solidFill>
            <a:srgbClr val="2B1E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200" b="1">
                <a:solidFill>
                  <a:srgbClr val="FFFFFF"/>
                </a:solidFill>
                <a:latin typeface="Cambria Math"/>
                <a:cs typeface="Cambria Math"/>
              </a:rPr>
              <a:t>τ</a:t>
            </a:r>
          </a:p>
        </p:txBody>
      </p:sp>
      <p:sp>
        <p:nvSpPr>
          <p:cNvPr id="12" name="TextBox 11"/>
          <p:cNvSpPr txBox="1"/>
          <p:nvPr/>
        </p:nvSpPr>
        <p:spPr>
          <a:xfrm>
            <a:off x="822960" y="4206240"/>
            <a:ext cx="1463040" cy="365760"/>
          </a:xfrm>
          <a:prstGeom prst="rect">
            <a:avLst/>
          </a:prstGeom>
          <a:noFill/>
        </p:spPr>
        <p:txBody>
          <a:bodyPr wrap="square" lIns="45720" tIns="27432" rIns="45720" bIns="27432" anchor="t">
            <a:spAutoFit/>
          </a:bodyPr>
          <a:lstStyle/>
          <a:p>
            <a:pPr algn="l" rtl="1">
              <a:spcAft>
                <a:spcPts val="600"/>
              </a:spcAft>
            </a:pPr>
            <a:r>
              <a:rPr lang="he-IL" sz="1300" b="0" i="0">
                <a:solidFill>
                  <a:srgbClr val="6B6478"/>
                </a:solidFill>
                <a:latin typeface="Arial"/>
                <a:cs typeface="Arial"/>
              </a:rPr>
              <a:t>1 באפריל</a:t>
            </a:r>
          </a:p>
        </p:txBody>
      </p:sp>
      <p:sp>
        <p:nvSpPr>
          <p:cNvPr id="13" name="TextBox 12"/>
          <p:cNvSpPr txBox="1"/>
          <p:nvPr/>
        </p:nvSpPr>
        <p:spPr>
          <a:xfrm>
            <a:off x="9875520" y="4206240"/>
            <a:ext cx="1463040" cy="365760"/>
          </a:xfrm>
          <a:prstGeom prst="rect">
            <a:avLst/>
          </a:prstGeom>
          <a:noFill/>
        </p:spPr>
        <p:txBody>
          <a:bodyPr wrap="square" lIns="45720" tIns="27432" rIns="45720" bIns="27432" anchor="t">
            <a:spAutoFit/>
          </a:bodyPr>
          <a:lstStyle/>
          <a:p>
            <a:pPr algn="r" rtl="1">
              <a:spcAft>
                <a:spcPts val="600"/>
              </a:spcAft>
            </a:pPr>
            <a:r>
              <a:rPr lang="he-IL" sz="1300" b="0" i="0">
                <a:solidFill>
                  <a:srgbClr val="6B6478"/>
                </a:solidFill>
                <a:latin typeface="Arial"/>
                <a:cs typeface="Arial"/>
              </a:rPr>
              <a:t>3 באוקטובר</a:t>
            </a:r>
          </a:p>
        </p:txBody>
      </p:sp>
      <p:pic>
        <p:nvPicPr>
          <p:cNvPr id="14" name="Picture 13" descr="f_r1.png"/>
          <p:cNvPicPr>
            <a:picLocks noChangeAspect="1"/>
          </p:cNvPicPr>
          <p:nvPr/>
        </p:nvPicPr>
        <p:blipFill>
          <a:blip r:embed="rId4"/>
          <a:stretch>
            <a:fillRect/>
          </a:stretch>
        </p:blipFill>
        <p:spPr>
          <a:xfrm>
            <a:off x="1711819" y="4526280"/>
            <a:ext cx="2885720" cy="502920"/>
          </a:xfrm>
          <a:prstGeom prst="rect">
            <a:avLst/>
          </a:prstGeom>
        </p:spPr>
      </p:pic>
      <p:pic>
        <p:nvPicPr>
          <p:cNvPr id="15" name="Picture 14" descr="f_r2.png"/>
          <p:cNvPicPr>
            <a:picLocks noChangeAspect="1"/>
          </p:cNvPicPr>
          <p:nvPr/>
        </p:nvPicPr>
        <p:blipFill>
          <a:blip r:embed="rId5"/>
          <a:stretch>
            <a:fillRect/>
          </a:stretch>
        </p:blipFill>
        <p:spPr>
          <a:xfrm>
            <a:off x="7198219" y="4526280"/>
            <a:ext cx="2885720" cy="502920"/>
          </a:xfrm>
          <a:prstGeom prst="rect">
            <a:avLst/>
          </a:prstGeom>
        </p:spPr>
      </p:pic>
      <p:sp>
        <p:nvSpPr>
          <p:cNvPr id="16" name="TextBox 15"/>
          <p:cNvSpPr txBox="1"/>
          <p:nvPr/>
        </p:nvSpPr>
        <p:spPr>
          <a:xfrm>
            <a:off x="548640" y="5349240"/>
            <a:ext cx="11091672" cy="822960"/>
          </a:xfrm>
          <a:prstGeom prst="rect">
            <a:avLst/>
          </a:prstGeom>
          <a:noFill/>
        </p:spPr>
        <p:txBody>
          <a:bodyPr wrap="square" lIns="45720" tIns="27432" rIns="45720" bIns="27432" anchor="ctr">
            <a:spAutoFit/>
          </a:bodyPr>
          <a:lstStyle/>
          <a:p>
            <a:pPr algn="ctr" rtl="1">
              <a:spcAft>
                <a:spcPts val="600"/>
              </a:spcAft>
            </a:pPr>
            <a:r>
              <a:rPr lang="he-IL" sz="1700" b="0" i="0">
                <a:solidFill>
                  <a:srgbClr val="6B6478"/>
                </a:solidFill>
                <a:latin typeface="Arial"/>
                <a:cs typeface="Arial"/>
              </a:rPr>
              <a:t>נניח שביום לא ידוע </a:t>
            </a:r>
            <a:r>
              <a:rPr lang="en-US" sz="1700" b="0" i="0">
                <a:solidFill>
                  <a:srgbClr val="6B6478"/>
                </a:solidFill>
                <a:latin typeface="Cambria Math"/>
                <a:cs typeface="Cambria Math"/>
              </a:rPr>
              <a:t>τ</a:t>
            </a:r>
            <a:r>
              <a:rPr lang="he-IL" sz="1700" b="0" i="0">
                <a:solidFill>
                  <a:srgbClr val="6B6478"/>
                </a:solidFill>
                <a:latin typeface="Arial"/>
                <a:cs typeface="Arial"/>
              </a:rPr>
              <a:t> הממוצע קופץ לערך נמוך יותר — ונבדוק אם המיקום שיתקבל תואם את מועד האכיפה</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4415" cy="822960"/>
          </a:xfrm>
          <a:prstGeom prst="rect">
            <a:avLst/>
          </a:prstGeom>
          <a:noFill/>
        </p:spPr>
        <p:txBody>
          <a:bodyPr wrap="square" lIns="45720" tIns="27432" rIns="45720" bIns="27432" anchor="ctr">
            <a:spAutoFit/>
          </a:bodyPr>
          <a:lstStyle/>
          <a:p>
            <a:pPr algn="r" rtl="1">
              <a:spcAft>
                <a:spcPts val="600"/>
              </a:spcAft>
            </a:pPr>
            <a:r>
              <a:rPr lang="he-IL" sz="3400" b="1" i="0">
                <a:solidFill>
                  <a:srgbClr val="2B1E3F"/>
                </a:solidFill>
                <a:latin typeface="Arial"/>
                <a:cs typeface="Arial"/>
              </a:rPr>
              <a:t>משתנים סטוכסטיים ומשתנים דטרמיניסטיים</a:t>
            </a:r>
          </a:p>
        </p:txBody>
      </p:sp>
      <p:sp>
        <p:nvSpPr>
          <p:cNvPr id="3" name="card"/>
          <p:cNvSpPr/>
          <p:nvPr/>
        </p:nvSpPr>
        <p:spPr>
          <a:xfrm>
            <a:off x="548640" y="1463040"/>
            <a:ext cx="11091672" cy="914400"/>
          </a:xfrm>
          <a:prstGeom prst="roundRect">
            <a:avLst>
              <a:gd name="adj" fmla="val 8000"/>
            </a:avLst>
          </a:prstGeom>
          <a:solidFill>
            <a:srgbClr val="E6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777240" y="1463040"/>
            <a:ext cx="10634472" cy="914400"/>
          </a:xfrm>
          <a:prstGeom prst="rect">
            <a:avLst/>
          </a:prstGeom>
          <a:noFill/>
        </p:spPr>
        <p:txBody>
          <a:bodyPr wrap="square" lIns="45720" tIns="27432" rIns="45720" bIns="27432" anchor="ctr">
            <a:spAutoFit/>
          </a:bodyPr>
          <a:lstStyle/>
          <a:p>
            <a:pPr algn="r" rtl="1">
              <a:spcAft>
                <a:spcPts val="600"/>
              </a:spcAft>
            </a:pPr>
            <a:r>
              <a:rPr lang="he-IL" sz="1700" b="1" i="0">
                <a:solidFill>
                  <a:srgbClr val="7B5EA7"/>
                </a:solidFill>
                <a:latin typeface="Arial"/>
                <a:cs typeface="Arial"/>
              </a:rPr>
              <a:t>הסתברות בייסיאנית היא אפיסטמית: </a:t>
            </a:r>
            <a:r>
              <a:rPr lang="he-IL" sz="1700" b="0" i="0">
                <a:solidFill>
                  <a:srgbClr val="2B1E3F"/>
                </a:solidFill>
                <a:latin typeface="Arial"/>
                <a:cs typeface="Arial"/>
              </a:rPr>
              <a:t>p(x) מייצגת את הידע ואי-הוודאות שלנו לגבי x — לא בהכרח תהליך פיזיקלי מקרי</a:t>
            </a:r>
          </a:p>
        </p:txBody>
      </p:sp>
      <p:sp>
        <p:nvSpPr>
          <p:cNvPr id="5" name="card"/>
          <p:cNvSpPr/>
          <p:nvPr/>
        </p:nvSpPr>
        <p:spPr>
          <a:xfrm>
            <a:off x="6281928" y="2606040"/>
            <a:ext cx="5358384" cy="365760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556248" y="2788920"/>
            <a:ext cx="4809744" cy="548640"/>
          </a:xfrm>
          <a:prstGeom prst="rect">
            <a:avLst/>
          </a:prstGeom>
          <a:noFill/>
        </p:spPr>
        <p:txBody>
          <a:bodyPr wrap="square" lIns="45720" tIns="27432" rIns="45720" bIns="27432" anchor="t">
            <a:spAutoFit/>
          </a:bodyPr>
          <a:lstStyle/>
          <a:p>
            <a:pPr algn="r" rtl="1">
              <a:spcAft>
                <a:spcPts val="600"/>
              </a:spcAft>
            </a:pPr>
            <a:r>
              <a:rPr lang="he-IL" sz="2200" b="1" i="0">
                <a:solidFill>
                  <a:srgbClr val="17A398"/>
                </a:solidFill>
                <a:latin typeface="Arial"/>
                <a:cs typeface="Arial"/>
              </a:rPr>
              <a:t>סטוכסטי</a:t>
            </a:r>
          </a:p>
        </p:txBody>
      </p:sp>
      <p:sp>
        <p:nvSpPr>
          <p:cNvPr id="7" name="badge μ₁"/>
          <p:cNvSpPr/>
          <p:nvPr/>
        </p:nvSpPr>
        <p:spPr>
          <a:xfrm>
            <a:off x="10725912" y="3429000"/>
            <a:ext cx="640080" cy="640080"/>
          </a:xfrm>
          <a:prstGeom prst="ellipse">
            <a:avLst/>
          </a:prstGeom>
          <a:solidFill>
            <a:srgbClr val="17A39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rial"/>
                <a:cs typeface="Arial"/>
              </a:rPr>
              <a:t>μ₁</a:t>
            </a:r>
          </a:p>
        </p:txBody>
      </p:sp>
      <p:sp>
        <p:nvSpPr>
          <p:cNvPr id="8" name="badge μ₂"/>
          <p:cNvSpPr/>
          <p:nvPr/>
        </p:nvSpPr>
        <p:spPr>
          <a:xfrm>
            <a:off x="9948672" y="3429000"/>
            <a:ext cx="640080" cy="640080"/>
          </a:xfrm>
          <a:prstGeom prst="ellipse">
            <a:avLst/>
          </a:prstGeom>
          <a:solidFill>
            <a:srgbClr val="17A39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rial"/>
                <a:cs typeface="Arial"/>
              </a:rPr>
              <a:t>μ₂</a:t>
            </a:r>
          </a:p>
        </p:txBody>
      </p:sp>
      <p:sp>
        <p:nvSpPr>
          <p:cNvPr id="9" name="badge τ"/>
          <p:cNvSpPr/>
          <p:nvPr/>
        </p:nvSpPr>
        <p:spPr>
          <a:xfrm>
            <a:off x="9171432" y="3429000"/>
            <a:ext cx="640080" cy="640080"/>
          </a:xfrm>
          <a:prstGeom prst="ellipse">
            <a:avLst/>
          </a:prstGeom>
          <a:solidFill>
            <a:srgbClr val="17A39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Cambria Math"/>
                <a:cs typeface="Cambria Math"/>
              </a:rPr>
              <a:t>τ</a:t>
            </a:r>
          </a:p>
        </p:txBody>
      </p:sp>
      <p:sp>
        <p:nvSpPr>
          <p:cNvPr id="10" name="badge σ"/>
          <p:cNvSpPr/>
          <p:nvPr/>
        </p:nvSpPr>
        <p:spPr>
          <a:xfrm>
            <a:off x="8394192" y="3429000"/>
            <a:ext cx="640080" cy="640080"/>
          </a:xfrm>
          <a:prstGeom prst="ellipse">
            <a:avLst/>
          </a:prstGeom>
          <a:solidFill>
            <a:srgbClr val="17A39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rial"/>
                <a:cs typeface="Arial"/>
              </a:rPr>
              <a:t>σ</a:t>
            </a:r>
          </a:p>
        </p:txBody>
      </p:sp>
      <p:sp>
        <p:nvSpPr>
          <p:cNvPr id="11" name="TextBox 10"/>
          <p:cNvSpPr txBox="1"/>
          <p:nvPr/>
        </p:nvSpPr>
        <p:spPr>
          <a:xfrm>
            <a:off x="6556248" y="4297680"/>
            <a:ext cx="4809744" cy="1828800"/>
          </a:xfrm>
          <a:prstGeom prst="rect">
            <a:avLst/>
          </a:prstGeom>
          <a:noFill/>
        </p:spPr>
        <p:txBody>
          <a:bodyPr wrap="square" lIns="45720" tIns="27432" rIns="45720" bIns="27432" anchor="t">
            <a:spAutoFit/>
          </a:bodyPr>
          <a:lstStyle/>
          <a:p>
            <a:pPr marR="274320" indent="-274320" algn="r" rtl="1">
              <a:spcAft>
                <a:spcPts val="800"/>
              </a:spcAft>
              <a:buClr>
                <a:srgbClr val="17A398"/>
              </a:buClr>
              <a:buFont typeface="Arial"/>
              <a:buChar char="•"/>
            </a:pPr>
            <a:r>
              <a:rPr lang="he-IL" sz="1600" b="0" i="0">
                <a:solidFill>
                  <a:srgbClr val="2B1E3F"/>
                </a:solidFill>
                <a:latin typeface="Arial"/>
                <a:cs typeface="Arial"/>
              </a:rPr>
              <a:t>גם אם נדע את ההורים — הערך עדיין לא ודאי</a:t>
            </a:r>
          </a:p>
          <a:p>
            <a:pPr marR="274320" indent="-274320" algn="r" rtl="1">
              <a:spcAft>
                <a:spcPts val="800"/>
              </a:spcAft>
              <a:buClr>
                <a:srgbClr val="17A398"/>
              </a:buClr>
              <a:buFont typeface="Arial"/>
              <a:buChar char="•"/>
            </a:pPr>
            <a:r>
              <a:rPr lang="he-IL" sz="1600" b="0" i="0">
                <a:solidFill>
                  <a:srgbClr val="2B1E3F"/>
                </a:solidFill>
                <a:latin typeface="Arial"/>
                <a:cs typeface="Arial"/>
              </a:rPr>
              <a:t>מאופיין בהתפלגות הסתברות</a:t>
            </a:r>
          </a:p>
          <a:p>
            <a:pPr marR="274320" indent="-274320" algn="r" rtl="1">
              <a:spcAft>
                <a:spcPts val="800"/>
              </a:spcAft>
              <a:buClr>
                <a:srgbClr val="17A398"/>
              </a:buClr>
              <a:buFont typeface="Arial"/>
              <a:buChar char="•"/>
            </a:pPr>
            <a:r>
              <a:rPr lang="he-IL" sz="1600" b="0" i="0">
                <a:solidFill>
                  <a:srgbClr val="2B1E3F"/>
                </a:solidFill>
                <a:latin typeface="Arial"/>
                <a:cs typeface="Arial"/>
              </a:rPr>
              <a:t>למשל pm.Normal או pm.Uniform</a:t>
            </a:r>
          </a:p>
        </p:txBody>
      </p:sp>
      <p:sp>
        <p:nvSpPr>
          <p:cNvPr id="12" name="card"/>
          <p:cNvSpPr/>
          <p:nvPr/>
        </p:nvSpPr>
        <p:spPr>
          <a:xfrm>
            <a:off x="548640" y="2606040"/>
            <a:ext cx="5358384" cy="365760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22959" y="2788920"/>
            <a:ext cx="4809744" cy="548640"/>
          </a:xfrm>
          <a:prstGeom prst="rect">
            <a:avLst/>
          </a:prstGeom>
          <a:noFill/>
        </p:spPr>
        <p:txBody>
          <a:bodyPr wrap="square" lIns="45720" tIns="27432" rIns="45720" bIns="27432" anchor="t">
            <a:spAutoFit/>
          </a:bodyPr>
          <a:lstStyle/>
          <a:p>
            <a:pPr algn="r" rtl="1">
              <a:spcAft>
                <a:spcPts val="600"/>
              </a:spcAft>
            </a:pPr>
            <a:r>
              <a:rPr lang="he-IL" sz="2200" b="1" i="0">
                <a:solidFill>
                  <a:srgbClr val="E4572E"/>
                </a:solidFill>
                <a:latin typeface="Arial"/>
                <a:cs typeface="Arial"/>
              </a:rPr>
              <a:t>דטרמיניסטי</a:t>
            </a:r>
          </a:p>
        </p:txBody>
      </p:sp>
      <p:sp>
        <p:nvSpPr>
          <p:cNvPr id="14" name="badge r"/>
          <p:cNvSpPr/>
          <p:nvPr/>
        </p:nvSpPr>
        <p:spPr>
          <a:xfrm>
            <a:off x="4992624" y="3429000"/>
            <a:ext cx="640080" cy="64008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Arial"/>
                <a:cs typeface="Arial"/>
              </a:rPr>
              <a:t>r</a:t>
            </a:r>
          </a:p>
        </p:txBody>
      </p:sp>
      <p:sp>
        <p:nvSpPr>
          <p:cNvPr id="15" name="TextBox 14"/>
          <p:cNvSpPr txBox="1"/>
          <p:nvPr/>
        </p:nvSpPr>
        <p:spPr>
          <a:xfrm>
            <a:off x="822959" y="4297680"/>
            <a:ext cx="4809744" cy="999248"/>
          </a:xfrm>
          <a:prstGeom prst="rect">
            <a:avLst/>
          </a:prstGeom>
          <a:noFill/>
        </p:spPr>
        <p:txBody>
          <a:bodyPr wrap="square" lIns="45720" tIns="27432" rIns="45720" bIns="27432" anchor="t">
            <a:spAutoFit/>
          </a:bodyPr>
          <a:lstStyle/>
          <a:p>
            <a:pPr marR="274320" indent="-274320" algn="r" rtl="1">
              <a:spcAft>
                <a:spcPts val="800"/>
              </a:spcAft>
              <a:buClr>
                <a:srgbClr val="E4572E"/>
              </a:buClr>
              <a:buFont typeface="Arial"/>
              <a:buChar char="•"/>
            </a:pPr>
            <a:r>
              <a:rPr lang="he-IL" sz="1600" b="0" i="0" dirty="0">
                <a:solidFill>
                  <a:srgbClr val="2B1E3F"/>
                </a:solidFill>
                <a:latin typeface="Arial"/>
                <a:cs typeface="Arial"/>
              </a:rPr>
              <a:t>נקבע לגמרי מ</a:t>
            </a:r>
            <a:r>
              <a:rPr lang="en-US" sz="1600" b="0" i="0" dirty="0">
                <a:solidFill>
                  <a:srgbClr val="2B1E3F"/>
                </a:solidFill>
                <a:latin typeface="Arial"/>
                <a:cs typeface="Arial"/>
              </a:rPr>
              <a:t>"</a:t>
            </a:r>
            <a:r>
              <a:rPr lang="he-IL" sz="1600" b="0" i="0" dirty="0">
                <a:solidFill>
                  <a:srgbClr val="2B1E3F"/>
                </a:solidFill>
                <a:latin typeface="Arial"/>
                <a:cs typeface="Arial"/>
              </a:rPr>
              <a:t>ההורים</a:t>
            </a:r>
            <a:r>
              <a:rPr lang="en-US" sz="1600" b="0" i="0" dirty="0">
                <a:solidFill>
                  <a:srgbClr val="2B1E3F"/>
                </a:solidFill>
                <a:latin typeface="Arial"/>
                <a:cs typeface="Arial"/>
              </a:rPr>
              <a:t>"</a:t>
            </a:r>
            <a:r>
              <a:rPr lang="he-IL" sz="1600" b="0" i="0" dirty="0">
                <a:solidFill>
                  <a:srgbClr val="2B1E3F"/>
                </a:solidFill>
                <a:latin typeface="Arial"/>
                <a:cs typeface="Arial"/>
              </a:rPr>
              <a:t> שלו</a:t>
            </a:r>
          </a:p>
          <a:p>
            <a:pPr marR="274320" indent="-274320" algn="r" rtl="1">
              <a:spcAft>
                <a:spcPts val="800"/>
              </a:spcAft>
              <a:buClr>
                <a:srgbClr val="E4572E"/>
              </a:buClr>
              <a:buFont typeface="Arial"/>
              <a:buChar char="•"/>
            </a:pPr>
            <a:r>
              <a:rPr lang="he-IL" sz="1600" b="0" i="0" dirty="0">
                <a:solidFill>
                  <a:srgbClr val="2B1E3F"/>
                </a:solidFill>
                <a:latin typeface="Arial"/>
                <a:cs typeface="Arial"/>
              </a:rPr>
              <a:t>פונקציה מתמטית של </a:t>
            </a:r>
            <a:r>
              <a:rPr lang="en-US" sz="1600" b="0" i="0" dirty="0">
                <a:solidFill>
                  <a:srgbClr val="2B1E3F"/>
                </a:solidFill>
                <a:latin typeface="Arial"/>
                <a:cs typeface="Arial"/>
              </a:rPr>
              <a:t>"</a:t>
            </a:r>
            <a:r>
              <a:rPr lang="he-IL" sz="1600" b="0" i="0" dirty="0">
                <a:solidFill>
                  <a:srgbClr val="2B1E3F"/>
                </a:solidFill>
                <a:latin typeface="Arial"/>
                <a:cs typeface="Arial"/>
              </a:rPr>
              <a:t>ההורים</a:t>
            </a:r>
            <a:r>
              <a:rPr lang="en-US" sz="1600" b="0" i="0">
                <a:solidFill>
                  <a:srgbClr val="2B1E3F"/>
                </a:solidFill>
                <a:latin typeface="Arial"/>
                <a:cs typeface="Arial"/>
              </a:rPr>
              <a:t>"</a:t>
            </a:r>
            <a:r>
              <a:rPr lang="he-IL" sz="1600" b="0" i="0">
                <a:solidFill>
                  <a:srgbClr val="2B1E3F"/>
                </a:solidFill>
                <a:latin typeface="Arial"/>
                <a:cs typeface="Arial"/>
              </a:rPr>
              <a:t> </a:t>
            </a:r>
            <a:r>
              <a:rPr lang="he-IL" sz="1600" b="0" i="0" dirty="0">
                <a:solidFill>
                  <a:srgbClr val="2B1E3F"/>
                </a:solidFill>
                <a:latin typeface="Arial"/>
                <a:cs typeface="Arial"/>
              </a:rPr>
              <a:t>(”החלק המערכתי“)</a:t>
            </a:r>
          </a:p>
          <a:p>
            <a:pPr marR="274320" indent="-274320" algn="r" rtl="1">
              <a:spcAft>
                <a:spcPts val="800"/>
              </a:spcAft>
              <a:buClr>
                <a:srgbClr val="E4572E"/>
              </a:buClr>
              <a:buFont typeface="Arial"/>
              <a:buChar char="•"/>
            </a:pPr>
            <a:r>
              <a:rPr lang="he-IL" sz="1600" b="0" i="0" dirty="0">
                <a:solidFill>
                  <a:srgbClr val="2B1E3F"/>
                </a:solidFill>
                <a:latin typeface="Arial"/>
                <a:cs typeface="Arial"/>
              </a:rPr>
              <a:t>עדיין מקרי — כי ההורים מקריים</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4415" cy="822960"/>
          </a:xfrm>
          <a:prstGeom prst="rect">
            <a:avLst/>
          </a:prstGeom>
          <a:noFill/>
        </p:spPr>
        <p:txBody>
          <a:bodyPr wrap="square" lIns="45720" tIns="27432" rIns="45720" bIns="27432" anchor="ctr">
            <a:spAutoFit/>
          </a:bodyPr>
          <a:lstStyle/>
          <a:p>
            <a:pPr algn="r" rtl="1">
              <a:spcAft>
                <a:spcPts val="600"/>
              </a:spcAft>
            </a:pPr>
            <a:r>
              <a:rPr lang="he-IL" sz="3400" b="1" i="0">
                <a:solidFill>
                  <a:srgbClr val="2B1E3F"/>
                </a:solidFill>
                <a:latin typeface="Arial"/>
                <a:cs typeface="Arial"/>
              </a:rPr>
              <a:t>התפלגויות קודמות (Priors)</a:t>
            </a:r>
          </a:p>
        </p:txBody>
      </p:sp>
      <p:pic>
        <p:nvPicPr>
          <p:cNvPr id="3" name="Picture 2" descr="priors.png"/>
          <p:cNvPicPr>
            <a:picLocks noChangeAspect="1"/>
          </p:cNvPicPr>
          <p:nvPr/>
        </p:nvPicPr>
        <p:blipFill>
          <a:blip r:embed="rId3"/>
          <a:stretch>
            <a:fillRect/>
          </a:stretch>
        </p:blipFill>
        <p:spPr>
          <a:xfrm>
            <a:off x="548640" y="1508760"/>
            <a:ext cx="11091672" cy="3142640"/>
          </a:xfrm>
          <a:prstGeom prst="rect">
            <a:avLst/>
          </a:prstGeom>
        </p:spPr>
      </p:pic>
      <p:sp>
        <p:nvSpPr>
          <p:cNvPr id="4" name="card"/>
          <p:cNvSpPr/>
          <p:nvPr/>
        </p:nvSpPr>
        <p:spPr>
          <a:xfrm>
            <a:off x="470865" y="4800600"/>
            <a:ext cx="3520440" cy="146304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badge μ"/>
          <p:cNvSpPr/>
          <p:nvPr/>
        </p:nvSpPr>
        <p:spPr>
          <a:xfrm>
            <a:off x="3214065" y="4983480"/>
            <a:ext cx="548640" cy="548640"/>
          </a:xfrm>
          <a:prstGeom prst="ellipse">
            <a:avLst/>
          </a:prstGeom>
          <a:solidFill>
            <a:srgbClr val="17A39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a:solidFill>
                  <a:srgbClr val="FFFFFF"/>
                </a:solidFill>
                <a:latin typeface="Arial"/>
                <a:cs typeface="Arial"/>
              </a:rPr>
              <a:t>μ</a:t>
            </a:r>
          </a:p>
        </p:txBody>
      </p:sp>
      <p:sp>
        <p:nvSpPr>
          <p:cNvPr id="6" name="TextBox 5"/>
          <p:cNvSpPr txBox="1"/>
          <p:nvPr/>
        </p:nvSpPr>
        <p:spPr>
          <a:xfrm>
            <a:off x="653745" y="4983480"/>
            <a:ext cx="2514600" cy="548640"/>
          </a:xfrm>
          <a:prstGeom prst="rect">
            <a:avLst/>
          </a:prstGeom>
          <a:noFill/>
        </p:spPr>
        <p:txBody>
          <a:bodyPr wrap="square" lIns="45720" tIns="27432" rIns="45720" bIns="27432" anchor="ctr">
            <a:spAutoFit/>
          </a:bodyPr>
          <a:lstStyle/>
          <a:p>
            <a:pPr algn="r" rtl="1">
              <a:spcAft>
                <a:spcPts val="600"/>
              </a:spcAft>
            </a:pPr>
            <a:r>
              <a:rPr lang="he-IL" sz="1600" b="1" i="0">
                <a:solidFill>
                  <a:srgbClr val="2B1E3F"/>
                </a:solidFill>
                <a:latin typeface="Arial"/>
                <a:cs typeface="Arial"/>
              </a:rPr>
              <a:t>ממוצעי קצב הסיבוב</a:t>
            </a:r>
          </a:p>
        </p:txBody>
      </p:sp>
      <p:sp>
        <p:nvSpPr>
          <p:cNvPr id="7" name="TextBox 6"/>
          <p:cNvSpPr txBox="1"/>
          <p:nvPr/>
        </p:nvSpPr>
        <p:spPr>
          <a:xfrm>
            <a:off x="653745" y="5532120"/>
            <a:ext cx="3154680" cy="685800"/>
          </a:xfrm>
          <a:prstGeom prst="rect">
            <a:avLst/>
          </a:prstGeom>
          <a:noFill/>
        </p:spPr>
        <p:txBody>
          <a:bodyPr wrap="square" lIns="45720" tIns="27432" rIns="45720" bIns="27432" anchor="t">
            <a:spAutoFit/>
          </a:bodyPr>
          <a:lstStyle/>
          <a:p>
            <a:pPr algn="r" rtl="1">
              <a:spcAft>
                <a:spcPts val="600"/>
              </a:spcAft>
            </a:pPr>
            <a:r>
              <a:rPr lang="he-IL" sz="1300" b="0" i="0">
                <a:solidFill>
                  <a:srgbClr val="6B6478"/>
                </a:solidFill>
                <a:latin typeface="Arial"/>
                <a:cs typeface="Arial"/>
              </a:rPr>
              <a:t>נורמלית סביב 2500 סל”ד — סדר הגודל הסביר לכדורי קרב</a:t>
            </a:r>
          </a:p>
        </p:txBody>
      </p:sp>
      <p:sp>
        <p:nvSpPr>
          <p:cNvPr id="8" name="card"/>
          <p:cNvSpPr/>
          <p:nvPr/>
        </p:nvSpPr>
        <p:spPr>
          <a:xfrm>
            <a:off x="4336999" y="4800600"/>
            <a:ext cx="3520440" cy="146304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badge τ"/>
          <p:cNvSpPr/>
          <p:nvPr/>
        </p:nvSpPr>
        <p:spPr>
          <a:xfrm>
            <a:off x="7080199" y="4983480"/>
            <a:ext cx="548640" cy="548640"/>
          </a:xfrm>
          <a:prstGeom prst="ellipse">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a:solidFill>
                  <a:srgbClr val="FFFFFF"/>
                </a:solidFill>
                <a:latin typeface="Cambria Math"/>
                <a:cs typeface="Cambria Math"/>
              </a:rPr>
              <a:t>τ</a:t>
            </a:r>
          </a:p>
        </p:txBody>
      </p:sp>
      <p:sp>
        <p:nvSpPr>
          <p:cNvPr id="10" name="TextBox 9"/>
          <p:cNvSpPr txBox="1"/>
          <p:nvPr/>
        </p:nvSpPr>
        <p:spPr>
          <a:xfrm>
            <a:off x="4519879" y="4983480"/>
            <a:ext cx="2514600" cy="548640"/>
          </a:xfrm>
          <a:prstGeom prst="rect">
            <a:avLst/>
          </a:prstGeom>
          <a:noFill/>
        </p:spPr>
        <p:txBody>
          <a:bodyPr wrap="square" lIns="45720" tIns="27432" rIns="45720" bIns="27432" anchor="ctr">
            <a:spAutoFit/>
          </a:bodyPr>
          <a:lstStyle/>
          <a:p>
            <a:pPr algn="r" rtl="1">
              <a:spcAft>
                <a:spcPts val="600"/>
              </a:spcAft>
            </a:pPr>
            <a:r>
              <a:rPr lang="he-IL" sz="1600" b="1" i="0">
                <a:solidFill>
                  <a:srgbClr val="2B1E3F"/>
                </a:solidFill>
                <a:latin typeface="Arial"/>
                <a:cs typeface="Arial"/>
              </a:rPr>
              <a:t>נקודת השינוי</a:t>
            </a:r>
          </a:p>
        </p:txBody>
      </p:sp>
      <p:sp>
        <p:nvSpPr>
          <p:cNvPr id="11" name="TextBox 10"/>
          <p:cNvSpPr txBox="1"/>
          <p:nvPr/>
        </p:nvSpPr>
        <p:spPr>
          <a:xfrm>
            <a:off x="4519879" y="5532120"/>
            <a:ext cx="3154680" cy="685800"/>
          </a:xfrm>
          <a:prstGeom prst="rect">
            <a:avLst/>
          </a:prstGeom>
          <a:noFill/>
        </p:spPr>
        <p:txBody>
          <a:bodyPr wrap="square" lIns="45720" tIns="27432" rIns="45720" bIns="27432" anchor="t">
            <a:spAutoFit/>
          </a:bodyPr>
          <a:lstStyle/>
          <a:p>
            <a:pPr algn="r" rtl="1">
              <a:spcAft>
                <a:spcPts val="600"/>
              </a:spcAft>
            </a:pPr>
            <a:r>
              <a:rPr lang="he-IL" sz="1300" b="0" i="0">
                <a:solidFill>
                  <a:srgbClr val="6B6478"/>
                </a:solidFill>
                <a:latin typeface="Arial"/>
                <a:cs typeface="Arial"/>
              </a:rPr>
              <a:t>אחידה על כל ימי העונה — הפעם </a:t>
            </a:r>
            <a:r>
              <a:rPr lang="en-US" sz="1300" b="0" i="0">
                <a:solidFill>
                  <a:srgbClr val="6B6478"/>
                </a:solidFill>
                <a:latin typeface="Cambria Math"/>
                <a:cs typeface="Cambria Math"/>
              </a:rPr>
              <a:t>τ</a:t>
            </a:r>
            <a:r>
              <a:rPr lang="he-IL" sz="1300" b="0" i="0">
                <a:solidFill>
                  <a:srgbClr val="6B6478"/>
                </a:solidFill>
                <a:latin typeface="Arial"/>
                <a:cs typeface="Arial"/>
              </a:rPr>
              <a:t> רציף, לא בדיד</a:t>
            </a:r>
          </a:p>
        </p:txBody>
      </p:sp>
      <p:sp>
        <p:nvSpPr>
          <p:cNvPr id="12" name="card"/>
          <p:cNvSpPr/>
          <p:nvPr/>
        </p:nvSpPr>
        <p:spPr>
          <a:xfrm>
            <a:off x="8119872" y="4800600"/>
            <a:ext cx="3520440" cy="146304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badge σ"/>
          <p:cNvSpPr/>
          <p:nvPr/>
        </p:nvSpPr>
        <p:spPr>
          <a:xfrm>
            <a:off x="10863072" y="4983480"/>
            <a:ext cx="548640" cy="5486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a:solidFill>
                  <a:srgbClr val="FFFFFF"/>
                </a:solidFill>
                <a:latin typeface="Arial"/>
                <a:cs typeface="Arial"/>
              </a:rPr>
              <a:t>σ</a:t>
            </a:r>
          </a:p>
        </p:txBody>
      </p:sp>
      <p:sp>
        <p:nvSpPr>
          <p:cNvPr id="14" name="TextBox 13"/>
          <p:cNvSpPr txBox="1"/>
          <p:nvPr/>
        </p:nvSpPr>
        <p:spPr>
          <a:xfrm>
            <a:off x="8302752" y="4983480"/>
            <a:ext cx="2514600" cy="548640"/>
          </a:xfrm>
          <a:prstGeom prst="rect">
            <a:avLst/>
          </a:prstGeom>
          <a:noFill/>
        </p:spPr>
        <p:txBody>
          <a:bodyPr wrap="square" lIns="45720" tIns="27432" rIns="45720" bIns="27432" anchor="ctr">
            <a:spAutoFit/>
          </a:bodyPr>
          <a:lstStyle/>
          <a:p>
            <a:pPr algn="r" rtl="1">
              <a:spcAft>
                <a:spcPts val="600"/>
              </a:spcAft>
            </a:pPr>
            <a:r>
              <a:rPr lang="he-IL" sz="1600" b="1" i="0" dirty="0">
                <a:solidFill>
                  <a:srgbClr val="2B1E3F"/>
                </a:solidFill>
                <a:latin typeface="Arial"/>
                <a:cs typeface="Arial"/>
              </a:rPr>
              <a:t>רעש התצפיות</a:t>
            </a:r>
          </a:p>
        </p:txBody>
      </p:sp>
      <p:sp>
        <p:nvSpPr>
          <p:cNvPr id="15" name="TextBox 14"/>
          <p:cNvSpPr txBox="1"/>
          <p:nvPr/>
        </p:nvSpPr>
        <p:spPr>
          <a:xfrm>
            <a:off x="8302752" y="5532120"/>
            <a:ext cx="3154680" cy="685800"/>
          </a:xfrm>
          <a:prstGeom prst="rect">
            <a:avLst/>
          </a:prstGeom>
          <a:noFill/>
        </p:spPr>
        <p:txBody>
          <a:bodyPr wrap="square" lIns="45720" tIns="27432" rIns="45720" bIns="27432" anchor="t">
            <a:spAutoFit/>
          </a:bodyPr>
          <a:lstStyle/>
          <a:p>
            <a:pPr algn="r" rtl="1">
              <a:spcAft>
                <a:spcPts val="600"/>
              </a:spcAft>
            </a:pPr>
            <a:r>
              <a:rPr lang="he-IL" sz="1300" b="0" i="0" dirty="0">
                <a:solidFill>
                  <a:srgbClr val="6B6478"/>
                </a:solidFill>
                <a:latin typeface="Arial"/>
                <a:cs typeface="Arial"/>
              </a:rPr>
              <a:t>חייבת להיות חיובית ← HalfNormal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4415" cy="822960"/>
          </a:xfrm>
          <a:prstGeom prst="rect">
            <a:avLst/>
          </a:prstGeom>
          <a:noFill/>
        </p:spPr>
        <p:txBody>
          <a:bodyPr wrap="square" lIns="45720" tIns="27432" rIns="45720" bIns="27432" anchor="ctr">
            <a:spAutoFit/>
          </a:bodyPr>
          <a:lstStyle/>
          <a:p>
            <a:pPr algn="r" rtl="1">
              <a:spcAft>
                <a:spcPts val="600"/>
              </a:spcAft>
            </a:pPr>
            <a:r>
              <a:rPr lang="he-IL" sz="3400" b="1" i="0">
                <a:solidFill>
                  <a:srgbClr val="2B1E3F"/>
                </a:solidFill>
                <a:latin typeface="Arial"/>
                <a:cs typeface="Arial"/>
              </a:rPr>
              <a:t>ארבעה רכיבים לבניית מודל ב-PyMC</a:t>
            </a:r>
          </a:p>
        </p:txBody>
      </p:sp>
      <p:sp>
        <p:nvSpPr>
          <p:cNvPr id="3" name="card"/>
          <p:cNvSpPr/>
          <p:nvPr/>
        </p:nvSpPr>
        <p:spPr>
          <a:xfrm>
            <a:off x="9082735" y="1600200"/>
            <a:ext cx="2560320" cy="420624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badge 1"/>
          <p:cNvSpPr/>
          <p:nvPr/>
        </p:nvSpPr>
        <p:spPr>
          <a:xfrm>
            <a:off x="9905695" y="1874519"/>
            <a:ext cx="914400" cy="914400"/>
          </a:xfrm>
          <a:prstGeom prst="ellipse">
            <a:avLst/>
          </a:prstGeom>
          <a:solidFill>
            <a:srgbClr val="17A39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800" b="1">
                <a:solidFill>
                  <a:srgbClr val="FFFFFF"/>
                </a:solidFill>
                <a:latin typeface="Arial"/>
                <a:cs typeface="Arial"/>
              </a:rPr>
              <a:t>1</a:t>
            </a:r>
          </a:p>
        </p:txBody>
      </p:sp>
      <p:sp>
        <p:nvSpPr>
          <p:cNvPr id="5" name="TextBox 4"/>
          <p:cNvSpPr txBox="1"/>
          <p:nvPr/>
        </p:nvSpPr>
        <p:spPr>
          <a:xfrm>
            <a:off x="9219895" y="2971800"/>
            <a:ext cx="2286000" cy="502920"/>
          </a:xfrm>
          <a:prstGeom prst="rect">
            <a:avLst/>
          </a:prstGeom>
          <a:noFill/>
        </p:spPr>
        <p:txBody>
          <a:bodyPr wrap="square" lIns="45720" tIns="27432" rIns="45720" bIns="27432" anchor="ctr">
            <a:spAutoFit/>
          </a:bodyPr>
          <a:lstStyle/>
          <a:p>
            <a:pPr algn="ctr" rtl="0">
              <a:spcAft>
                <a:spcPts val="600"/>
              </a:spcAft>
            </a:pPr>
            <a:r>
              <a:rPr lang="en-US" sz="2000" b="1" i="0">
                <a:solidFill>
                  <a:srgbClr val="2B1E3F"/>
                </a:solidFill>
                <a:latin typeface="Arial"/>
                <a:cs typeface="Arial"/>
              </a:rPr>
              <a:t>Priors</a:t>
            </a:r>
          </a:p>
        </p:txBody>
      </p:sp>
      <p:sp>
        <p:nvSpPr>
          <p:cNvPr id="6" name="TextBox 5"/>
          <p:cNvSpPr txBox="1"/>
          <p:nvPr/>
        </p:nvSpPr>
        <p:spPr>
          <a:xfrm>
            <a:off x="9265615" y="3566160"/>
            <a:ext cx="2194560" cy="1188720"/>
          </a:xfrm>
          <a:prstGeom prst="rect">
            <a:avLst/>
          </a:prstGeom>
          <a:noFill/>
        </p:spPr>
        <p:txBody>
          <a:bodyPr wrap="square" lIns="45720" tIns="27432" rIns="45720" bIns="27432" anchor="t">
            <a:spAutoFit/>
          </a:bodyPr>
          <a:lstStyle/>
          <a:p>
            <a:pPr algn="ctr" rtl="1">
              <a:spcAft>
                <a:spcPts val="600"/>
              </a:spcAft>
            </a:pPr>
            <a:r>
              <a:rPr lang="he-IL" sz="1500" b="0" i="0">
                <a:solidFill>
                  <a:srgbClr val="6B6478"/>
                </a:solidFill>
                <a:latin typeface="Arial"/>
                <a:cs typeface="Arial"/>
              </a:rPr>
              <a:t>התפלגויות קודמות לכל הפרמטרים הלא ידועים</a:t>
            </a:r>
          </a:p>
        </p:txBody>
      </p:sp>
      <p:sp>
        <p:nvSpPr>
          <p:cNvPr id="7" name="Rounded Rectangle 6"/>
          <p:cNvSpPr/>
          <p:nvPr/>
        </p:nvSpPr>
        <p:spPr>
          <a:xfrm>
            <a:off x="9265615" y="4892040"/>
            <a:ext cx="2194560" cy="640080"/>
          </a:xfrm>
          <a:prstGeom prst="roundRect">
            <a:avLst>
              <a:gd name="adj" fmla="val 15000"/>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0">
                <a:solidFill>
                  <a:srgbClr val="EDE8F5"/>
                </a:solidFill>
                <a:latin typeface="Courier New"/>
                <a:cs typeface="Courier New"/>
              </a:rPr>
              <a:t>pm.Normal('mu', ...)</a:t>
            </a:r>
          </a:p>
        </p:txBody>
      </p:sp>
      <p:cxnSp>
        <p:nvCxnSpPr>
          <p:cNvPr id="8" name="Connector 7"/>
          <p:cNvCxnSpPr/>
          <p:nvPr/>
        </p:nvCxnSpPr>
        <p:spPr>
          <a:xfrm flipH="1">
            <a:off x="8835847" y="3703320"/>
            <a:ext cx="210312" cy="0"/>
          </a:xfrm>
          <a:prstGeom prst="line">
            <a:avLst/>
          </a:prstGeom>
          <a:ln w="25400">
            <a:solidFill>
              <a:srgbClr val="CFC6DE"/>
            </a:solidFill>
            <a:tailEnd type="triangle"/>
          </a:ln>
        </p:spPr>
        <p:style>
          <a:lnRef idx="2">
            <a:schemeClr val="accent1"/>
          </a:lnRef>
          <a:fillRef idx="0">
            <a:schemeClr val="accent1"/>
          </a:fillRef>
          <a:effectRef idx="1">
            <a:schemeClr val="accent1"/>
          </a:effectRef>
          <a:fontRef idx="minor">
            <a:schemeClr val="tx1"/>
          </a:fontRef>
        </p:style>
      </p:cxnSp>
      <p:sp>
        <p:nvSpPr>
          <p:cNvPr id="9" name="card"/>
          <p:cNvSpPr/>
          <p:nvPr/>
        </p:nvSpPr>
        <p:spPr>
          <a:xfrm>
            <a:off x="6238951" y="1600200"/>
            <a:ext cx="2560320" cy="420624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badge 2"/>
          <p:cNvSpPr/>
          <p:nvPr/>
        </p:nvSpPr>
        <p:spPr>
          <a:xfrm>
            <a:off x="7061911" y="1874519"/>
            <a:ext cx="914400" cy="914400"/>
          </a:xfrm>
          <a:prstGeom prst="ellipse">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800" b="1">
                <a:solidFill>
                  <a:srgbClr val="FFFFFF"/>
                </a:solidFill>
                <a:latin typeface="Arial"/>
                <a:cs typeface="Arial"/>
              </a:rPr>
              <a:t>2</a:t>
            </a:r>
          </a:p>
        </p:txBody>
      </p:sp>
      <p:sp>
        <p:nvSpPr>
          <p:cNvPr id="11" name="TextBox 10"/>
          <p:cNvSpPr txBox="1"/>
          <p:nvPr/>
        </p:nvSpPr>
        <p:spPr>
          <a:xfrm>
            <a:off x="6376111" y="2971800"/>
            <a:ext cx="2286000" cy="502920"/>
          </a:xfrm>
          <a:prstGeom prst="rect">
            <a:avLst/>
          </a:prstGeom>
          <a:noFill/>
        </p:spPr>
        <p:txBody>
          <a:bodyPr wrap="square" lIns="45720" tIns="27432" rIns="45720" bIns="27432" anchor="ctr">
            <a:spAutoFit/>
          </a:bodyPr>
          <a:lstStyle/>
          <a:p>
            <a:pPr algn="ctr" rtl="0">
              <a:spcAft>
                <a:spcPts val="600"/>
              </a:spcAft>
            </a:pPr>
            <a:r>
              <a:rPr lang="en-US" sz="2000" b="1" i="0">
                <a:solidFill>
                  <a:srgbClr val="2B1E3F"/>
                </a:solidFill>
                <a:latin typeface="Arial"/>
                <a:cs typeface="Arial"/>
              </a:rPr>
              <a:t>Likelihood</a:t>
            </a:r>
          </a:p>
        </p:txBody>
      </p:sp>
      <p:sp>
        <p:nvSpPr>
          <p:cNvPr id="12" name="TextBox 11"/>
          <p:cNvSpPr txBox="1"/>
          <p:nvPr/>
        </p:nvSpPr>
        <p:spPr>
          <a:xfrm>
            <a:off x="6421831" y="3566160"/>
            <a:ext cx="2194560" cy="1188720"/>
          </a:xfrm>
          <a:prstGeom prst="rect">
            <a:avLst/>
          </a:prstGeom>
          <a:noFill/>
        </p:spPr>
        <p:txBody>
          <a:bodyPr wrap="square" lIns="45720" tIns="27432" rIns="45720" bIns="27432" anchor="t">
            <a:spAutoFit/>
          </a:bodyPr>
          <a:lstStyle/>
          <a:p>
            <a:pPr algn="ctr" rtl="1">
              <a:spcAft>
                <a:spcPts val="600"/>
              </a:spcAft>
            </a:pPr>
            <a:r>
              <a:rPr lang="he-IL" sz="1500" b="0" i="0">
                <a:solidFill>
                  <a:srgbClr val="6B6478"/>
                </a:solidFill>
                <a:latin typeface="Arial"/>
                <a:cs typeface="Arial"/>
              </a:rPr>
              <a:t>פונקציית הנראות — מחברת את הנתונים הנצפים למודל</a:t>
            </a:r>
          </a:p>
        </p:txBody>
      </p:sp>
      <p:sp>
        <p:nvSpPr>
          <p:cNvPr id="13" name="Rounded Rectangle 12"/>
          <p:cNvSpPr/>
          <p:nvPr/>
        </p:nvSpPr>
        <p:spPr>
          <a:xfrm>
            <a:off x="6421831" y="4892040"/>
            <a:ext cx="2194560" cy="640080"/>
          </a:xfrm>
          <a:prstGeom prst="roundRect">
            <a:avLst>
              <a:gd name="adj" fmla="val 15000"/>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0">
                <a:solidFill>
                  <a:srgbClr val="EDE8F5"/>
                </a:solidFill>
                <a:latin typeface="Courier New"/>
                <a:cs typeface="Courier New"/>
              </a:rPr>
              <a:t>observed=spin_rate</a:t>
            </a:r>
          </a:p>
        </p:txBody>
      </p:sp>
      <p:cxnSp>
        <p:nvCxnSpPr>
          <p:cNvPr id="14" name="Connector 13"/>
          <p:cNvCxnSpPr/>
          <p:nvPr/>
        </p:nvCxnSpPr>
        <p:spPr>
          <a:xfrm flipH="1">
            <a:off x="5992063" y="3703320"/>
            <a:ext cx="210312" cy="0"/>
          </a:xfrm>
          <a:prstGeom prst="line">
            <a:avLst/>
          </a:prstGeom>
          <a:ln w="25400">
            <a:solidFill>
              <a:srgbClr val="CFC6DE"/>
            </a:solidFill>
            <a:tailEnd type="triangle"/>
          </a:ln>
        </p:spPr>
        <p:style>
          <a:lnRef idx="2">
            <a:schemeClr val="accent1"/>
          </a:lnRef>
          <a:fillRef idx="0">
            <a:schemeClr val="accent1"/>
          </a:fillRef>
          <a:effectRef idx="1">
            <a:schemeClr val="accent1"/>
          </a:effectRef>
          <a:fontRef idx="minor">
            <a:schemeClr val="tx1"/>
          </a:fontRef>
        </p:style>
      </p:cxnSp>
      <p:sp>
        <p:nvSpPr>
          <p:cNvPr id="15" name="card"/>
          <p:cNvSpPr/>
          <p:nvPr/>
        </p:nvSpPr>
        <p:spPr>
          <a:xfrm>
            <a:off x="3395167" y="1600200"/>
            <a:ext cx="2560320" cy="420624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badge 3"/>
          <p:cNvSpPr/>
          <p:nvPr/>
        </p:nvSpPr>
        <p:spPr>
          <a:xfrm>
            <a:off x="4218127" y="1874519"/>
            <a:ext cx="914400" cy="91440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800" b="1">
                <a:solidFill>
                  <a:srgbClr val="FFFFFF"/>
                </a:solidFill>
                <a:latin typeface="Arial"/>
                <a:cs typeface="Arial"/>
              </a:rPr>
              <a:t>3</a:t>
            </a:r>
          </a:p>
        </p:txBody>
      </p:sp>
      <p:sp>
        <p:nvSpPr>
          <p:cNvPr id="17" name="TextBox 16"/>
          <p:cNvSpPr txBox="1"/>
          <p:nvPr/>
        </p:nvSpPr>
        <p:spPr>
          <a:xfrm>
            <a:off x="3532327" y="2971800"/>
            <a:ext cx="2286000" cy="502920"/>
          </a:xfrm>
          <a:prstGeom prst="rect">
            <a:avLst/>
          </a:prstGeom>
          <a:noFill/>
        </p:spPr>
        <p:txBody>
          <a:bodyPr wrap="square" lIns="45720" tIns="27432" rIns="45720" bIns="27432" anchor="ctr">
            <a:spAutoFit/>
          </a:bodyPr>
          <a:lstStyle/>
          <a:p>
            <a:pPr algn="ctr" rtl="0">
              <a:spcAft>
                <a:spcPts val="600"/>
              </a:spcAft>
            </a:pPr>
            <a:r>
              <a:rPr lang="en-US" sz="2000" b="1" i="0">
                <a:solidFill>
                  <a:srgbClr val="2B1E3F"/>
                </a:solidFill>
                <a:latin typeface="Arial"/>
                <a:cs typeface="Arial"/>
              </a:rPr>
              <a:t>Deterministic</a:t>
            </a:r>
          </a:p>
        </p:txBody>
      </p:sp>
      <p:sp>
        <p:nvSpPr>
          <p:cNvPr id="18" name="TextBox 17"/>
          <p:cNvSpPr txBox="1"/>
          <p:nvPr/>
        </p:nvSpPr>
        <p:spPr>
          <a:xfrm>
            <a:off x="3578047" y="3566160"/>
            <a:ext cx="2194560" cy="1188720"/>
          </a:xfrm>
          <a:prstGeom prst="rect">
            <a:avLst/>
          </a:prstGeom>
          <a:noFill/>
        </p:spPr>
        <p:txBody>
          <a:bodyPr wrap="square" lIns="45720" tIns="27432" rIns="45720" bIns="27432" anchor="t">
            <a:spAutoFit/>
          </a:bodyPr>
          <a:lstStyle/>
          <a:p>
            <a:pPr algn="ctr" rtl="1">
              <a:spcAft>
                <a:spcPts val="600"/>
              </a:spcAft>
            </a:pPr>
            <a:r>
              <a:rPr lang="he-IL" sz="1500" b="0" i="0">
                <a:solidFill>
                  <a:srgbClr val="6B6478"/>
                </a:solidFill>
                <a:latin typeface="Arial"/>
                <a:cs typeface="Arial"/>
              </a:rPr>
              <a:t>פונקציה דטרמיניסטית שמחברת משתנים סטוכסטיים (לא חובה)</a:t>
            </a:r>
          </a:p>
        </p:txBody>
      </p:sp>
      <p:sp>
        <p:nvSpPr>
          <p:cNvPr id="19" name="Rounded Rectangle 18"/>
          <p:cNvSpPr/>
          <p:nvPr/>
        </p:nvSpPr>
        <p:spPr>
          <a:xfrm>
            <a:off x="3578047" y="4892040"/>
            <a:ext cx="2194560" cy="640080"/>
          </a:xfrm>
          <a:prstGeom prst="roundRect">
            <a:avLst>
              <a:gd name="adj" fmla="val 15000"/>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0">
                <a:solidFill>
                  <a:srgbClr val="EDE8F5"/>
                </a:solidFill>
                <a:latin typeface="Courier New"/>
                <a:cs typeface="Courier New"/>
              </a:rPr>
              <a:t>pm.math.switch(...)</a:t>
            </a:r>
          </a:p>
        </p:txBody>
      </p:sp>
      <p:cxnSp>
        <p:nvCxnSpPr>
          <p:cNvPr id="20" name="Connector 19"/>
          <p:cNvCxnSpPr/>
          <p:nvPr/>
        </p:nvCxnSpPr>
        <p:spPr>
          <a:xfrm flipH="1">
            <a:off x="3148279" y="3703320"/>
            <a:ext cx="210312" cy="0"/>
          </a:xfrm>
          <a:prstGeom prst="line">
            <a:avLst/>
          </a:prstGeom>
          <a:ln w="25400">
            <a:solidFill>
              <a:srgbClr val="CFC6DE"/>
            </a:solidFill>
            <a:tailEnd type="triangle"/>
          </a:ln>
        </p:spPr>
        <p:style>
          <a:lnRef idx="2">
            <a:schemeClr val="accent1"/>
          </a:lnRef>
          <a:fillRef idx="0">
            <a:schemeClr val="accent1"/>
          </a:fillRef>
          <a:effectRef idx="1">
            <a:schemeClr val="accent1"/>
          </a:effectRef>
          <a:fontRef idx="minor">
            <a:schemeClr val="tx1"/>
          </a:fontRef>
        </p:style>
      </p:cxnSp>
      <p:sp>
        <p:nvSpPr>
          <p:cNvPr id="21" name="card"/>
          <p:cNvSpPr/>
          <p:nvPr/>
        </p:nvSpPr>
        <p:spPr>
          <a:xfrm>
            <a:off x="551383" y="1600200"/>
            <a:ext cx="2560320" cy="420624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badge 4"/>
          <p:cNvSpPr/>
          <p:nvPr/>
        </p:nvSpPr>
        <p:spPr>
          <a:xfrm>
            <a:off x="1374343" y="1874519"/>
            <a:ext cx="914400" cy="914400"/>
          </a:xfrm>
          <a:prstGeom prst="ellipse">
            <a:avLst/>
          </a:prstGeom>
          <a:solidFill>
            <a:srgbClr val="2B1E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800" b="1">
                <a:solidFill>
                  <a:srgbClr val="FFFFFF"/>
                </a:solidFill>
                <a:latin typeface="Arial"/>
                <a:cs typeface="Arial"/>
              </a:rPr>
              <a:t>4</a:t>
            </a:r>
          </a:p>
        </p:txBody>
      </p:sp>
      <p:sp>
        <p:nvSpPr>
          <p:cNvPr id="23" name="TextBox 22"/>
          <p:cNvSpPr txBox="1"/>
          <p:nvPr/>
        </p:nvSpPr>
        <p:spPr>
          <a:xfrm>
            <a:off x="688543" y="2971800"/>
            <a:ext cx="2286000" cy="502920"/>
          </a:xfrm>
          <a:prstGeom prst="rect">
            <a:avLst/>
          </a:prstGeom>
          <a:noFill/>
        </p:spPr>
        <p:txBody>
          <a:bodyPr wrap="square" lIns="45720" tIns="27432" rIns="45720" bIns="27432" anchor="ctr">
            <a:spAutoFit/>
          </a:bodyPr>
          <a:lstStyle/>
          <a:p>
            <a:pPr algn="ctr" rtl="0">
              <a:spcAft>
                <a:spcPts val="600"/>
              </a:spcAft>
            </a:pPr>
            <a:r>
              <a:rPr lang="en-US" sz="2000" b="1" i="0">
                <a:solidFill>
                  <a:srgbClr val="2B1E3F"/>
                </a:solidFill>
                <a:latin typeface="Arial"/>
                <a:cs typeface="Arial"/>
              </a:rPr>
              <a:t>Sampling</a:t>
            </a:r>
          </a:p>
        </p:txBody>
      </p:sp>
      <p:sp>
        <p:nvSpPr>
          <p:cNvPr id="24" name="TextBox 23"/>
          <p:cNvSpPr txBox="1"/>
          <p:nvPr/>
        </p:nvSpPr>
        <p:spPr>
          <a:xfrm>
            <a:off x="734263" y="3566160"/>
            <a:ext cx="2194560" cy="1188720"/>
          </a:xfrm>
          <a:prstGeom prst="rect">
            <a:avLst/>
          </a:prstGeom>
          <a:noFill/>
        </p:spPr>
        <p:txBody>
          <a:bodyPr wrap="square" lIns="45720" tIns="27432" rIns="45720" bIns="27432" anchor="t">
            <a:spAutoFit/>
          </a:bodyPr>
          <a:lstStyle/>
          <a:p>
            <a:pPr algn="ctr" rtl="1">
              <a:spcAft>
                <a:spcPts val="600"/>
              </a:spcAft>
            </a:pPr>
            <a:r>
              <a:rPr lang="he-IL" sz="1500" b="0" i="0">
                <a:solidFill>
                  <a:srgbClr val="6B6478"/>
                </a:solidFill>
                <a:latin typeface="Arial"/>
                <a:cs typeface="Arial"/>
              </a:rPr>
              <a:t>שיטת הדגימה מהפוסטריור — נלמד בהמשך הקורס</a:t>
            </a:r>
          </a:p>
        </p:txBody>
      </p:sp>
      <p:sp>
        <p:nvSpPr>
          <p:cNvPr id="25" name="Rounded Rectangle 24"/>
          <p:cNvSpPr/>
          <p:nvPr/>
        </p:nvSpPr>
        <p:spPr>
          <a:xfrm>
            <a:off x="734263" y="4892040"/>
            <a:ext cx="2194560" cy="640080"/>
          </a:xfrm>
          <a:prstGeom prst="roundRect">
            <a:avLst>
              <a:gd name="adj" fmla="val 15000"/>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0">
                <a:solidFill>
                  <a:srgbClr val="EDE8F5"/>
                </a:solidFill>
                <a:latin typeface="Courier New"/>
                <a:cs typeface="Courier New"/>
              </a:rPr>
              <a:t>pm.sample(...)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4415" cy="822960"/>
          </a:xfrm>
          <a:prstGeom prst="rect">
            <a:avLst/>
          </a:prstGeom>
          <a:noFill/>
        </p:spPr>
        <p:txBody>
          <a:bodyPr wrap="square" lIns="45720" tIns="27432" rIns="45720" bIns="27432" anchor="ctr">
            <a:spAutoFit/>
          </a:bodyPr>
          <a:lstStyle/>
          <a:p>
            <a:pPr algn="r" rtl="1">
              <a:spcAft>
                <a:spcPts val="600"/>
              </a:spcAft>
            </a:pPr>
            <a:r>
              <a:rPr lang="he-IL" sz="3400" b="1" i="0">
                <a:solidFill>
                  <a:srgbClr val="2B1E3F"/>
                </a:solidFill>
                <a:latin typeface="Arial"/>
                <a:cs typeface="Arial"/>
              </a:rPr>
              <a:t>שלב 1: ה-Model ו-with — הגדרת ה-Priors</a:t>
            </a:r>
          </a:p>
        </p:txBody>
      </p:sp>
      <p:sp>
        <p:nvSpPr>
          <p:cNvPr id="3" name="code block"/>
          <p:cNvSpPr/>
          <p:nvPr/>
        </p:nvSpPr>
        <p:spPr>
          <a:xfrm>
            <a:off x="548640" y="1463040"/>
            <a:ext cx="6675120" cy="2377440"/>
          </a:xfrm>
          <a:prstGeom prst="roundRect">
            <a:avLst>
              <a:gd name="adj" fmla="val 8000"/>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code"/>
          <p:cNvSpPr txBox="1"/>
          <p:nvPr/>
        </p:nvSpPr>
        <p:spPr>
          <a:xfrm>
            <a:off x="777240" y="1645920"/>
            <a:ext cx="6217920" cy="2011680"/>
          </a:xfrm>
          <a:prstGeom prst="rect">
            <a:avLst/>
          </a:prstGeom>
          <a:noFill/>
        </p:spPr>
        <p:txBody>
          <a:bodyPr wrap="square" lIns="45720" tIns="27432" rIns="45720" bIns="27432" anchor="t">
            <a:spAutoFit/>
          </a:bodyPr>
          <a:lstStyle/>
          <a:p>
            <a:pPr algn="l" rtl="0">
              <a:spcAft>
                <a:spcPts val="0"/>
              </a:spcAft>
            </a:pPr>
            <a:r>
              <a:rPr lang="en-US" sz="1500" b="0" i="0" dirty="0">
                <a:solidFill>
                  <a:srgbClr val="EDE8F5"/>
                </a:solidFill>
                <a:latin typeface="Courier New"/>
                <a:cs typeface="Courier New"/>
              </a:rPr>
              <a:t>with </a:t>
            </a:r>
            <a:r>
              <a:rPr lang="en-US" sz="1500" b="0" i="0" dirty="0" err="1">
                <a:solidFill>
                  <a:srgbClr val="EDE8F5"/>
                </a:solidFill>
                <a:latin typeface="Courier New"/>
                <a:cs typeface="Courier New"/>
              </a:rPr>
              <a:t>pm.Model</a:t>
            </a:r>
            <a:r>
              <a:rPr lang="en-US" sz="1500" b="0" i="0" dirty="0">
                <a:solidFill>
                  <a:srgbClr val="EDE8F5"/>
                </a:solidFill>
                <a:latin typeface="Courier New"/>
                <a:cs typeface="Courier New"/>
              </a:rPr>
              <a:t>() as </a:t>
            </a:r>
            <a:r>
              <a:rPr lang="en-US" sz="1500" b="0" i="0" dirty="0" err="1">
                <a:solidFill>
                  <a:srgbClr val="EDE8F5"/>
                </a:solidFill>
                <a:latin typeface="Courier New"/>
                <a:cs typeface="Courier New"/>
              </a:rPr>
              <a:t>spin_rate_model</a:t>
            </a:r>
            <a:r>
              <a:rPr lang="en-US" sz="1500" b="0" i="0" dirty="0">
                <a:solidFill>
                  <a:srgbClr val="EDE8F5"/>
                </a:solidFill>
                <a:latin typeface="Courier New"/>
                <a:cs typeface="Courier New"/>
              </a:rPr>
              <a:t>:</a:t>
            </a:r>
          </a:p>
          <a:p>
            <a:pPr algn="l" rtl="0">
              <a:spcAft>
                <a:spcPts val="0"/>
              </a:spcAft>
            </a:pPr>
            <a:r>
              <a:rPr lang="en-US" sz="1500" b="0" i="0" dirty="0">
                <a:solidFill>
                  <a:srgbClr val="EDE8F5"/>
                </a:solidFill>
                <a:latin typeface="Courier New"/>
                <a:cs typeface="Courier New"/>
              </a:rPr>
              <a:t> </a:t>
            </a:r>
          </a:p>
          <a:p>
            <a:pPr algn="l" rtl="0">
              <a:spcAft>
                <a:spcPts val="0"/>
              </a:spcAft>
            </a:pPr>
            <a:r>
              <a:rPr lang="en-US" sz="1500" b="0" i="0" dirty="0">
                <a:solidFill>
                  <a:srgbClr val="EDE8F5"/>
                </a:solidFill>
                <a:latin typeface="Courier New"/>
                <a:cs typeface="Courier New"/>
              </a:rPr>
              <a:t>    mu = </a:t>
            </a:r>
            <a:r>
              <a:rPr lang="en-US" sz="1500" b="0" i="0" dirty="0" err="1">
                <a:solidFill>
                  <a:srgbClr val="EDE8F5"/>
                </a:solidFill>
                <a:latin typeface="Courier New"/>
                <a:cs typeface="Courier New"/>
              </a:rPr>
              <a:t>pm.Normal</a:t>
            </a:r>
            <a:r>
              <a:rPr lang="en-US" sz="1500" b="0" i="0" dirty="0">
                <a:solidFill>
                  <a:srgbClr val="EDE8F5"/>
                </a:solidFill>
                <a:latin typeface="Courier New"/>
                <a:cs typeface="Courier New"/>
              </a:rPr>
              <a:t>('mu', mu=2500, sigma=100,</a:t>
            </a:r>
          </a:p>
          <a:p>
            <a:pPr algn="l" rtl="0">
              <a:spcAft>
                <a:spcPts val="0"/>
              </a:spcAft>
            </a:pPr>
            <a:r>
              <a:rPr lang="en-US" sz="1500" b="0" i="0" dirty="0">
                <a:solidFill>
                  <a:srgbClr val="EDE8F5"/>
                </a:solidFill>
                <a:latin typeface="Courier New"/>
                <a:cs typeface="Courier New"/>
              </a:rPr>
              <a:t>                   shape=2)</a:t>
            </a:r>
          </a:p>
          <a:p>
            <a:pPr algn="l" rtl="0">
              <a:spcAft>
                <a:spcPts val="0"/>
              </a:spcAft>
            </a:pPr>
            <a:r>
              <a:rPr lang="en-US" sz="1500" b="0" i="0" dirty="0">
                <a:solidFill>
                  <a:srgbClr val="EDE8F5"/>
                </a:solidFill>
                <a:latin typeface="Courier New"/>
                <a:cs typeface="Courier New"/>
              </a:rPr>
              <a:t>    tau = </a:t>
            </a:r>
            <a:r>
              <a:rPr lang="en-US" sz="1500" b="0" i="0" dirty="0" err="1">
                <a:solidFill>
                  <a:srgbClr val="EDE8F5"/>
                </a:solidFill>
                <a:latin typeface="Courier New"/>
                <a:cs typeface="Courier New"/>
              </a:rPr>
              <a:t>pm.Uniform</a:t>
            </a:r>
            <a:r>
              <a:rPr lang="en-US" sz="1500" b="0" i="0" dirty="0">
                <a:solidFill>
                  <a:srgbClr val="EDE8F5"/>
                </a:solidFill>
                <a:latin typeface="Courier New"/>
                <a:cs typeface="Courier New"/>
              </a:rPr>
              <a:t>('tau', lower=</a:t>
            </a:r>
            <a:r>
              <a:rPr lang="en-US" sz="1500" b="0" i="0" dirty="0" err="1">
                <a:solidFill>
                  <a:srgbClr val="EDE8F5"/>
                </a:solidFill>
                <a:latin typeface="Courier New"/>
                <a:cs typeface="Courier New"/>
              </a:rPr>
              <a:t>day_ind.min</a:t>
            </a:r>
            <a:r>
              <a:rPr lang="en-US" sz="1500" b="0" i="0" dirty="0">
                <a:solidFill>
                  <a:srgbClr val="EDE8F5"/>
                </a:solidFill>
                <a:latin typeface="Courier New"/>
                <a:cs typeface="Courier New"/>
              </a:rPr>
              <a:t>(),</a:t>
            </a:r>
          </a:p>
          <a:p>
            <a:pPr algn="l" rtl="0">
              <a:spcAft>
                <a:spcPts val="0"/>
              </a:spcAft>
            </a:pPr>
            <a:r>
              <a:rPr lang="en-US" sz="1500" b="0" i="0" dirty="0">
                <a:solidFill>
                  <a:srgbClr val="EDE8F5"/>
                </a:solidFill>
                <a:latin typeface="Courier New"/>
                <a:cs typeface="Courier New"/>
              </a:rPr>
              <a:t>                     upper=</a:t>
            </a:r>
            <a:r>
              <a:rPr lang="en-US" sz="1500" b="0" i="0" dirty="0" err="1">
                <a:solidFill>
                  <a:srgbClr val="EDE8F5"/>
                </a:solidFill>
                <a:latin typeface="Courier New"/>
                <a:cs typeface="Courier New"/>
              </a:rPr>
              <a:t>day_ind.max</a:t>
            </a:r>
            <a:r>
              <a:rPr lang="en-US" sz="1500" b="0" i="0" dirty="0">
                <a:solidFill>
                  <a:srgbClr val="EDE8F5"/>
                </a:solidFill>
                <a:latin typeface="Courier New"/>
                <a:cs typeface="Courier New"/>
              </a:rPr>
              <a:t>())</a:t>
            </a:r>
          </a:p>
        </p:txBody>
      </p:sp>
      <p:sp>
        <p:nvSpPr>
          <p:cNvPr id="5" name="card"/>
          <p:cNvSpPr/>
          <p:nvPr/>
        </p:nvSpPr>
        <p:spPr>
          <a:xfrm>
            <a:off x="548640" y="4069080"/>
            <a:ext cx="6675120" cy="2194560"/>
          </a:xfrm>
          <a:prstGeom prst="roundRect">
            <a:avLst>
              <a:gd name="adj" fmla="val 8000"/>
            </a:avLst>
          </a:prstGeom>
          <a:solidFill>
            <a:srgbClr val="E6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badge ⏺"/>
          <p:cNvSpPr/>
          <p:nvPr/>
        </p:nvSpPr>
        <p:spPr>
          <a:xfrm>
            <a:off x="6446520" y="4297680"/>
            <a:ext cx="548640" cy="5486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Arial"/>
                <a:cs typeface="Arial"/>
              </a:rPr>
              <a:t>⏺</a:t>
            </a:r>
          </a:p>
        </p:txBody>
      </p:sp>
      <p:sp>
        <p:nvSpPr>
          <p:cNvPr id="7" name="TextBox 6"/>
          <p:cNvSpPr txBox="1"/>
          <p:nvPr/>
        </p:nvSpPr>
        <p:spPr>
          <a:xfrm>
            <a:off x="777240" y="4251960"/>
            <a:ext cx="5577840" cy="502920"/>
          </a:xfrm>
          <a:prstGeom prst="rect">
            <a:avLst/>
          </a:prstGeom>
          <a:noFill/>
        </p:spPr>
        <p:txBody>
          <a:bodyPr wrap="square" lIns="45720" tIns="27432" rIns="45720" bIns="27432" anchor="t">
            <a:spAutoFit/>
          </a:bodyPr>
          <a:lstStyle/>
          <a:p>
            <a:pPr algn="r" rtl="1">
              <a:spcAft>
                <a:spcPts val="600"/>
              </a:spcAft>
            </a:pPr>
            <a:r>
              <a:rPr lang="he-IL" sz="1800" b="1" i="0">
                <a:solidFill>
                  <a:srgbClr val="2B1E3F"/>
                </a:solidFill>
                <a:latin typeface="Arial"/>
                <a:cs typeface="Arial"/>
              </a:rPr>
              <a:t>אנלוגיה: מכשיר הקלטה</a:t>
            </a:r>
          </a:p>
        </p:txBody>
      </p:sp>
      <p:sp>
        <p:nvSpPr>
          <p:cNvPr id="8" name="TextBox 7"/>
          <p:cNvSpPr txBox="1"/>
          <p:nvPr/>
        </p:nvSpPr>
        <p:spPr>
          <a:xfrm>
            <a:off x="777240" y="4800600"/>
            <a:ext cx="6217920" cy="1371600"/>
          </a:xfrm>
          <a:prstGeom prst="rect">
            <a:avLst/>
          </a:prstGeom>
          <a:noFill/>
        </p:spPr>
        <p:txBody>
          <a:bodyPr wrap="square" lIns="45720" tIns="27432" rIns="45720" bIns="27432" anchor="t">
            <a:spAutoFit/>
          </a:bodyPr>
          <a:lstStyle/>
          <a:p>
            <a:pPr algn="r" rtl="1">
              <a:spcAft>
                <a:spcPts val="600"/>
              </a:spcAft>
            </a:pPr>
            <a:r>
              <a:rPr lang="he-IL" sz="1500" b="0" i="0" dirty="0">
                <a:solidFill>
                  <a:srgbClr val="6B6478"/>
                </a:solidFill>
                <a:latin typeface="Arial"/>
                <a:cs typeface="Arial"/>
              </a:rPr>
              <a:t>ה-Model ”מקליט“ כל משתנה שמוגדר בתוך בלוק ה-with — נצפה או לא נצפה — ושומר את כולם במקום אחד, כדי שאפשר יהיה להתאים את המודל כיחידה.</a:t>
            </a:r>
          </a:p>
        </p:txBody>
      </p:sp>
      <p:sp>
        <p:nvSpPr>
          <p:cNvPr id="9" name="card"/>
          <p:cNvSpPr/>
          <p:nvPr/>
        </p:nvSpPr>
        <p:spPr>
          <a:xfrm>
            <a:off x="7543800" y="1463040"/>
            <a:ext cx="4096512" cy="141732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26679" y="1600200"/>
            <a:ext cx="3730752" cy="457200"/>
          </a:xfrm>
          <a:prstGeom prst="rect">
            <a:avLst/>
          </a:prstGeom>
          <a:noFill/>
        </p:spPr>
        <p:txBody>
          <a:bodyPr wrap="square" lIns="45720" tIns="27432" rIns="45720" bIns="27432" anchor="t">
            <a:spAutoFit/>
          </a:bodyPr>
          <a:lstStyle/>
          <a:p>
            <a:pPr algn="r" rtl="0">
              <a:spcAft>
                <a:spcPts val="600"/>
              </a:spcAft>
            </a:pPr>
            <a:r>
              <a:rPr lang="en-US" sz="1700" b="1" i="0">
                <a:solidFill>
                  <a:srgbClr val="17A398"/>
                </a:solidFill>
                <a:latin typeface="Courier New"/>
                <a:cs typeface="Courier New"/>
              </a:rPr>
              <a:t>pm.Model()</a:t>
            </a:r>
          </a:p>
        </p:txBody>
      </p:sp>
      <p:sp>
        <p:nvSpPr>
          <p:cNvPr id="11" name="TextBox 10"/>
          <p:cNvSpPr txBox="1"/>
          <p:nvPr/>
        </p:nvSpPr>
        <p:spPr>
          <a:xfrm>
            <a:off x="7726679" y="2084832"/>
            <a:ext cx="3730752" cy="731520"/>
          </a:xfrm>
          <a:prstGeom prst="rect">
            <a:avLst/>
          </a:prstGeom>
          <a:noFill/>
        </p:spPr>
        <p:txBody>
          <a:bodyPr wrap="square" lIns="45720" tIns="27432" rIns="45720" bIns="27432" anchor="t">
            <a:spAutoFit/>
          </a:bodyPr>
          <a:lstStyle/>
          <a:p>
            <a:pPr algn="r" rtl="1">
              <a:spcAft>
                <a:spcPts val="600"/>
              </a:spcAft>
            </a:pPr>
            <a:r>
              <a:rPr lang="he-IL" sz="1500" b="0" i="0">
                <a:solidFill>
                  <a:srgbClr val="6B6478"/>
                </a:solidFill>
                <a:latin typeface="Arial"/>
                <a:cs typeface="Arial"/>
              </a:rPr>
              <a:t>מיכל שמכיל את כל רכיבי המודל</a:t>
            </a:r>
          </a:p>
        </p:txBody>
      </p:sp>
      <p:sp>
        <p:nvSpPr>
          <p:cNvPr id="12" name="card"/>
          <p:cNvSpPr/>
          <p:nvPr/>
        </p:nvSpPr>
        <p:spPr>
          <a:xfrm>
            <a:off x="7543800" y="3108960"/>
            <a:ext cx="4096512" cy="141732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726679" y="3246120"/>
            <a:ext cx="3730752" cy="457200"/>
          </a:xfrm>
          <a:prstGeom prst="rect">
            <a:avLst/>
          </a:prstGeom>
          <a:noFill/>
        </p:spPr>
        <p:txBody>
          <a:bodyPr wrap="square" lIns="45720" tIns="27432" rIns="45720" bIns="27432" anchor="t">
            <a:spAutoFit/>
          </a:bodyPr>
          <a:lstStyle/>
          <a:p>
            <a:pPr algn="r" rtl="0">
              <a:spcAft>
                <a:spcPts val="600"/>
              </a:spcAft>
            </a:pPr>
            <a:r>
              <a:rPr lang="en-US" sz="1700" b="1" i="0">
                <a:solidFill>
                  <a:srgbClr val="7B5EA7"/>
                </a:solidFill>
                <a:latin typeface="Courier New"/>
                <a:cs typeface="Courier New"/>
              </a:rPr>
              <a:t>with ...</a:t>
            </a:r>
          </a:p>
        </p:txBody>
      </p:sp>
      <p:sp>
        <p:nvSpPr>
          <p:cNvPr id="14" name="TextBox 13"/>
          <p:cNvSpPr txBox="1"/>
          <p:nvPr/>
        </p:nvSpPr>
        <p:spPr>
          <a:xfrm>
            <a:off x="7726679" y="3730752"/>
            <a:ext cx="3730752" cy="731520"/>
          </a:xfrm>
          <a:prstGeom prst="rect">
            <a:avLst/>
          </a:prstGeom>
          <a:noFill/>
        </p:spPr>
        <p:txBody>
          <a:bodyPr wrap="square" lIns="45720" tIns="27432" rIns="45720" bIns="27432" anchor="t">
            <a:spAutoFit/>
          </a:bodyPr>
          <a:lstStyle/>
          <a:p>
            <a:pPr algn="r" rtl="1">
              <a:spcAft>
                <a:spcPts val="600"/>
              </a:spcAft>
            </a:pPr>
            <a:r>
              <a:rPr lang="he-IL" sz="1500" b="0" i="0">
                <a:solidFill>
                  <a:srgbClr val="6B6478"/>
                </a:solidFill>
                <a:latin typeface="Arial"/>
                <a:cs typeface="Arial"/>
              </a:rPr>
              <a:t>context manager: כל משתנה שמוגדר בבלוק נוסף למודל אוטומטית</a:t>
            </a:r>
          </a:p>
        </p:txBody>
      </p:sp>
      <p:sp>
        <p:nvSpPr>
          <p:cNvPr id="15" name="card"/>
          <p:cNvSpPr/>
          <p:nvPr/>
        </p:nvSpPr>
        <p:spPr>
          <a:xfrm>
            <a:off x="7543800" y="4754880"/>
            <a:ext cx="4096512" cy="141732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726679" y="4892040"/>
            <a:ext cx="3730752" cy="457200"/>
          </a:xfrm>
          <a:prstGeom prst="rect">
            <a:avLst/>
          </a:prstGeom>
          <a:noFill/>
        </p:spPr>
        <p:txBody>
          <a:bodyPr wrap="square" lIns="45720" tIns="27432" rIns="45720" bIns="27432" anchor="t">
            <a:spAutoFit/>
          </a:bodyPr>
          <a:lstStyle/>
          <a:p>
            <a:pPr algn="r" rtl="0">
              <a:spcAft>
                <a:spcPts val="600"/>
              </a:spcAft>
            </a:pPr>
            <a:r>
              <a:rPr lang="en-US" sz="1700" b="1" i="0">
                <a:solidFill>
                  <a:srgbClr val="E4572E"/>
                </a:solidFill>
                <a:latin typeface="Courier New"/>
                <a:cs typeface="Courier New"/>
              </a:rPr>
              <a:t>shape=2</a:t>
            </a:r>
          </a:p>
        </p:txBody>
      </p:sp>
      <p:sp>
        <p:nvSpPr>
          <p:cNvPr id="17" name="TextBox 16"/>
          <p:cNvSpPr txBox="1"/>
          <p:nvPr/>
        </p:nvSpPr>
        <p:spPr>
          <a:xfrm>
            <a:off x="7726679" y="5376672"/>
            <a:ext cx="3730752" cy="731520"/>
          </a:xfrm>
          <a:prstGeom prst="rect">
            <a:avLst/>
          </a:prstGeom>
          <a:noFill/>
        </p:spPr>
        <p:txBody>
          <a:bodyPr wrap="square" lIns="45720" tIns="27432" rIns="45720" bIns="27432" anchor="t">
            <a:spAutoFit/>
          </a:bodyPr>
          <a:lstStyle/>
          <a:p>
            <a:pPr algn="r" rtl="1">
              <a:spcAft>
                <a:spcPts val="600"/>
              </a:spcAft>
            </a:pPr>
            <a:r>
              <a:rPr lang="he-IL" sz="1500" b="0" i="0">
                <a:solidFill>
                  <a:srgbClr val="6B6478"/>
                </a:solidFill>
                <a:latin typeface="Arial"/>
                <a:cs typeface="Arial"/>
              </a:rPr>
              <a:t>”אצווה“ של שני משתנים: </a:t>
            </a:r>
            <a:r>
              <a:rPr lang="en-US" sz="1500" b="0" i="0">
                <a:solidFill>
                  <a:srgbClr val="6B6478"/>
                </a:solidFill>
                <a:latin typeface="Arial"/>
                <a:cs typeface="Arial"/>
              </a:rPr>
              <a:t>μ₁</a:t>
            </a:r>
            <a:r>
              <a:rPr lang="he-IL" sz="1500" b="0" i="0">
                <a:solidFill>
                  <a:srgbClr val="6B6478"/>
                </a:solidFill>
                <a:latin typeface="Arial"/>
                <a:cs typeface="Arial"/>
              </a:rPr>
              <a:t> ו-</a:t>
            </a:r>
            <a:r>
              <a:rPr lang="en-US" sz="1500" b="0" i="0">
                <a:solidFill>
                  <a:srgbClr val="6B6478"/>
                </a:solidFill>
                <a:latin typeface="Arial"/>
                <a:cs typeface="Arial"/>
              </a:rPr>
              <a:t>μ₂</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4415" cy="822960"/>
          </a:xfrm>
          <a:prstGeom prst="rect">
            <a:avLst/>
          </a:prstGeom>
          <a:noFill/>
        </p:spPr>
        <p:txBody>
          <a:bodyPr wrap="square" lIns="45720" tIns="27432" rIns="45720" bIns="27432" anchor="ctr">
            <a:spAutoFit/>
          </a:bodyPr>
          <a:lstStyle/>
          <a:p>
            <a:pPr algn="r" rtl="1">
              <a:spcAft>
                <a:spcPts val="600"/>
              </a:spcAft>
            </a:pPr>
            <a:r>
              <a:rPr lang="he-IL" sz="3400" b="1" i="0">
                <a:solidFill>
                  <a:srgbClr val="2B1E3F"/>
                </a:solidFill>
                <a:latin typeface="Arial"/>
                <a:cs typeface="Arial"/>
              </a:rPr>
              <a:t>משתנה סטוכסטי: logp ו-draw</a:t>
            </a:r>
          </a:p>
        </p:txBody>
      </p:sp>
      <p:sp>
        <p:nvSpPr>
          <p:cNvPr id="3" name="card"/>
          <p:cNvSpPr/>
          <p:nvPr/>
        </p:nvSpPr>
        <p:spPr>
          <a:xfrm>
            <a:off x="6281928" y="1463040"/>
            <a:ext cx="5358384" cy="333756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6556248" y="1600200"/>
            <a:ext cx="4809744" cy="548640"/>
          </a:xfrm>
          <a:prstGeom prst="rect">
            <a:avLst/>
          </a:prstGeom>
          <a:noFill/>
        </p:spPr>
        <p:txBody>
          <a:bodyPr wrap="square" lIns="45720" tIns="27432" rIns="45720" bIns="27432" anchor="ctr">
            <a:spAutoFit/>
          </a:bodyPr>
          <a:lstStyle/>
          <a:p>
            <a:pPr algn="r" rtl="1">
              <a:spcAft>
                <a:spcPts val="600"/>
              </a:spcAft>
            </a:pPr>
            <a:r>
              <a:rPr lang="he-IL" sz="1900" b="1" i="0" dirty="0">
                <a:solidFill>
                  <a:srgbClr val="17A398"/>
                </a:solidFill>
                <a:latin typeface="Arial"/>
                <a:cs typeface="Arial"/>
              </a:rPr>
              <a:t>pm.logp — לוג-ההסתברות</a:t>
            </a:r>
          </a:p>
        </p:txBody>
      </p:sp>
      <p:sp>
        <p:nvSpPr>
          <p:cNvPr id="5" name="code block"/>
          <p:cNvSpPr/>
          <p:nvPr/>
        </p:nvSpPr>
        <p:spPr>
          <a:xfrm>
            <a:off x="6510528" y="2240280"/>
            <a:ext cx="4901184" cy="1508760"/>
          </a:xfrm>
          <a:prstGeom prst="roundRect">
            <a:avLst>
              <a:gd name="adj" fmla="val 8000"/>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code"/>
          <p:cNvSpPr txBox="1"/>
          <p:nvPr/>
        </p:nvSpPr>
        <p:spPr>
          <a:xfrm>
            <a:off x="6739128" y="2423160"/>
            <a:ext cx="4443984" cy="1143000"/>
          </a:xfrm>
          <a:prstGeom prst="rect">
            <a:avLst/>
          </a:prstGeom>
          <a:noFill/>
        </p:spPr>
        <p:txBody>
          <a:bodyPr wrap="square" lIns="45720" tIns="27432" rIns="45720" bIns="27432" anchor="t">
            <a:spAutoFit/>
          </a:bodyPr>
          <a:lstStyle/>
          <a:p>
            <a:pPr algn="l" rtl="0">
              <a:spcAft>
                <a:spcPts val="0"/>
              </a:spcAft>
            </a:pPr>
            <a:r>
              <a:rPr lang="en-US" sz="1300" b="0" i="0">
                <a:solidFill>
                  <a:srgbClr val="EDE8F5"/>
                </a:solidFill>
                <a:latin typeface="Courier New"/>
                <a:cs typeface="Courier New"/>
              </a:rPr>
              <a:t>&gt;&gt;&gt; pm.logp(tau, 5).eval()</a:t>
            </a:r>
          </a:p>
          <a:p>
            <a:pPr algn="l" rtl="0">
              <a:spcAft>
                <a:spcPts val="0"/>
              </a:spcAft>
            </a:pPr>
            <a:r>
              <a:rPr lang="en-US" sz="1300" b="0" i="0">
                <a:solidFill>
                  <a:srgbClr val="EDE8F5"/>
                </a:solidFill>
                <a:latin typeface="Courier New"/>
                <a:cs typeface="Courier New"/>
              </a:rPr>
              <a:t>array(-5.198)</a:t>
            </a:r>
          </a:p>
        </p:txBody>
      </p:sp>
      <p:sp>
        <p:nvSpPr>
          <p:cNvPr id="7" name="TextBox 6"/>
          <p:cNvSpPr txBox="1"/>
          <p:nvPr/>
        </p:nvSpPr>
        <p:spPr>
          <a:xfrm>
            <a:off x="6556248" y="3886200"/>
            <a:ext cx="4809744" cy="917174"/>
          </a:xfrm>
          <a:prstGeom prst="rect">
            <a:avLst/>
          </a:prstGeom>
          <a:noFill/>
        </p:spPr>
        <p:txBody>
          <a:bodyPr wrap="square" lIns="45720" tIns="27432" rIns="45720" bIns="27432" anchor="t">
            <a:spAutoFit/>
          </a:bodyPr>
          <a:lstStyle/>
          <a:p>
            <a:pPr algn="r" rtl="1">
              <a:spcAft>
                <a:spcPts val="600"/>
              </a:spcAft>
            </a:pPr>
            <a:r>
              <a:rPr lang="he-IL" sz="1400" b="0" i="0" dirty="0">
                <a:solidFill>
                  <a:srgbClr val="6B6478"/>
                </a:solidFill>
                <a:latin typeface="Arial"/>
                <a:cs typeface="Arial"/>
              </a:rPr>
              <a:t>PyMC משתמש בזה פנימית בכל שיטות ההסקה לחישוב ההסתברות של המודל</a:t>
            </a:r>
            <a:r>
              <a:rPr lang="en-US" sz="1400" b="0" i="0" dirty="0">
                <a:solidFill>
                  <a:srgbClr val="6B6478"/>
                </a:solidFill>
                <a:latin typeface="Arial"/>
                <a:cs typeface="Arial"/>
              </a:rPr>
              <a:t>.</a:t>
            </a:r>
            <a:r>
              <a:rPr lang="he-IL" sz="1400" b="0" i="0" dirty="0">
                <a:solidFill>
                  <a:srgbClr val="6B6478"/>
                </a:solidFill>
                <a:latin typeface="Arial"/>
                <a:cs typeface="Arial"/>
              </a:rPr>
              <a:t> בפועל אנחנו לא משתמשים בזה. הסיבה שזה קורה מאחרוי הקלעים בגלל שמעניין אותנו ה</a:t>
            </a:r>
            <a:r>
              <a:rPr lang="en-US" sz="1400" b="0" i="0" dirty="0">
                <a:solidFill>
                  <a:srgbClr val="6B6478"/>
                </a:solidFill>
                <a:latin typeface="Arial"/>
                <a:cs typeface="Arial"/>
              </a:rPr>
              <a:t>log-likelihood</a:t>
            </a:r>
            <a:r>
              <a:rPr lang="he-IL" sz="1400" b="0" i="0" dirty="0">
                <a:solidFill>
                  <a:srgbClr val="6B6478"/>
                </a:solidFill>
                <a:latin typeface="Arial"/>
                <a:cs typeface="Arial"/>
              </a:rPr>
              <a:t> ולא ה</a:t>
            </a:r>
            <a:r>
              <a:rPr lang="en-US" sz="1400" b="0" i="0" dirty="0">
                <a:solidFill>
                  <a:srgbClr val="6B6478"/>
                </a:solidFill>
                <a:latin typeface="Arial"/>
                <a:cs typeface="Arial"/>
              </a:rPr>
              <a:t>likelihood</a:t>
            </a:r>
            <a:r>
              <a:rPr lang="he-IL" sz="1400" b="0" i="0" dirty="0">
                <a:solidFill>
                  <a:srgbClr val="6B6478"/>
                </a:solidFill>
                <a:latin typeface="Arial"/>
                <a:cs typeface="Arial"/>
              </a:rPr>
              <a:t> עצמו. </a:t>
            </a:r>
          </a:p>
        </p:txBody>
      </p:sp>
      <p:sp>
        <p:nvSpPr>
          <p:cNvPr id="8" name="card"/>
          <p:cNvSpPr/>
          <p:nvPr/>
        </p:nvSpPr>
        <p:spPr>
          <a:xfrm>
            <a:off x="548640" y="1463040"/>
            <a:ext cx="5358384" cy="333756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22959" y="1600200"/>
            <a:ext cx="4809744" cy="548640"/>
          </a:xfrm>
          <a:prstGeom prst="rect">
            <a:avLst/>
          </a:prstGeom>
          <a:noFill/>
        </p:spPr>
        <p:txBody>
          <a:bodyPr wrap="square" lIns="45720" tIns="27432" rIns="45720" bIns="27432" anchor="ctr">
            <a:spAutoFit/>
          </a:bodyPr>
          <a:lstStyle/>
          <a:p>
            <a:pPr algn="r" rtl="1">
              <a:spcAft>
                <a:spcPts val="600"/>
              </a:spcAft>
            </a:pPr>
            <a:r>
              <a:rPr lang="he-IL" sz="1900" b="1" i="0">
                <a:solidFill>
                  <a:srgbClr val="E4572E"/>
                </a:solidFill>
                <a:latin typeface="Arial"/>
                <a:cs typeface="Arial"/>
              </a:rPr>
              <a:t>pm.draw — דגימת ערכים</a:t>
            </a:r>
          </a:p>
        </p:txBody>
      </p:sp>
      <p:sp>
        <p:nvSpPr>
          <p:cNvPr id="10" name="code block"/>
          <p:cNvSpPr/>
          <p:nvPr/>
        </p:nvSpPr>
        <p:spPr>
          <a:xfrm>
            <a:off x="777240" y="2240280"/>
            <a:ext cx="4901184" cy="1508760"/>
          </a:xfrm>
          <a:prstGeom prst="roundRect">
            <a:avLst>
              <a:gd name="adj" fmla="val 8000"/>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code"/>
          <p:cNvSpPr txBox="1"/>
          <p:nvPr/>
        </p:nvSpPr>
        <p:spPr>
          <a:xfrm>
            <a:off x="1005840" y="2423160"/>
            <a:ext cx="4443984" cy="1143000"/>
          </a:xfrm>
          <a:prstGeom prst="rect">
            <a:avLst/>
          </a:prstGeom>
          <a:noFill/>
        </p:spPr>
        <p:txBody>
          <a:bodyPr wrap="square" lIns="45720" tIns="27432" rIns="45720" bIns="27432" anchor="t">
            <a:spAutoFit/>
          </a:bodyPr>
          <a:lstStyle/>
          <a:p>
            <a:pPr algn="l" rtl="0">
              <a:spcAft>
                <a:spcPts val="0"/>
              </a:spcAft>
            </a:pPr>
            <a:r>
              <a:rPr lang="en-US" sz="1300" b="0" i="0">
                <a:solidFill>
                  <a:srgbClr val="EDE8F5"/>
                </a:solidFill>
                <a:latin typeface="Courier New"/>
                <a:cs typeface="Courier New"/>
              </a:rPr>
              <a:t>&gt;&gt;&gt; pm.draw(mu, 3)</a:t>
            </a:r>
          </a:p>
          <a:p>
            <a:pPr algn="l" rtl="0">
              <a:spcAft>
                <a:spcPts val="0"/>
              </a:spcAft>
            </a:pPr>
            <a:r>
              <a:rPr lang="en-US" sz="1300" b="0" i="0">
                <a:solidFill>
                  <a:srgbClr val="EDE8F5"/>
                </a:solidFill>
                <a:latin typeface="Courier New"/>
                <a:cs typeface="Courier New"/>
              </a:rPr>
              <a:t>array([[2477.7, 2695.9],</a:t>
            </a:r>
          </a:p>
          <a:p>
            <a:pPr algn="l" rtl="0">
              <a:spcAft>
                <a:spcPts val="0"/>
              </a:spcAft>
            </a:pPr>
            <a:r>
              <a:rPr lang="en-US" sz="1300" b="0" i="0">
                <a:solidFill>
                  <a:srgbClr val="EDE8F5"/>
                </a:solidFill>
                <a:latin typeface="Courier New"/>
                <a:cs typeface="Courier New"/>
              </a:rPr>
              <a:t>       [2524.8, 2553.0],</a:t>
            </a:r>
          </a:p>
          <a:p>
            <a:pPr algn="l" rtl="0">
              <a:spcAft>
                <a:spcPts val="0"/>
              </a:spcAft>
            </a:pPr>
            <a:r>
              <a:rPr lang="en-US" sz="1300" b="0" i="0">
                <a:solidFill>
                  <a:srgbClr val="EDE8F5"/>
                </a:solidFill>
                <a:latin typeface="Courier New"/>
                <a:cs typeface="Courier New"/>
              </a:rPr>
              <a:t>       [2571.3, 2308.7]])</a:t>
            </a:r>
          </a:p>
        </p:txBody>
      </p:sp>
      <p:sp>
        <p:nvSpPr>
          <p:cNvPr id="12" name="TextBox 11"/>
          <p:cNvSpPr txBox="1"/>
          <p:nvPr/>
        </p:nvSpPr>
        <p:spPr>
          <a:xfrm>
            <a:off x="822959" y="3886200"/>
            <a:ext cx="4809744" cy="822960"/>
          </a:xfrm>
          <a:prstGeom prst="rect">
            <a:avLst/>
          </a:prstGeom>
          <a:noFill/>
        </p:spPr>
        <p:txBody>
          <a:bodyPr wrap="square" lIns="45720" tIns="27432" rIns="45720" bIns="27432" anchor="t">
            <a:spAutoFit/>
          </a:bodyPr>
          <a:lstStyle/>
          <a:p>
            <a:pPr algn="r" rtl="1">
              <a:spcAft>
                <a:spcPts val="600"/>
              </a:spcAft>
            </a:pPr>
            <a:r>
              <a:rPr lang="he-IL" sz="1400" b="0" i="0">
                <a:solidFill>
                  <a:srgbClr val="6B6478"/>
                </a:solidFill>
                <a:latin typeface="Arial"/>
                <a:cs typeface="Arial"/>
              </a:rPr>
              <a:t>יצירת ערכים מקריים מהמשתנה — משמש לבדיקות פוסטריור-פרדיקטיביות</a:t>
            </a:r>
          </a:p>
        </p:txBody>
      </p:sp>
      <p:sp>
        <p:nvSpPr>
          <p:cNvPr id="13" name="TextBox 12"/>
          <p:cNvSpPr txBox="1"/>
          <p:nvPr/>
        </p:nvSpPr>
        <p:spPr>
          <a:xfrm>
            <a:off x="548640" y="4983480"/>
            <a:ext cx="11091672" cy="411480"/>
          </a:xfrm>
          <a:prstGeom prst="rect">
            <a:avLst/>
          </a:prstGeom>
          <a:noFill/>
        </p:spPr>
        <p:txBody>
          <a:bodyPr wrap="square" lIns="45720" tIns="27432" rIns="45720" bIns="27432" anchor="t">
            <a:spAutoFit/>
          </a:bodyPr>
          <a:lstStyle/>
          <a:p>
            <a:pPr algn="r" rtl="1">
              <a:spcAft>
                <a:spcPts val="600"/>
              </a:spcAft>
            </a:pPr>
            <a:r>
              <a:rPr lang="he-IL" sz="1600" b="1" i="0">
                <a:solidFill>
                  <a:srgbClr val="2B1E3F"/>
                </a:solidFill>
                <a:latin typeface="Arial"/>
                <a:cs typeface="Arial"/>
              </a:rPr>
              <a:t>חמש קטגוריות של התפלגויות ב-PyMC</a:t>
            </a:r>
          </a:p>
        </p:txBody>
      </p:sp>
      <p:sp>
        <p:nvSpPr>
          <p:cNvPr id="14" name="Rounded Rectangle 13"/>
          <p:cNvSpPr/>
          <p:nvPr/>
        </p:nvSpPr>
        <p:spPr>
          <a:xfrm>
            <a:off x="9571024" y="5486400"/>
            <a:ext cx="2072030" cy="685800"/>
          </a:xfrm>
          <a:prstGeom prst="roundRect">
            <a:avLst>
              <a:gd name="adj" fmla="val 30000"/>
            </a:avLst>
          </a:prstGeom>
          <a:solidFill>
            <a:srgbClr val="F3F0F7"/>
          </a:solidFill>
          <a:ln w="15875">
            <a:solidFill>
              <a:srgbClr val="CFC6D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rtl="1"/>
            <a:r>
              <a:rPr sz="1400" b="0">
                <a:solidFill>
                  <a:srgbClr val="2B1E3F"/>
                </a:solidFill>
                <a:latin typeface="Arial"/>
                <a:cs typeface="Arial"/>
              </a:rPr>
              <a:t>רציפה חד-ממדית</a:t>
            </a:r>
          </a:p>
        </p:txBody>
      </p:sp>
      <p:sp>
        <p:nvSpPr>
          <p:cNvPr id="15" name="Rounded Rectangle 14"/>
          <p:cNvSpPr/>
          <p:nvPr/>
        </p:nvSpPr>
        <p:spPr>
          <a:xfrm>
            <a:off x="7316114" y="5486400"/>
            <a:ext cx="2072030" cy="685800"/>
          </a:xfrm>
          <a:prstGeom prst="roundRect">
            <a:avLst>
              <a:gd name="adj" fmla="val 30000"/>
            </a:avLst>
          </a:prstGeom>
          <a:solidFill>
            <a:srgbClr val="F3F0F7"/>
          </a:solidFill>
          <a:ln w="15875">
            <a:solidFill>
              <a:srgbClr val="CFC6D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rtl="1"/>
            <a:r>
              <a:rPr sz="1400" b="0">
                <a:solidFill>
                  <a:srgbClr val="2B1E3F"/>
                </a:solidFill>
                <a:latin typeface="Arial"/>
                <a:cs typeface="Arial"/>
              </a:rPr>
              <a:t>בדידה חד-ממדית</a:t>
            </a:r>
          </a:p>
        </p:txBody>
      </p:sp>
      <p:sp>
        <p:nvSpPr>
          <p:cNvPr id="16" name="Rounded Rectangle 15"/>
          <p:cNvSpPr/>
          <p:nvPr/>
        </p:nvSpPr>
        <p:spPr>
          <a:xfrm>
            <a:off x="5061204" y="5486400"/>
            <a:ext cx="2072030" cy="685800"/>
          </a:xfrm>
          <a:prstGeom prst="roundRect">
            <a:avLst>
              <a:gd name="adj" fmla="val 30000"/>
            </a:avLst>
          </a:prstGeom>
          <a:solidFill>
            <a:srgbClr val="F3F0F7"/>
          </a:solidFill>
          <a:ln w="15875">
            <a:solidFill>
              <a:srgbClr val="CFC6D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rtl="1"/>
            <a:r>
              <a:rPr sz="1400" b="0">
                <a:solidFill>
                  <a:srgbClr val="2B1E3F"/>
                </a:solidFill>
                <a:latin typeface="Arial"/>
                <a:cs typeface="Arial"/>
              </a:rPr>
              <a:t>רב-ממדית</a:t>
            </a:r>
          </a:p>
        </p:txBody>
      </p:sp>
      <p:sp>
        <p:nvSpPr>
          <p:cNvPr id="17" name="Rounded Rectangle 16"/>
          <p:cNvSpPr/>
          <p:nvPr/>
        </p:nvSpPr>
        <p:spPr>
          <a:xfrm>
            <a:off x="2806293" y="5486400"/>
            <a:ext cx="2072030" cy="685800"/>
          </a:xfrm>
          <a:prstGeom prst="roundRect">
            <a:avLst>
              <a:gd name="adj" fmla="val 30000"/>
            </a:avLst>
          </a:prstGeom>
          <a:solidFill>
            <a:srgbClr val="F3F0F7"/>
          </a:solidFill>
          <a:ln w="15875">
            <a:solidFill>
              <a:srgbClr val="CFC6D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rtl="1"/>
            <a:r>
              <a:rPr sz="1400" b="0">
                <a:solidFill>
                  <a:srgbClr val="2B1E3F"/>
                </a:solidFill>
                <a:latin typeface="Arial"/>
                <a:cs typeface="Arial"/>
              </a:rPr>
              <a:t>תערובת (Mixture)</a:t>
            </a:r>
          </a:p>
        </p:txBody>
      </p:sp>
      <p:sp>
        <p:nvSpPr>
          <p:cNvPr id="18" name="Rounded Rectangle 17"/>
          <p:cNvSpPr/>
          <p:nvPr/>
        </p:nvSpPr>
        <p:spPr>
          <a:xfrm>
            <a:off x="551383" y="5486400"/>
            <a:ext cx="2072030" cy="685800"/>
          </a:xfrm>
          <a:prstGeom prst="roundRect">
            <a:avLst>
              <a:gd name="adj" fmla="val 30000"/>
            </a:avLst>
          </a:prstGeom>
          <a:solidFill>
            <a:srgbClr val="F3F0F7"/>
          </a:solidFill>
          <a:ln w="15875">
            <a:solidFill>
              <a:srgbClr val="CFC6D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rtl="1"/>
            <a:r>
              <a:rPr sz="1400" b="0">
                <a:solidFill>
                  <a:srgbClr val="2B1E3F"/>
                </a:solidFill>
                <a:latin typeface="Arial"/>
                <a:cs typeface="Arial"/>
              </a:rPr>
              <a:t>סדרות עתיות</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4415" cy="822960"/>
          </a:xfrm>
          <a:prstGeom prst="rect">
            <a:avLst/>
          </a:prstGeom>
          <a:noFill/>
        </p:spPr>
        <p:txBody>
          <a:bodyPr wrap="square" lIns="45720" tIns="27432" rIns="45720" bIns="27432" anchor="ctr">
            <a:spAutoFit/>
          </a:bodyPr>
          <a:lstStyle/>
          <a:p>
            <a:pPr algn="r" rtl="1">
              <a:spcAft>
                <a:spcPts val="600"/>
              </a:spcAft>
            </a:pPr>
            <a:r>
              <a:rPr lang="he-IL" sz="3400" b="1" i="0">
                <a:solidFill>
                  <a:srgbClr val="2B1E3F"/>
                </a:solidFill>
                <a:latin typeface="Arial"/>
                <a:cs typeface="Arial"/>
              </a:rPr>
              <a:t>הוספת </a:t>
            </a:r>
            <a:r>
              <a:rPr lang="en-US" sz="3400" b="1" i="0">
                <a:solidFill>
                  <a:srgbClr val="2B1E3F"/>
                </a:solidFill>
                <a:latin typeface="Arial"/>
                <a:cs typeface="Arial"/>
              </a:rPr>
              <a:t>σ</a:t>
            </a:r>
            <a:r>
              <a:rPr lang="he-IL" sz="3400" b="1" i="0">
                <a:solidFill>
                  <a:srgbClr val="2B1E3F"/>
                </a:solidFill>
                <a:latin typeface="Arial"/>
                <a:cs typeface="Arial"/>
              </a:rPr>
              <a:t> — ופתיחה מחדש של המודל</a:t>
            </a:r>
          </a:p>
        </p:txBody>
      </p:sp>
      <p:sp>
        <p:nvSpPr>
          <p:cNvPr id="3" name="code block"/>
          <p:cNvSpPr/>
          <p:nvPr/>
        </p:nvSpPr>
        <p:spPr>
          <a:xfrm>
            <a:off x="548640" y="1463040"/>
            <a:ext cx="6675120" cy="1463040"/>
          </a:xfrm>
          <a:prstGeom prst="roundRect">
            <a:avLst>
              <a:gd name="adj" fmla="val 8000"/>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code"/>
          <p:cNvSpPr txBox="1"/>
          <p:nvPr/>
        </p:nvSpPr>
        <p:spPr>
          <a:xfrm>
            <a:off x="777240" y="1645920"/>
            <a:ext cx="6217920" cy="1097280"/>
          </a:xfrm>
          <a:prstGeom prst="rect">
            <a:avLst/>
          </a:prstGeom>
          <a:noFill/>
        </p:spPr>
        <p:txBody>
          <a:bodyPr wrap="square" lIns="45720" tIns="27432" rIns="45720" bIns="27432" anchor="t">
            <a:spAutoFit/>
          </a:bodyPr>
          <a:lstStyle/>
          <a:p>
            <a:pPr algn="l" rtl="0">
              <a:spcAft>
                <a:spcPts val="0"/>
              </a:spcAft>
            </a:pPr>
            <a:r>
              <a:rPr lang="en-US" sz="1500" b="0" i="0" dirty="0">
                <a:solidFill>
                  <a:srgbClr val="EDE8F5"/>
                </a:solidFill>
                <a:latin typeface="Courier New"/>
                <a:cs typeface="Courier New"/>
              </a:rPr>
              <a:t>with </a:t>
            </a:r>
            <a:r>
              <a:rPr lang="en-US" sz="1500" b="0" i="0" dirty="0" err="1">
                <a:solidFill>
                  <a:srgbClr val="EDE8F5"/>
                </a:solidFill>
                <a:latin typeface="Courier New"/>
                <a:cs typeface="Courier New"/>
              </a:rPr>
              <a:t>spin_rate_model</a:t>
            </a:r>
            <a:r>
              <a:rPr lang="en-US" sz="1500" b="0" i="0" dirty="0">
                <a:solidFill>
                  <a:srgbClr val="EDE8F5"/>
                </a:solidFill>
                <a:latin typeface="Courier New"/>
                <a:cs typeface="Courier New"/>
              </a:rPr>
              <a:t>:</a:t>
            </a:r>
          </a:p>
          <a:p>
            <a:pPr algn="l" rtl="0">
              <a:spcAft>
                <a:spcPts val="0"/>
              </a:spcAft>
            </a:pPr>
            <a:r>
              <a:rPr lang="en-US" sz="1500" b="0" i="0" dirty="0">
                <a:solidFill>
                  <a:srgbClr val="EDE8F5"/>
                </a:solidFill>
                <a:latin typeface="Courier New"/>
                <a:cs typeface="Courier New"/>
              </a:rPr>
              <a:t>    sigma = </a:t>
            </a:r>
            <a:r>
              <a:rPr lang="en-US" sz="1500" b="0" i="0" dirty="0" err="1">
                <a:solidFill>
                  <a:srgbClr val="EDE8F5"/>
                </a:solidFill>
                <a:latin typeface="Courier New"/>
                <a:cs typeface="Courier New"/>
              </a:rPr>
              <a:t>pm.HalfNormal</a:t>
            </a:r>
            <a:r>
              <a:rPr lang="en-US" sz="1500" b="0" i="0" dirty="0">
                <a:solidFill>
                  <a:srgbClr val="EDE8F5"/>
                </a:solidFill>
                <a:latin typeface="Courier New"/>
                <a:cs typeface="Courier New"/>
              </a:rPr>
              <a:t>("sigma", 100.)</a:t>
            </a:r>
          </a:p>
        </p:txBody>
      </p:sp>
      <p:sp>
        <p:nvSpPr>
          <p:cNvPr id="5" name="code block"/>
          <p:cNvSpPr/>
          <p:nvPr/>
        </p:nvSpPr>
        <p:spPr>
          <a:xfrm>
            <a:off x="548640" y="3154680"/>
            <a:ext cx="6675120" cy="1188720"/>
          </a:xfrm>
          <a:prstGeom prst="roundRect">
            <a:avLst>
              <a:gd name="adj" fmla="val 8000"/>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code"/>
          <p:cNvSpPr txBox="1"/>
          <p:nvPr/>
        </p:nvSpPr>
        <p:spPr>
          <a:xfrm>
            <a:off x="777240" y="3337560"/>
            <a:ext cx="6217920" cy="822960"/>
          </a:xfrm>
          <a:prstGeom prst="rect">
            <a:avLst/>
          </a:prstGeom>
          <a:noFill/>
        </p:spPr>
        <p:txBody>
          <a:bodyPr wrap="square" lIns="45720" tIns="27432" rIns="45720" bIns="27432" anchor="t">
            <a:spAutoFit/>
          </a:bodyPr>
          <a:lstStyle/>
          <a:p>
            <a:pPr algn="l" rtl="0">
              <a:spcAft>
                <a:spcPts val="0"/>
              </a:spcAft>
            </a:pPr>
            <a:r>
              <a:rPr lang="en-US" sz="1500" b="0" i="0" dirty="0">
                <a:solidFill>
                  <a:srgbClr val="EDE8F5"/>
                </a:solidFill>
                <a:latin typeface="Courier New"/>
                <a:cs typeface="Courier New"/>
              </a:rPr>
              <a:t>&gt;&gt;&gt; </a:t>
            </a:r>
            <a:r>
              <a:rPr lang="en-US" sz="1500" b="0" i="0" dirty="0" err="1">
                <a:solidFill>
                  <a:srgbClr val="EDE8F5"/>
                </a:solidFill>
                <a:latin typeface="Courier New"/>
                <a:cs typeface="Courier New"/>
              </a:rPr>
              <a:t>spin_rate_model.unobserved_RVs</a:t>
            </a:r>
            <a:endParaRPr lang="en-US" sz="1500" b="0" i="0" dirty="0">
              <a:solidFill>
                <a:srgbClr val="EDE8F5"/>
              </a:solidFill>
              <a:latin typeface="Courier New"/>
              <a:cs typeface="Courier New"/>
            </a:endParaRPr>
          </a:p>
          <a:p>
            <a:pPr algn="l" rtl="0">
              <a:spcAft>
                <a:spcPts val="0"/>
              </a:spcAft>
            </a:pPr>
            <a:r>
              <a:rPr lang="en-US" sz="1500" b="0" i="0" dirty="0">
                <a:solidFill>
                  <a:srgbClr val="EDE8F5"/>
                </a:solidFill>
                <a:latin typeface="Courier New"/>
                <a:cs typeface="Courier New"/>
              </a:rPr>
              <a:t>[mu, tau, sigma]</a:t>
            </a:r>
          </a:p>
        </p:txBody>
      </p:sp>
      <p:sp>
        <p:nvSpPr>
          <p:cNvPr id="7" name="TextBox 6"/>
          <p:cNvSpPr txBox="1"/>
          <p:nvPr/>
        </p:nvSpPr>
        <p:spPr>
          <a:xfrm>
            <a:off x="7543800" y="1463040"/>
            <a:ext cx="4096512" cy="2926080"/>
          </a:xfrm>
          <a:prstGeom prst="rect">
            <a:avLst/>
          </a:prstGeom>
          <a:noFill/>
        </p:spPr>
        <p:txBody>
          <a:bodyPr wrap="square" lIns="45720" tIns="27432" rIns="45720" bIns="27432" anchor="t">
            <a:spAutoFit/>
          </a:bodyPr>
          <a:lstStyle/>
          <a:p>
            <a:pPr marR="274320" indent="-274320" algn="r" rtl="1">
              <a:spcAft>
                <a:spcPts val="1400"/>
              </a:spcAft>
              <a:buClr>
                <a:srgbClr val="17A398"/>
              </a:buClr>
              <a:buFont typeface="Arial"/>
              <a:buChar char="•"/>
            </a:pPr>
            <a:r>
              <a:rPr lang="he-IL" sz="1600" b="1" i="0">
                <a:solidFill>
                  <a:srgbClr val="2B1E3F"/>
                </a:solidFill>
                <a:latin typeface="Arial"/>
                <a:cs typeface="Arial"/>
              </a:rPr>
              <a:t>פתיחה מחדש: </a:t>
            </a:r>
            <a:r>
              <a:rPr lang="he-IL" sz="1600" b="0" i="0">
                <a:solidFill>
                  <a:srgbClr val="2B1E3F"/>
                </a:solidFill>
                <a:latin typeface="Arial"/>
                <a:cs typeface="Arial"/>
              </a:rPr>
              <a:t>with נוסף על אותו מודל מוסיף לו משתנים</a:t>
            </a:r>
          </a:p>
          <a:p>
            <a:pPr marR="274320" indent="-274320" algn="r" rtl="1">
              <a:spcAft>
                <a:spcPts val="1400"/>
              </a:spcAft>
              <a:buClr>
                <a:srgbClr val="17A398"/>
              </a:buClr>
              <a:buFont typeface="Arial"/>
              <a:buChar char="•"/>
            </a:pPr>
            <a:r>
              <a:rPr lang="he-IL" sz="1600" b="0" i="0">
                <a:solidFill>
                  <a:srgbClr val="2B1E3F"/>
                </a:solidFill>
                <a:latin typeface="Arial"/>
                <a:cs typeface="Arial"/>
              </a:rPr>
              <a:t>המודל עוקב אחר המשתנים </a:t>
            </a:r>
            <a:r>
              <a:rPr lang="he-IL" sz="1600" b="1" i="0">
                <a:solidFill>
                  <a:srgbClr val="2B1E3F"/>
                </a:solidFill>
                <a:latin typeface="Arial"/>
                <a:cs typeface="Arial"/>
              </a:rPr>
              <a:t>הלא-נצפים</a:t>
            </a:r>
            <a:r>
              <a:rPr lang="he-IL" sz="1600" b="0" i="0">
                <a:solidFill>
                  <a:srgbClr val="2B1E3F"/>
                </a:solidFill>
                <a:latin typeface="Arial"/>
                <a:cs typeface="Arial"/>
              </a:rPr>
              <a:t> שהוגדרו בו</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4415" cy="822960"/>
          </a:xfrm>
          <a:prstGeom prst="rect">
            <a:avLst/>
          </a:prstGeom>
          <a:noFill/>
        </p:spPr>
        <p:txBody>
          <a:bodyPr wrap="square" lIns="45720" tIns="27432" rIns="45720" bIns="27432" anchor="ctr">
            <a:spAutoFit/>
          </a:bodyPr>
          <a:lstStyle/>
          <a:p>
            <a:pPr algn="r" rtl="1">
              <a:spcAft>
                <a:spcPts val="600"/>
              </a:spcAft>
            </a:pPr>
            <a:r>
              <a:rPr lang="he-IL" sz="3400" b="1" i="0">
                <a:solidFill>
                  <a:srgbClr val="2B1E3F"/>
                </a:solidFill>
                <a:latin typeface="Arial"/>
                <a:cs typeface="Arial"/>
              </a:rPr>
              <a:t>שלב 3: המשתנה הדטרמיניסטי r</a:t>
            </a:r>
          </a:p>
        </p:txBody>
      </p:sp>
      <p:sp>
        <p:nvSpPr>
          <p:cNvPr id="3" name="card"/>
          <p:cNvSpPr/>
          <p:nvPr/>
        </p:nvSpPr>
        <p:spPr>
          <a:xfrm>
            <a:off x="6281928" y="1463040"/>
            <a:ext cx="5358384" cy="3749039"/>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6556248" y="1600200"/>
            <a:ext cx="4809744" cy="548640"/>
          </a:xfrm>
          <a:prstGeom prst="rect">
            <a:avLst/>
          </a:prstGeom>
          <a:noFill/>
        </p:spPr>
        <p:txBody>
          <a:bodyPr wrap="square" lIns="45720" tIns="27432" rIns="45720" bIns="27432" anchor="ctr">
            <a:spAutoFit/>
          </a:bodyPr>
          <a:lstStyle/>
          <a:p>
            <a:pPr algn="r" rtl="1">
              <a:spcAft>
                <a:spcPts val="600"/>
              </a:spcAft>
            </a:pPr>
            <a:r>
              <a:rPr lang="he-IL" sz="1900" b="1" i="0">
                <a:solidFill>
                  <a:srgbClr val="17A398"/>
                </a:solidFill>
                <a:latin typeface="Arial"/>
                <a:cs typeface="Arial"/>
              </a:rPr>
              <a:t>אנונימי — חישוב ביניים</a:t>
            </a:r>
          </a:p>
        </p:txBody>
      </p:sp>
      <p:sp>
        <p:nvSpPr>
          <p:cNvPr id="5" name="code block"/>
          <p:cNvSpPr/>
          <p:nvPr/>
        </p:nvSpPr>
        <p:spPr>
          <a:xfrm>
            <a:off x="6510528" y="2240280"/>
            <a:ext cx="4901184" cy="1463040"/>
          </a:xfrm>
          <a:prstGeom prst="roundRect">
            <a:avLst>
              <a:gd name="adj" fmla="val 8000"/>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code"/>
          <p:cNvSpPr txBox="1"/>
          <p:nvPr/>
        </p:nvSpPr>
        <p:spPr>
          <a:xfrm>
            <a:off x="6739128" y="2423160"/>
            <a:ext cx="4443984" cy="1097280"/>
          </a:xfrm>
          <a:prstGeom prst="rect">
            <a:avLst/>
          </a:prstGeom>
          <a:noFill/>
        </p:spPr>
        <p:txBody>
          <a:bodyPr wrap="square" lIns="45720" tIns="27432" rIns="45720" bIns="27432" anchor="t">
            <a:spAutoFit/>
          </a:bodyPr>
          <a:lstStyle/>
          <a:p>
            <a:pPr algn="l" rtl="0">
              <a:spcAft>
                <a:spcPts val="0"/>
              </a:spcAft>
            </a:pPr>
            <a:r>
              <a:rPr lang="en-US" sz="1300" b="0" i="0" dirty="0">
                <a:solidFill>
                  <a:srgbClr val="EDE8F5"/>
                </a:solidFill>
                <a:latin typeface="Courier New"/>
                <a:cs typeface="Courier New"/>
              </a:rPr>
              <a:t>r = </a:t>
            </a:r>
            <a:r>
              <a:rPr lang="en-US" sz="1300" b="0" i="0" dirty="0" err="1">
                <a:solidFill>
                  <a:srgbClr val="EDE8F5"/>
                </a:solidFill>
                <a:latin typeface="Courier New"/>
                <a:cs typeface="Courier New"/>
              </a:rPr>
              <a:t>pm.math.switch</a:t>
            </a:r>
            <a:r>
              <a:rPr lang="en-US" sz="1300" b="0" i="0" dirty="0">
                <a:solidFill>
                  <a:srgbClr val="EDE8F5"/>
                </a:solidFill>
                <a:latin typeface="Courier New"/>
                <a:cs typeface="Courier New"/>
              </a:rPr>
              <a:t>(tau &gt;= </a:t>
            </a:r>
            <a:r>
              <a:rPr lang="en-US" sz="1300" b="0" i="0" dirty="0" err="1">
                <a:solidFill>
                  <a:srgbClr val="EDE8F5"/>
                </a:solidFill>
                <a:latin typeface="Courier New"/>
                <a:cs typeface="Courier New"/>
              </a:rPr>
              <a:t>day_ind</a:t>
            </a:r>
            <a:r>
              <a:rPr lang="en-US" sz="1300" b="0" i="0" dirty="0">
                <a:solidFill>
                  <a:srgbClr val="EDE8F5"/>
                </a:solidFill>
                <a:latin typeface="Courier New"/>
                <a:cs typeface="Courier New"/>
              </a:rPr>
              <a:t>,</a:t>
            </a:r>
          </a:p>
          <a:p>
            <a:pPr algn="l" rtl="0">
              <a:spcAft>
                <a:spcPts val="0"/>
              </a:spcAft>
            </a:pPr>
            <a:r>
              <a:rPr lang="en-US" sz="1300" b="0" i="0" dirty="0">
                <a:solidFill>
                  <a:srgbClr val="EDE8F5"/>
                </a:solidFill>
                <a:latin typeface="Courier New"/>
                <a:cs typeface="Courier New"/>
              </a:rPr>
              <a:t>                   mu[0], mu[1])</a:t>
            </a:r>
          </a:p>
        </p:txBody>
      </p:sp>
      <p:sp>
        <p:nvSpPr>
          <p:cNvPr id="7" name="TextBox 6"/>
          <p:cNvSpPr txBox="1"/>
          <p:nvPr/>
        </p:nvSpPr>
        <p:spPr>
          <a:xfrm>
            <a:off x="6510528" y="3931920"/>
            <a:ext cx="4901184" cy="624786"/>
          </a:xfrm>
          <a:prstGeom prst="rect">
            <a:avLst/>
          </a:prstGeom>
          <a:noFill/>
        </p:spPr>
        <p:txBody>
          <a:bodyPr wrap="square" lIns="45720" tIns="27432" rIns="45720" bIns="27432" anchor="t">
            <a:spAutoFit/>
          </a:bodyPr>
          <a:lstStyle/>
          <a:p>
            <a:pPr marR="274320" indent="-274320" algn="r" rtl="1">
              <a:spcAft>
                <a:spcPts val="600"/>
              </a:spcAft>
              <a:buClr>
                <a:srgbClr val="17A398"/>
              </a:buClr>
              <a:buFont typeface="Arial"/>
              <a:buChar char="•"/>
            </a:pPr>
            <a:r>
              <a:rPr lang="he-IL" sz="1600" b="0" i="0" dirty="0">
                <a:solidFill>
                  <a:srgbClr val="2B1E3F"/>
                </a:solidFill>
                <a:latin typeface="Arial"/>
                <a:cs typeface="Arial"/>
              </a:rPr>
              <a:t>לא נשמר בתוצאות הדגימה</a:t>
            </a:r>
          </a:p>
          <a:p>
            <a:pPr marR="274320" indent="-274320" algn="r" rtl="1">
              <a:spcAft>
                <a:spcPts val="600"/>
              </a:spcAft>
              <a:buClr>
                <a:srgbClr val="17A398"/>
              </a:buClr>
              <a:buFont typeface="Arial"/>
              <a:buChar char="•"/>
            </a:pPr>
            <a:r>
              <a:rPr lang="he-IL" sz="1600" b="0" i="0" dirty="0">
                <a:solidFill>
                  <a:srgbClr val="2B1E3F"/>
                </a:solidFill>
                <a:latin typeface="Arial"/>
                <a:cs typeface="Arial"/>
              </a:rPr>
              <a:t>מתאים כשלא מעניין אותנו לנתח אותו</a:t>
            </a:r>
          </a:p>
        </p:txBody>
      </p:sp>
      <p:sp>
        <p:nvSpPr>
          <p:cNvPr id="8" name="card"/>
          <p:cNvSpPr/>
          <p:nvPr/>
        </p:nvSpPr>
        <p:spPr>
          <a:xfrm>
            <a:off x="548640" y="1463040"/>
            <a:ext cx="5358384" cy="3749039"/>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22959" y="1600200"/>
            <a:ext cx="4809744" cy="548640"/>
          </a:xfrm>
          <a:prstGeom prst="rect">
            <a:avLst/>
          </a:prstGeom>
          <a:noFill/>
        </p:spPr>
        <p:txBody>
          <a:bodyPr wrap="square" lIns="45720" tIns="27432" rIns="45720" bIns="27432" anchor="ctr">
            <a:spAutoFit/>
          </a:bodyPr>
          <a:lstStyle/>
          <a:p>
            <a:pPr algn="r" rtl="1">
              <a:spcAft>
                <a:spcPts val="600"/>
              </a:spcAft>
            </a:pPr>
            <a:r>
              <a:rPr lang="he-IL" sz="1900" b="1" i="0">
                <a:solidFill>
                  <a:srgbClr val="E4572E"/>
                </a:solidFill>
                <a:latin typeface="Arial"/>
                <a:cs typeface="Arial"/>
              </a:rPr>
              <a:t>עם שם — pm.Deterministic</a:t>
            </a:r>
          </a:p>
        </p:txBody>
      </p:sp>
      <p:sp>
        <p:nvSpPr>
          <p:cNvPr id="10" name="code block"/>
          <p:cNvSpPr/>
          <p:nvPr/>
        </p:nvSpPr>
        <p:spPr>
          <a:xfrm>
            <a:off x="777240" y="2240280"/>
            <a:ext cx="4901184" cy="1463040"/>
          </a:xfrm>
          <a:prstGeom prst="roundRect">
            <a:avLst>
              <a:gd name="adj" fmla="val 8000"/>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code"/>
          <p:cNvSpPr txBox="1"/>
          <p:nvPr/>
        </p:nvSpPr>
        <p:spPr>
          <a:xfrm>
            <a:off x="1005840" y="2423160"/>
            <a:ext cx="4443984" cy="1097280"/>
          </a:xfrm>
          <a:prstGeom prst="rect">
            <a:avLst/>
          </a:prstGeom>
          <a:noFill/>
        </p:spPr>
        <p:txBody>
          <a:bodyPr wrap="square" lIns="45720" tIns="27432" rIns="45720" bIns="27432" anchor="t">
            <a:spAutoFit/>
          </a:bodyPr>
          <a:lstStyle/>
          <a:p>
            <a:pPr algn="l" rtl="0">
              <a:spcAft>
                <a:spcPts val="0"/>
              </a:spcAft>
            </a:pPr>
            <a:r>
              <a:rPr lang="en-US" sz="1300" b="0" i="0">
                <a:solidFill>
                  <a:srgbClr val="EDE8F5"/>
                </a:solidFill>
                <a:latin typeface="Courier New"/>
                <a:cs typeface="Courier New"/>
              </a:rPr>
              <a:t>r = pm.Deterministic('r',</a:t>
            </a:r>
          </a:p>
          <a:p>
            <a:pPr algn="l" rtl="0">
              <a:spcAft>
                <a:spcPts val="0"/>
              </a:spcAft>
            </a:pPr>
            <a:r>
              <a:rPr lang="en-US" sz="1300" b="0" i="0">
                <a:solidFill>
                  <a:srgbClr val="EDE8F5"/>
                </a:solidFill>
                <a:latin typeface="Courier New"/>
                <a:cs typeface="Courier New"/>
              </a:rPr>
              <a:t>    pm.math.switch(tau &gt;= day_ind,</a:t>
            </a:r>
          </a:p>
          <a:p>
            <a:pPr algn="l" rtl="0">
              <a:spcAft>
                <a:spcPts val="0"/>
              </a:spcAft>
            </a:pPr>
            <a:r>
              <a:rPr lang="en-US" sz="1300" b="0" i="0">
                <a:solidFill>
                  <a:srgbClr val="EDE8F5"/>
                </a:solidFill>
                <a:latin typeface="Courier New"/>
                <a:cs typeface="Courier New"/>
              </a:rPr>
              <a:t>                   mu[0], mu[1]))</a:t>
            </a:r>
          </a:p>
        </p:txBody>
      </p:sp>
      <p:sp>
        <p:nvSpPr>
          <p:cNvPr id="12" name="TextBox 11"/>
          <p:cNvSpPr txBox="1"/>
          <p:nvPr/>
        </p:nvSpPr>
        <p:spPr>
          <a:xfrm>
            <a:off x="777240" y="3931920"/>
            <a:ext cx="4901184" cy="1188720"/>
          </a:xfrm>
          <a:prstGeom prst="rect">
            <a:avLst/>
          </a:prstGeom>
          <a:noFill/>
        </p:spPr>
        <p:txBody>
          <a:bodyPr wrap="square" lIns="45720" tIns="27432" rIns="45720" bIns="27432" anchor="t">
            <a:spAutoFit/>
          </a:bodyPr>
          <a:lstStyle/>
          <a:p>
            <a:pPr marR="274320" indent="-274320" algn="r" rtl="1">
              <a:spcAft>
                <a:spcPts val="600"/>
              </a:spcAft>
              <a:buClr>
                <a:srgbClr val="E4572E"/>
              </a:buClr>
              <a:buFont typeface="Arial"/>
              <a:buChar char="•"/>
            </a:pPr>
            <a:r>
              <a:rPr lang="he-IL" sz="1600" b="0" i="0">
                <a:solidFill>
                  <a:srgbClr val="2B1E3F"/>
                </a:solidFill>
                <a:latin typeface="Arial"/>
                <a:cs typeface="Arial"/>
              </a:rPr>
              <a:t>נשמר ב-trace: מפתח בתוצאות</a:t>
            </a:r>
          </a:p>
          <a:p>
            <a:pPr marR="274320" indent="-274320" algn="r" rtl="1">
              <a:spcAft>
                <a:spcPts val="600"/>
              </a:spcAft>
              <a:buClr>
                <a:srgbClr val="E4572E"/>
              </a:buClr>
              <a:buFont typeface="Arial"/>
              <a:buChar char="•"/>
            </a:pPr>
            <a:r>
              <a:rPr lang="he-IL" sz="1600" b="0" i="0">
                <a:solidFill>
                  <a:srgbClr val="2B1E3F"/>
                </a:solidFill>
                <a:latin typeface="Arial"/>
                <a:cs typeface="Arial"/>
              </a:rPr>
              <a:t>תווית בגרפים ובטבלאות הסיכום</a:t>
            </a:r>
          </a:p>
        </p:txBody>
      </p:sp>
      <p:sp>
        <p:nvSpPr>
          <p:cNvPr id="13" name="card"/>
          <p:cNvSpPr/>
          <p:nvPr/>
        </p:nvSpPr>
        <p:spPr>
          <a:xfrm>
            <a:off x="548640" y="5440680"/>
            <a:ext cx="11091672" cy="822960"/>
          </a:xfrm>
          <a:prstGeom prst="roundRect">
            <a:avLst>
              <a:gd name="adj" fmla="val 8000"/>
            </a:avLst>
          </a:prstGeom>
          <a:solidFill>
            <a:srgbClr val="E6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77240" y="5440680"/>
            <a:ext cx="7772400" cy="822960"/>
          </a:xfrm>
          <a:prstGeom prst="rect">
            <a:avLst/>
          </a:prstGeom>
          <a:noFill/>
        </p:spPr>
        <p:txBody>
          <a:bodyPr wrap="square" lIns="45720" tIns="27432" rIns="45720" bIns="27432" anchor="ctr">
            <a:spAutoFit/>
          </a:bodyPr>
          <a:lstStyle/>
          <a:p>
            <a:pPr algn="r" rtl="1">
              <a:spcAft>
                <a:spcPts val="600"/>
              </a:spcAft>
            </a:pPr>
            <a:r>
              <a:rPr lang="he-IL" sz="1700" b="1" i="0">
                <a:solidFill>
                  <a:srgbClr val="2B1E3F"/>
                </a:solidFill>
                <a:latin typeface="Arial"/>
                <a:cs typeface="Arial"/>
              </a:rPr>
              <a:t>r הוא וקטור — ערך אחד לכל תצפית:</a:t>
            </a:r>
          </a:p>
        </p:txBody>
      </p:sp>
      <p:sp>
        <p:nvSpPr>
          <p:cNvPr id="15" name="TextBox 14"/>
          <p:cNvSpPr txBox="1"/>
          <p:nvPr/>
        </p:nvSpPr>
        <p:spPr>
          <a:xfrm>
            <a:off x="777240" y="5440680"/>
            <a:ext cx="3291840" cy="822960"/>
          </a:xfrm>
          <a:prstGeom prst="rect">
            <a:avLst/>
          </a:prstGeom>
          <a:noFill/>
        </p:spPr>
        <p:txBody>
          <a:bodyPr wrap="square" lIns="45720" tIns="27432" rIns="45720" bIns="27432" anchor="ctr">
            <a:spAutoFit/>
          </a:bodyPr>
          <a:lstStyle/>
          <a:p>
            <a:pPr algn="l" rtl="0">
              <a:spcAft>
                <a:spcPts val="600"/>
              </a:spcAft>
            </a:pPr>
            <a:r>
              <a:rPr lang="en-US" sz="1400" b="0" i="0">
                <a:solidFill>
                  <a:srgbClr val="2B1E3F"/>
                </a:solidFill>
                <a:latin typeface="Courier New"/>
                <a:cs typeface="Courier New"/>
              </a:rPr>
              <a:t>&gt;&gt;&gt; r.shape.eval()  →  [7791]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4415" cy="822960"/>
          </a:xfrm>
          <a:prstGeom prst="rect">
            <a:avLst/>
          </a:prstGeom>
          <a:noFill/>
        </p:spPr>
        <p:txBody>
          <a:bodyPr wrap="square" lIns="45720" tIns="27432" rIns="45720" bIns="27432" anchor="ctr">
            <a:spAutoFit/>
          </a:bodyPr>
          <a:lstStyle/>
          <a:p>
            <a:pPr algn="r" rtl="1">
              <a:spcAft>
                <a:spcPts val="600"/>
              </a:spcAft>
            </a:pPr>
            <a:r>
              <a:rPr lang="he-IL" sz="3400" b="1" i="0">
                <a:solidFill>
                  <a:srgbClr val="2B1E3F"/>
                </a:solidFill>
                <a:latin typeface="Arial"/>
                <a:cs typeface="Arial"/>
              </a:rPr>
              <a:t>שלב 2: המשתנה הנצפה — חיבור הנתונים</a:t>
            </a:r>
          </a:p>
        </p:txBody>
      </p:sp>
      <p:sp>
        <p:nvSpPr>
          <p:cNvPr id="3" name="code block"/>
          <p:cNvSpPr/>
          <p:nvPr/>
        </p:nvSpPr>
        <p:spPr>
          <a:xfrm>
            <a:off x="548640" y="1463040"/>
            <a:ext cx="6035040" cy="1828800"/>
          </a:xfrm>
          <a:prstGeom prst="roundRect">
            <a:avLst>
              <a:gd name="adj" fmla="val 8000"/>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code"/>
          <p:cNvSpPr txBox="1"/>
          <p:nvPr/>
        </p:nvSpPr>
        <p:spPr>
          <a:xfrm>
            <a:off x="777240" y="1645920"/>
            <a:ext cx="5577840" cy="1463040"/>
          </a:xfrm>
          <a:prstGeom prst="rect">
            <a:avLst/>
          </a:prstGeom>
          <a:noFill/>
        </p:spPr>
        <p:txBody>
          <a:bodyPr wrap="square" lIns="45720" tIns="27432" rIns="45720" bIns="27432" anchor="t">
            <a:spAutoFit/>
          </a:bodyPr>
          <a:lstStyle/>
          <a:p>
            <a:pPr algn="l" rtl="0">
              <a:spcAft>
                <a:spcPts val="0"/>
              </a:spcAft>
            </a:pPr>
            <a:r>
              <a:rPr lang="en-US" sz="1400" b="0" i="0" dirty="0">
                <a:solidFill>
                  <a:srgbClr val="EDE8F5"/>
                </a:solidFill>
                <a:latin typeface="Courier New"/>
                <a:cs typeface="Courier New"/>
              </a:rPr>
              <a:t>with </a:t>
            </a:r>
            <a:r>
              <a:rPr lang="en-US" sz="1400" b="0" i="0" dirty="0" err="1">
                <a:solidFill>
                  <a:srgbClr val="EDE8F5"/>
                </a:solidFill>
                <a:latin typeface="Courier New"/>
                <a:cs typeface="Courier New"/>
              </a:rPr>
              <a:t>spin_rate_model</a:t>
            </a:r>
            <a:r>
              <a:rPr lang="en-US" sz="1400" b="0" i="0" dirty="0">
                <a:solidFill>
                  <a:srgbClr val="EDE8F5"/>
                </a:solidFill>
                <a:latin typeface="Courier New"/>
                <a:cs typeface="Courier New"/>
              </a:rPr>
              <a:t>:</a:t>
            </a:r>
          </a:p>
          <a:p>
            <a:pPr algn="l" rtl="0">
              <a:spcAft>
                <a:spcPts val="0"/>
              </a:spcAft>
            </a:pPr>
            <a:r>
              <a:rPr lang="en-US" sz="1400" b="0" i="0" dirty="0">
                <a:solidFill>
                  <a:srgbClr val="EDE8F5"/>
                </a:solidFill>
                <a:latin typeface="Courier New"/>
                <a:cs typeface="Courier New"/>
              </a:rPr>
              <a:t>    </a:t>
            </a:r>
            <a:r>
              <a:rPr lang="en-US" sz="1400" b="0" i="0" dirty="0" err="1">
                <a:solidFill>
                  <a:srgbClr val="EDE8F5"/>
                </a:solidFill>
                <a:latin typeface="Courier New"/>
                <a:cs typeface="Courier New"/>
              </a:rPr>
              <a:t>spin_rate_like</a:t>
            </a:r>
            <a:r>
              <a:rPr lang="en-US" sz="1400" b="0" i="0" dirty="0">
                <a:solidFill>
                  <a:srgbClr val="EDE8F5"/>
                </a:solidFill>
                <a:latin typeface="Courier New"/>
                <a:cs typeface="Courier New"/>
              </a:rPr>
              <a:t> = </a:t>
            </a:r>
            <a:r>
              <a:rPr lang="en-US" sz="1400" b="0" i="0" dirty="0" err="1">
                <a:solidFill>
                  <a:srgbClr val="EDE8F5"/>
                </a:solidFill>
                <a:latin typeface="Courier New"/>
                <a:cs typeface="Courier New"/>
              </a:rPr>
              <a:t>pm.Normal</a:t>
            </a:r>
            <a:r>
              <a:rPr lang="en-US" sz="1400" b="0" i="0" dirty="0">
                <a:solidFill>
                  <a:srgbClr val="EDE8F5"/>
                </a:solidFill>
                <a:latin typeface="Courier New"/>
                <a:cs typeface="Courier New"/>
              </a:rPr>
              <a:t>(</a:t>
            </a:r>
          </a:p>
          <a:p>
            <a:pPr algn="l" rtl="0">
              <a:spcAft>
                <a:spcPts val="0"/>
              </a:spcAft>
            </a:pPr>
            <a:r>
              <a:rPr lang="en-US" sz="1400" b="0" i="0" dirty="0">
                <a:solidFill>
                  <a:srgbClr val="EDE8F5"/>
                </a:solidFill>
                <a:latin typeface="Courier New"/>
                <a:cs typeface="Courier New"/>
              </a:rPr>
              <a:t>        '</a:t>
            </a:r>
            <a:r>
              <a:rPr lang="en-US" sz="1400" b="0" i="0" dirty="0" err="1">
                <a:solidFill>
                  <a:srgbClr val="EDE8F5"/>
                </a:solidFill>
                <a:latin typeface="Courier New"/>
                <a:cs typeface="Courier New"/>
              </a:rPr>
              <a:t>spin_rate_like</a:t>
            </a:r>
            <a:r>
              <a:rPr lang="en-US" sz="1400" b="0" i="0" dirty="0">
                <a:solidFill>
                  <a:srgbClr val="EDE8F5"/>
                </a:solidFill>
                <a:latin typeface="Courier New"/>
                <a:cs typeface="Courier New"/>
              </a:rPr>
              <a:t>', mu=r, sigma=sigma,</a:t>
            </a:r>
          </a:p>
          <a:p>
            <a:pPr algn="l" rtl="0">
              <a:spcAft>
                <a:spcPts val="0"/>
              </a:spcAft>
            </a:pPr>
            <a:r>
              <a:rPr lang="en-US" sz="1400" b="0" i="0" dirty="0">
                <a:solidFill>
                  <a:srgbClr val="EDE8F5"/>
                </a:solidFill>
                <a:latin typeface="Courier New"/>
                <a:cs typeface="Courier New"/>
              </a:rPr>
              <a:t>        observed=</a:t>
            </a:r>
            <a:r>
              <a:rPr lang="en-US" sz="1400" b="0" i="0" dirty="0" err="1">
                <a:solidFill>
                  <a:srgbClr val="EDE8F5"/>
                </a:solidFill>
                <a:latin typeface="Courier New"/>
                <a:cs typeface="Courier New"/>
              </a:rPr>
              <a:t>spin_rate</a:t>
            </a:r>
            <a:r>
              <a:rPr lang="en-US" sz="1400" b="0" i="0" dirty="0">
                <a:solidFill>
                  <a:srgbClr val="EDE8F5"/>
                </a:solidFill>
                <a:latin typeface="Courier New"/>
                <a:cs typeface="Courier New"/>
              </a:rPr>
              <a:t>)</a:t>
            </a:r>
          </a:p>
        </p:txBody>
      </p:sp>
      <p:sp>
        <p:nvSpPr>
          <p:cNvPr id="5" name="code block"/>
          <p:cNvSpPr/>
          <p:nvPr/>
        </p:nvSpPr>
        <p:spPr>
          <a:xfrm>
            <a:off x="548640" y="3474720"/>
            <a:ext cx="6035040" cy="1051560"/>
          </a:xfrm>
          <a:prstGeom prst="roundRect">
            <a:avLst>
              <a:gd name="adj" fmla="val 8000"/>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code"/>
          <p:cNvSpPr txBox="1"/>
          <p:nvPr/>
        </p:nvSpPr>
        <p:spPr>
          <a:xfrm>
            <a:off x="777240" y="3657600"/>
            <a:ext cx="5577840" cy="685799"/>
          </a:xfrm>
          <a:prstGeom prst="rect">
            <a:avLst/>
          </a:prstGeom>
          <a:noFill/>
        </p:spPr>
        <p:txBody>
          <a:bodyPr wrap="square" lIns="45720" tIns="27432" rIns="45720" bIns="27432" anchor="t">
            <a:spAutoFit/>
          </a:bodyPr>
          <a:lstStyle/>
          <a:p>
            <a:pPr algn="l" rtl="0">
              <a:spcAft>
                <a:spcPts val="0"/>
              </a:spcAft>
            </a:pPr>
            <a:r>
              <a:rPr lang="en-US" sz="1400" b="0" i="0">
                <a:solidFill>
                  <a:srgbClr val="EDE8F5"/>
                </a:solidFill>
                <a:latin typeface="Courier New"/>
                <a:cs typeface="Courier New"/>
              </a:rPr>
              <a:t>&gt;&gt;&gt; spin_rate_model.observed_RVs</a:t>
            </a:r>
          </a:p>
          <a:p>
            <a:pPr algn="l" rtl="0">
              <a:spcAft>
                <a:spcPts val="0"/>
              </a:spcAft>
            </a:pPr>
            <a:r>
              <a:rPr lang="en-US" sz="1400" b="0" i="0">
                <a:solidFill>
                  <a:srgbClr val="EDE8F5"/>
                </a:solidFill>
                <a:latin typeface="Courier New"/>
                <a:cs typeface="Courier New"/>
              </a:rPr>
              <a:t>[spin_rate_like]</a:t>
            </a:r>
          </a:p>
        </p:txBody>
      </p:sp>
      <p:sp>
        <p:nvSpPr>
          <p:cNvPr id="7" name="TextBox 6"/>
          <p:cNvSpPr txBox="1"/>
          <p:nvPr/>
        </p:nvSpPr>
        <p:spPr>
          <a:xfrm>
            <a:off x="548640" y="4754880"/>
            <a:ext cx="6035040" cy="1554480"/>
          </a:xfrm>
          <a:prstGeom prst="rect">
            <a:avLst/>
          </a:prstGeom>
          <a:noFill/>
        </p:spPr>
        <p:txBody>
          <a:bodyPr wrap="square" lIns="45720" tIns="27432" rIns="45720" bIns="27432" anchor="t">
            <a:spAutoFit/>
          </a:bodyPr>
          <a:lstStyle/>
          <a:p>
            <a:pPr marR="274320" indent="-274320" algn="r" rtl="1">
              <a:spcAft>
                <a:spcPts val="1000"/>
              </a:spcAft>
              <a:buClr>
                <a:srgbClr val="17A398"/>
              </a:buClr>
              <a:buFont typeface="Arial"/>
              <a:buChar char="•"/>
            </a:pPr>
            <a:r>
              <a:rPr lang="he-IL" sz="1600" b="1" i="0">
                <a:solidFill>
                  <a:srgbClr val="2B1E3F"/>
                </a:solidFill>
                <a:latin typeface="Arial"/>
                <a:cs typeface="Arial"/>
              </a:rPr>
              <a:t>הארגומנט observed</a:t>
            </a:r>
            <a:r>
              <a:rPr lang="he-IL" sz="1600" b="0" i="0">
                <a:solidFill>
                  <a:srgbClr val="2B1E3F"/>
                </a:solidFill>
                <a:latin typeface="Arial"/>
                <a:cs typeface="Arial"/>
              </a:rPr>
              <a:t> הופך משתנה סטוכסטי למשתנה נצפה — זו הנראות</a:t>
            </a:r>
          </a:p>
          <a:p>
            <a:pPr marR="274320" indent="-274320" algn="r" rtl="1">
              <a:spcAft>
                <a:spcPts val="1000"/>
              </a:spcAft>
              <a:buClr>
                <a:srgbClr val="17A398"/>
              </a:buClr>
              <a:buFont typeface="Arial"/>
              <a:buChar char="•"/>
            </a:pPr>
            <a:r>
              <a:rPr lang="he-IL" sz="1600" b="0" i="0">
                <a:solidFill>
                  <a:srgbClr val="2B1E3F"/>
                </a:solidFill>
                <a:latin typeface="Arial"/>
                <a:cs typeface="Arial"/>
              </a:rPr>
              <a:t>מטפל אוטומטית בערכים חסרים בנתונים</a:t>
            </a:r>
          </a:p>
        </p:txBody>
      </p:sp>
      <p:sp>
        <p:nvSpPr>
          <p:cNvPr id="8" name="Rounded Rectangle 7"/>
          <p:cNvSpPr/>
          <p:nvPr/>
        </p:nvSpPr>
        <p:spPr>
          <a:xfrm>
            <a:off x="6903720" y="3520440"/>
            <a:ext cx="4736592" cy="2743200"/>
          </a:xfrm>
          <a:prstGeom prst="roundRect">
            <a:avLst>
              <a:gd name="adj" fmla="val 6000"/>
            </a:avLst>
          </a:prstGeom>
          <a:noFill/>
          <a:ln w="19050">
            <a:solidFill>
              <a:srgbClr val="CFC6D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149840" y="5897880"/>
            <a:ext cx="1371600" cy="320040"/>
          </a:xfrm>
          <a:prstGeom prst="rect">
            <a:avLst/>
          </a:prstGeom>
          <a:noFill/>
        </p:spPr>
        <p:txBody>
          <a:bodyPr wrap="square" lIns="45720" tIns="27432" rIns="45720" bIns="27432" anchor="t">
            <a:spAutoFit/>
          </a:bodyPr>
          <a:lstStyle/>
          <a:p>
            <a:pPr algn="r" rtl="0">
              <a:spcAft>
                <a:spcPts val="600"/>
              </a:spcAft>
            </a:pPr>
            <a:r>
              <a:rPr lang="en-US" sz="1200" b="1" i="0">
                <a:solidFill>
                  <a:srgbClr val="6B6478"/>
                </a:solidFill>
                <a:latin typeface="Arial"/>
                <a:cs typeface="Arial"/>
              </a:rPr>
              <a:t>7,791</a:t>
            </a:r>
          </a:p>
        </p:txBody>
      </p:sp>
      <p:sp>
        <p:nvSpPr>
          <p:cNvPr id="10" name="Oval 9"/>
          <p:cNvSpPr/>
          <p:nvPr/>
        </p:nvSpPr>
        <p:spPr>
          <a:xfrm>
            <a:off x="7383779" y="1828800"/>
            <a:ext cx="777240" cy="777240"/>
          </a:xfrm>
          <a:prstGeom prst="ellipse">
            <a:avLst/>
          </a:prstGeom>
          <a:solidFill>
            <a:srgbClr val="17A39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Cambria Math"/>
                <a:cs typeface="Cambria Math"/>
              </a:rPr>
              <a:t>μ</a:t>
            </a:r>
          </a:p>
        </p:txBody>
      </p:sp>
      <p:sp>
        <p:nvSpPr>
          <p:cNvPr id="11" name="TextBox 10"/>
          <p:cNvSpPr txBox="1"/>
          <p:nvPr/>
        </p:nvSpPr>
        <p:spPr>
          <a:xfrm>
            <a:off x="5573267" y="2029968"/>
            <a:ext cx="1737360" cy="365760"/>
          </a:xfrm>
          <a:prstGeom prst="rect">
            <a:avLst/>
          </a:prstGeom>
          <a:noFill/>
        </p:spPr>
        <p:txBody>
          <a:bodyPr wrap="square" lIns="45720" tIns="27432" rIns="45720" bIns="27432" anchor="t">
            <a:spAutoFit/>
          </a:bodyPr>
          <a:lstStyle/>
          <a:p>
            <a:pPr algn="r" rtl="0">
              <a:spcAft>
                <a:spcPts val="600"/>
              </a:spcAft>
            </a:pPr>
            <a:r>
              <a:rPr lang="en-US" sz="1100" b="0" i="0">
                <a:solidFill>
                  <a:srgbClr val="6B6478"/>
                </a:solidFill>
                <a:latin typeface="Arial"/>
                <a:cs typeface="Arial"/>
              </a:rPr>
              <a:t>Normal ×2</a:t>
            </a:r>
          </a:p>
        </p:txBody>
      </p:sp>
      <p:sp>
        <p:nvSpPr>
          <p:cNvPr id="12" name="Oval 11"/>
          <p:cNvSpPr/>
          <p:nvPr/>
        </p:nvSpPr>
        <p:spPr>
          <a:xfrm>
            <a:off x="8663940" y="1463040"/>
            <a:ext cx="777240" cy="777240"/>
          </a:xfrm>
          <a:prstGeom prst="ellipse">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Cambria Math"/>
                <a:cs typeface="Cambria Math"/>
              </a:rPr>
              <a:t>τ</a:t>
            </a:r>
          </a:p>
        </p:txBody>
      </p:sp>
      <p:sp>
        <p:nvSpPr>
          <p:cNvPr id="13" name="TextBox 12"/>
          <p:cNvSpPr txBox="1"/>
          <p:nvPr/>
        </p:nvSpPr>
        <p:spPr>
          <a:xfrm>
            <a:off x="9514332" y="1664208"/>
            <a:ext cx="1737360" cy="365760"/>
          </a:xfrm>
          <a:prstGeom prst="rect">
            <a:avLst/>
          </a:prstGeom>
          <a:noFill/>
        </p:spPr>
        <p:txBody>
          <a:bodyPr wrap="square" lIns="45720" tIns="27432" rIns="45720" bIns="27432" anchor="t">
            <a:spAutoFit/>
          </a:bodyPr>
          <a:lstStyle/>
          <a:p>
            <a:pPr algn="l" rtl="0">
              <a:spcAft>
                <a:spcPts val="600"/>
              </a:spcAft>
            </a:pPr>
            <a:r>
              <a:rPr lang="en-US" sz="1100" b="0" i="0">
                <a:solidFill>
                  <a:srgbClr val="6B6478"/>
                </a:solidFill>
                <a:latin typeface="Arial"/>
                <a:cs typeface="Arial"/>
              </a:rPr>
              <a:t>Uniform</a:t>
            </a:r>
          </a:p>
        </p:txBody>
      </p:sp>
      <p:sp>
        <p:nvSpPr>
          <p:cNvPr id="14" name="Oval 13"/>
          <p:cNvSpPr/>
          <p:nvPr/>
        </p:nvSpPr>
        <p:spPr>
          <a:xfrm>
            <a:off x="10218419" y="2194560"/>
            <a:ext cx="777240" cy="7772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FFFF"/>
                </a:solidFill>
                <a:latin typeface="Cambria Math"/>
                <a:cs typeface="Cambria Math"/>
              </a:rPr>
              <a:t>σ</a:t>
            </a:r>
          </a:p>
        </p:txBody>
      </p:sp>
      <p:sp>
        <p:nvSpPr>
          <p:cNvPr id="15" name="TextBox 14"/>
          <p:cNvSpPr txBox="1"/>
          <p:nvPr/>
        </p:nvSpPr>
        <p:spPr>
          <a:xfrm>
            <a:off x="11068812" y="2395728"/>
            <a:ext cx="1737360" cy="365760"/>
          </a:xfrm>
          <a:prstGeom prst="rect">
            <a:avLst/>
          </a:prstGeom>
          <a:noFill/>
        </p:spPr>
        <p:txBody>
          <a:bodyPr wrap="square" lIns="45720" tIns="27432" rIns="45720" bIns="27432" anchor="t">
            <a:spAutoFit/>
          </a:bodyPr>
          <a:lstStyle/>
          <a:p>
            <a:pPr algn="l" rtl="0">
              <a:spcAft>
                <a:spcPts val="600"/>
              </a:spcAft>
            </a:pPr>
            <a:r>
              <a:rPr lang="en-US" sz="1100" b="0" i="0">
                <a:solidFill>
                  <a:srgbClr val="6B6478"/>
                </a:solidFill>
                <a:latin typeface="Arial"/>
                <a:cs typeface="Arial"/>
              </a:rPr>
              <a:t>HalfNormal</a:t>
            </a:r>
          </a:p>
        </p:txBody>
      </p:sp>
      <p:sp>
        <p:nvSpPr>
          <p:cNvPr id="16" name="Rounded Rectangle 15"/>
          <p:cNvSpPr/>
          <p:nvPr/>
        </p:nvSpPr>
        <p:spPr>
          <a:xfrm>
            <a:off x="8549640" y="3703320"/>
            <a:ext cx="1005840" cy="777240"/>
          </a:xfrm>
          <a:prstGeom prst="roundRect">
            <a:avLst>
              <a:gd name="adj" fmla="val 20000"/>
            </a:avLst>
          </a:prstGeom>
          <a:solidFill>
            <a:srgbClr val="FFFFFF"/>
          </a:solidFill>
          <a:ln w="25400">
            <a:solidFill>
              <a:srgbClr val="2B1E3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2B1E3F"/>
                </a:solidFill>
                <a:latin typeface="Cambria Math"/>
                <a:cs typeface="Cambria Math"/>
              </a:rPr>
              <a:t>r</a:t>
            </a:r>
          </a:p>
        </p:txBody>
      </p:sp>
      <p:sp>
        <p:nvSpPr>
          <p:cNvPr id="17" name="TextBox 16"/>
          <p:cNvSpPr txBox="1"/>
          <p:nvPr/>
        </p:nvSpPr>
        <p:spPr>
          <a:xfrm>
            <a:off x="6739127" y="3904487"/>
            <a:ext cx="1737360" cy="365760"/>
          </a:xfrm>
          <a:prstGeom prst="rect">
            <a:avLst/>
          </a:prstGeom>
          <a:noFill/>
        </p:spPr>
        <p:txBody>
          <a:bodyPr wrap="square" lIns="45720" tIns="27432" rIns="45720" bIns="27432" anchor="t">
            <a:spAutoFit/>
          </a:bodyPr>
          <a:lstStyle/>
          <a:p>
            <a:pPr algn="r" rtl="0">
              <a:spcAft>
                <a:spcPts val="600"/>
              </a:spcAft>
            </a:pPr>
            <a:r>
              <a:rPr lang="en-US" sz="1100" b="0" i="0">
                <a:solidFill>
                  <a:srgbClr val="6B6478"/>
                </a:solidFill>
                <a:latin typeface="Arial"/>
                <a:cs typeface="Arial"/>
              </a:rPr>
              <a:t>switch</a:t>
            </a:r>
          </a:p>
        </p:txBody>
      </p:sp>
      <p:sp>
        <p:nvSpPr>
          <p:cNvPr id="18" name="Oval 17"/>
          <p:cNvSpPr/>
          <p:nvPr/>
        </p:nvSpPr>
        <p:spPr>
          <a:xfrm>
            <a:off x="8663940" y="5074920"/>
            <a:ext cx="777240" cy="777240"/>
          </a:xfrm>
          <a:prstGeom prst="ellipse">
            <a:avLst/>
          </a:prstGeom>
          <a:solidFill>
            <a:srgbClr val="CFC6DE"/>
          </a:solidFill>
          <a:ln w="25400">
            <a:solidFill>
              <a:srgbClr val="2B1E3F"/>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2B1E3F"/>
                </a:solidFill>
                <a:latin typeface="Cambria Math"/>
                <a:cs typeface="Cambria Math"/>
              </a:rPr>
              <a:t>y</a:t>
            </a:r>
          </a:p>
        </p:txBody>
      </p:sp>
      <p:sp>
        <p:nvSpPr>
          <p:cNvPr id="19" name="TextBox 18"/>
          <p:cNvSpPr txBox="1"/>
          <p:nvPr/>
        </p:nvSpPr>
        <p:spPr>
          <a:xfrm>
            <a:off x="9514332" y="5276088"/>
            <a:ext cx="1737360" cy="365760"/>
          </a:xfrm>
          <a:prstGeom prst="rect">
            <a:avLst/>
          </a:prstGeom>
          <a:noFill/>
        </p:spPr>
        <p:txBody>
          <a:bodyPr wrap="square" lIns="45720" tIns="27432" rIns="45720" bIns="27432" anchor="t">
            <a:spAutoFit/>
          </a:bodyPr>
          <a:lstStyle/>
          <a:p>
            <a:pPr algn="l" rtl="0">
              <a:spcAft>
                <a:spcPts val="600"/>
              </a:spcAft>
            </a:pPr>
            <a:r>
              <a:rPr lang="en-US" sz="1100" b="0" i="0">
                <a:solidFill>
                  <a:srgbClr val="6B6478"/>
                </a:solidFill>
                <a:latin typeface="Arial"/>
                <a:cs typeface="Arial"/>
              </a:rPr>
              <a:t>Normal (observed)</a:t>
            </a:r>
          </a:p>
        </p:txBody>
      </p:sp>
      <p:cxnSp>
        <p:nvCxnSpPr>
          <p:cNvPr id="20" name="Connector 19"/>
          <p:cNvCxnSpPr/>
          <p:nvPr/>
        </p:nvCxnSpPr>
        <p:spPr>
          <a:xfrm>
            <a:off x="8001000" y="2560320"/>
            <a:ext cx="685800" cy="1124712"/>
          </a:xfrm>
          <a:prstGeom prst="line">
            <a:avLst/>
          </a:prstGeom>
          <a:ln w="22225">
            <a:solidFill>
              <a:srgbClr val="6B6478"/>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052560" y="2240280"/>
            <a:ext cx="0" cy="1444752"/>
          </a:xfrm>
          <a:prstGeom prst="line">
            <a:avLst/>
          </a:prstGeom>
          <a:ln w="22225">
            <a:solidFill>
              <a:srgbClr val="6B6478"/>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9326880" y="2944368"/>
            <a:ext cx="1143000" cy="2112264"/>
          </a:xfrm>
          <a:prstGeom prst="line">
            <a:avLst/>
          </a:prstGeom>
          <a:ln w="22225">
            <a:solidFill>
              <a:srgbClr val="6B6478"/>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052560" y="4480560"/>
            <a:ext cx="0" cy="576072"/>
          </a:xfrm>
          <a:prstGeom prst="line">
            <a:avLst/>
          </a:prstGeom>
          <a:ln w="22225">
            <a:solidFill>
              <a:srgbClr val="6B6478"/>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4415" cy="822960"/>
          </a:xfrm>
          <a:prstGeom prst="rect">
            <a:avLst/>
          </a:prstGeom>
          <a:noFill/>
        </p:spPr>
        <p:txBody>
          <a:bodyPr wrap="square" lIns="45720" tIns="27432" rIns="45720" bIns="27432" anchor="ctr">
            <a:spAutoFit/>
          </a:bodyPr>
          <a:lstStyle/>
          <a:p>
            <a:pPr algn="r" rtl="1">
              <a:spcAft>
                <a:spcPts val="600"/>
              </a:spcAft>
            </a:pPr>
            <a:r>
              <a:rPr lang="he-IL" sz="3400" b="1" i="0">
                <a:solidFill>
                  <a:srgbClr val="2B1E3F"/>
                </a:solidFill>
                <a:latin typeface="Arial"/>
                <a:cs typeface="Arial"/>
              </a:rPr>
              <a:t>שלב 4: דגימה מהפוסטריור</a:t>
            </a:r>
          </a:p>
        </p:txBody>
      </p:sp>
      <p:sp>
        <p:nvSpPr>
          <p:cNvPr id="3" name="code block"/>
          <p:cNvSpPr/>
          <p:nvPr/>
        </p:nvSpPr>
        <p:spPr>
          <a:xfrm>
            <a:off x="548640" y="1463040"/>
            <a:ext cx="6949440" cy="2377440"/>
          </a:xfrm>
          <a:prstGeom prst="roundRect">
            <a:avLst>
              <a:gd name="adj" fmla="val 8000"/>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code"/>
          <p:cNvSpPr txBox="1"/>
          <p:nvPr/>
        </p:nvSpPr>
        <p:spPr>
          <a:xfrm>
            <a:off x="777240" y="1645920"/>
            <a:ext cx="6492240" cy="2011680"/>
          </a:xfrm>
          <a:prstGeom prst="rect">
            <a:avLst/>
          </a:prstGeom>
          <a:noFill/>
        </p:spPr>
        <p:txBody>
          <a:bodyPr wrap="square" lIns="45720" tIns="27432" rIns="45720" bIns="27432" anchor="t">
            <a:spAutoFit/>
          </a:bodyPr>
          <a:lstStyle/>
          <a:p>
            <a:pPr algn="l" rtl="0">
              <a:spcAft>
                <a:spcPts val="0"/>
              </a:spcAft>
            </a:pPr>
            <a:r>
              <a:rPr lang="en-US" sz="1500" b="0" i="0" dirty="0">
                <a:solidFill>
                  <a:srgbClr val="EDE8F5"/>
                </a:solidFill>
                <a:latin typeface="Courier New"/>
                <a:cs typeface="Courier New"/>
              </a:rPr>
              <a:t>with </a:t>
            </a:r>
            <a:r>
              <a:rPr lang="en-US" sz="1500" b="0" i="0" dirty="0" err="1">
                <a:solidFill>
                  <a:srgbClr val="EDE8F5"/>
                </a:solidFill>
                <a:latin typeface="Courier New"/>
                <a:cs typeface="Courier New"/>
              </a:rPr>
              <a:t>spin_rate_model</a:t>
            </a:r>
            <a:r>
              <a:rPr lang="en-US" sz="1500" b="0" i="0" dirty="0">
                <a:solidFill>
                  <a:srgbClr val="EDE8F5"/>
                </a:solidFill>
                <a:latin typeface="Courier New"/>
                <a:cs typeface="Courier New"/>
              </a:rPr>
              <a:t>:</a:t>
            </a:r>
          </a:p>
          <a:p>
            <a:pPr algn="l" rtl="0">
              <a:spcAft>
                <a:spcPts val="0"/>
              </a:spcAft>
            </a:pPr>
            <a:r>
              <a:rPr lang="en-US" sz="1500" b="0" i="0" dirty="0">
                <a:solidFill>
                  <a:srgbClr val="EDE8F5"/>
                </a:solidFill>
                <a:latin typeface="Courier New"/>
                <a:cs typeface="Courier New"/>
              </a:rPr>
              <a:t>    trace = </a:t>
            </a:r>
            <a:r>
              <a:rPr lang="en-US" sz="1500" b="0" i="0" dirty="0" err="1">
                <a:solidFill>
                  <a:srgbClr val="EDE8F5"/>
                </a:solidFill>
                <a:latin typeface="Courier New"/>
                <a:cs typeface="Courier New"/>
              </a:rPr>
              <a:t>pm.sample</a:t>
            </a:r>
            <a:r>
              <a:rPr lang="en-US" sz="1500" b="0" i="0" dirty="0">
                <a:solidFill>
                  <a:srgbClr val="EDE8F5"/>
                </a:solidFill>
                <a:latin typeface="Courier New"/>
                <a:cs typeface="Courier New"/>
              </a:rPr>
              <a:t>(1500, chains=2)</a:t>
            </a:r>
          </a:p>
          <a:p>
            <a:pPr algn="l" rtl="0">
              <a:spcAft>
                <a:spcPts val="0"/>
              </a:spcAft>
            </a:pPr>
            <a:r>
              <a:rPr lang="en-US" sz="1500" b="0" i="0" dirty="0">
                <a:solidFill>
                  <a:srgbClr val="EDE8F5"/>
                </a:solidFill>
                <a:latin typeface="Courier New"/>
                <a:cs typeface="Courier New"/>
              </a:rPr>
              <a:t> </a:t>
            </a:r>
          </a:p>
          <a:p>
            <a:pPr algn="l" rtl="0">
              <a:spcAft>
                <a:spcPts val="0"/>
              </a:spcAft>
            </a:pPr>
            <a:r>
              <a:rPr lang="en-US" sz="1500" b="0" i="0" dirty="0" err="1">
                <a:solidFill>
                  <a:srgbClr val="EDE8F5"/>
                </a:solidFill>
                <a:latin typeface="Courier New"/>
                <a:cs typeface="Courier New"/>
              </a:rPr>
              <a:t>az.plot_posterior</a:t>
            </a:r>
            <a:r>
              <a:rPr lang="en-US" sz="1500" b="0" i="0" dirty="0">
                <a:solidFill>
                  <a:srgbClr val="EDE8F5"/>
                </a:solidFill>
                <a:latin typeface="Courier New"/>
                <a:cs typeface="Courier New"/>
              </a:rPr>
              <a:t>(trace, </a:t>
            </a:r>
            <a:r>
              <a:rPr lang="en-US" sz="1500" b="0" i="0" dirty="0" err="1">
                <a:solidFill>
                  <a:srgbClr val="EDE8F5"/>
                </a:solidFill>
                <a:latin typeface="Courier New"/>
                <a:cs typeface="Courier New"/>
              </a:rPr>
              <a:t>var_names</a:t>
            </a:r>
            <a:r>
              <a:rPr lang="en-US" sz="1500" b="0" i="0" dirty="0">
                <a:solidFill>
                  <a:srgbClr val="EDE8F5"/>
                </a:solidFill>
                <a:latin typeface="Courier New"/>
                <a:cs typeface="Courier New"/>
              </a:rPr>
              <a:t>=["mu", "tau"])</a:t>
            </a:r>
          </a:p>
        </p:txBody>
      </p:sp>
      <p:sp>
        <p:nvSpPr>
          <p:cNvPr id="5" name="card"/>
          <p:cNvSpPr/>
          <p:nvPr/>
        </p:nvSpPr>
        <p:spPr>
          <a:xfrm>
            <a:off x="548640" y="4069080"/>
            <a:ext cx="6949440" cy="2194560"/>
          </a:xfrm>
          <a:prstGeom prst="roundRect">
            <a:avLst>
              <a:gd name="adj" fmla="val 8000"/>
            </a:avLst>
          </a:prstGeom>
          <a:solidFill>
            <a:srgbClr val="E6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77240" y="4206240"/>
            <a:ext cx="6492240" cy="2011680"/>
          </a:xfrm>
          <a:prstGeom prst="rect">
            <a:avLst/>
          </a:prstGeom>
          <a:noFill/>
        </p:spPr>
        <p:txBody>
          <a:bodyPr wrap="square" lIns="45720" tIns="27432" rIns="45720" bIns="27432" anchor="t">
            <a:spAutoFit/>
          </a:bodyPr>
          <a:lstStyle/>
          <a:p>
            <a:pPr algn="r" rtl="1">
              <a:spcAft>
                <a:spcPts val="800"/>
              </a:spcAft>
            </a:pPr>
            <a:r>
              <a:rPr lang="he-IL" sz="1800" b="1" i="0">
                <a:solidFill>
                  <a:srgbClr val="2B1E3F"/>
                </a:solidFill>
                <a:latin typeface="Arial"/>
                <a:cs typeface="Arial"/>
              </a:rPr>
              <a:t>מה מתקבל?</a:t>
            </a:r>
          </a:p>
          <a:p>
            <a:pPr marR="274320" indent="-274320" algn="r" rtl="1">
              <a:spcAft>
                <a:spcPts val="800"/>
              </a:spcAft>
              <a:buClr>
                <a:srgbClr val="17A398"/>
              </a:buClr>
              <a:buFont typeface="Arial"/>
              <a:buChar char="•"/>
            </a:pPr>
            <a:r>
              <a:rPr lang="he-IL" sz="1500" b="0" i="0">
                <a:solidFill>
                  <a:srgbClr val="2B1E3F"/>
                </a:solidFill>
                <a:latin typeface="Arial"/>
                <a:cs typeface="Arial"/>
              </a:rPr>
              <a:t>trace — אובייקט InferenceData של ArviZ עם כל הדגימות</a:t>
            </a:r>
          </a:p>
          <a:p>
            <a:pPr marR="274320" indent="-274320" algn="r" rtl="1">
              <a:spcAft>
                <a:spcPts val="800"/>
              </a:spcAft>
              <a:buClr>
                <a:srgbClr val="17A398"/>
              </a:buClr>
              <a:buFont typeface="Arial"/>
              <a:buChar char="•"/>
            </a:pPr>
            <a:r>
              <a:rPr lang="he-IL" sz="1500" b="0" i="0">
                <a:solidFill>
                  <a:srgbClr val="2B1E3F"/>
                </a:solidFill>
                <a:latin typeface="Arial"/>
                <a:cs typeface="Arial"/>
              </a:rPr>
              <a:t>plot_posterior — התפלגות פוסטריורית + מרווח HDI של 94%</a:t>
            </a:r>
          </a:p>
        </p:txBody>
      </p:sp>
      <p:sp>
        <p:nvSpPr>
          <p:cNvPr id="7" name="card"/>
          <p:cNvSpPr/>
          <p:nvPr/>
        </p:nvSpPr>
        <p:spPr>
          <a:xfrm>
            <a:off x="7818120" y="1463040"/>
            <a:ext cx="3822191" cy="141732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001000" y="1600200"/>
            <a:ext cx="3456432" cy="685800"/>
          </a:xfrm>
          <a:prstGeom prst="rect">
            <a:avLst/>
          </a:prstGeom>
          <a:noFill/>
        </p:spPr>
        <p:txBody>
          <a:bodyPr wrap="square" lIns="45720" tIns="27432" rIns="45720" bIns="27432" anchor="ctr">
            <a:spAutoFit/>
          </a:bodyPr>
          <a:lstStyle/>
          <a:p>
            <a:pPr algn="r" rtl="1">
              <a:spcAft>
                <a:spcPts val="600"/>
              </a:spcAft>
            </a:pPr>
            <a:r>
              <a:rPr lang="he-IL" sz="3000" b="1" i="0">
                <a:solidFill>
                  <a:srgbClr val="17A398"/>
                </a:solidFill>
                <a:latin typeface="Arial"/>
                <a:cs typeface="Arial"/>
              </a:rPr>
              <a:t>NUTS</a:t>
            </a:r>
          </a:p>
        </p:txBody>
      </p:sp>
      <p:sp>
        <p:nvSpPr>
          <p:cNvPr id="9" name="TextBox 8"/>
          <p:cNvSpPr txBox="1"/>
          <p:nvPr/>
        </p:nvSpPr>
        <p:spPr>
          <a:xfrm>
            <a:off x="8001000" y="2286000"/>
            <a:ext cx="3456432" cy="457200"/>
          </a:xfrm>
          <a:prstGeom prst="rect">
            <a:avLst/>
          </a:prstGeom>
          <a:noFill/>
        </p:spPr>
        <p:txBody>
          <a:bodyPr wrap="square" lIns="45720" tIns="27432" rIns="45720" bIns="27432" anchor="t">
            <a:spAutoFit/>
          </a:bodyPr>
          <a:lstStyle/>
          <a:p>
            <a:pPr algn="r" rtl="1">
              <a:spcAft>
                <a:spcPts val="600"/>
              </a:spcAft>
            </a:pPr>
            <a:r>
              <a:rPr lang="he-IL" sz="1400" b="0" i="0">
                <a:solidFill>
                  <a:srgbClr val="6B6478"/>
                </a:solidFill>
                <a:latin typeface="Arial"/>
                <a:cs typeface="Arial"/>
              </a:rPr>
              <a:t>נבחר אוטומטית למשתנים הרציפים</a:t>
            </a:r>
          </a:p>
        </p:txBody>
      </p:sp>
      <p:sp>
        <p:nvSpPr>
          <p:cNvPr id="10" name="card"/>
          <p:cNvSpPr/>
          <p:nvPr/>
        </p:nvSpPr>
        <p:spPr>
          <a:xfrm>
            <a:off x="7818120" y="3108960"/>
            <a:ext cx="3822191" cy="141732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001000" y="3246120"/>
            <a:ext cx="3456432" cy="685800"/>
          </a:xfrm>
          <a:prstGeom prst="rect">
            <a:avLst/>
          </a:prstGeom>
          <a:noFill/>
        </p:spPr>
        <p:txBody>
          <a:bodyPr wrap="square" lIns="45720" tIns="27432" rIns="45720" bIns="27432" anchor="ctr">
            <a:spAutoFit/>
          </a:bodyPr>
          <a:lstStyle/>
          <a:p>
            <a:pPr algn="r" rtl="1">
              <a:spcAft>
                <a:spcPts val="600"/>
              </a:spcAft>
            </a:pPr>
            <a:r>
              <a:rPr lang="he-IL" sz="3000" b="1" i="0">
                <a:solidFill>
                  <a:srgbClr val="7B5EA7"/>
                </a:solidFill>
                <a:latin typeface="Arial"/>
                <a:cs typeface="Arial"/>
              </a:rPr>
              <a:t>1,500</a:t>
            </a:r>
          </a:p>
        </p:txBody>
      </p:sp>
      <p:sp>
        <p:nvSpPr>
          <p:cNvPr id="12" name="TextBox 11"/>
          <p:cNvSpPr txBox="1"/>
          <p:nvPr/>
        </p:nvSpPr>
        <p:spPr>
          <a:xfrm>
            <a:off x="8001000" y="3931920"/>
            <a:ext cx="3456432" cy="457200"/>
          </a:xfrm>
          <a:prstGeom prst="rect">
            <a:avLst/>
          </a:prstGeom>
          <a:noFill/>
        </p:spPr>
        <p:txBody>
          <a:bodyPr wrap="square" lIns="45720" tIns="27432" rIns="45720" bIns="27432" anchor="t">
            <a:spAutoFit/>
          </a:bodyPr>
          <a:lstStyle/>
          <a:p>
            <a:pPr algn="r" rtl="1">
              <a:spcAft>
                <a:spcPts val="600"/>
              </a:spcAft>
            </a:pPr>
            <a:r>
              <a:rPr lang="he-IL" sz="1400" b="0" i="0">
                <a:solidFill>
                  <a:srgbClr val="6B6478"/>
                </a:solidFill>
                <a:latin typeface="Arial"/>
                <a:cs typeface="Arial"/>
              </a:rPr>
              <a:t>דגימות בכל שרשרת</a:t>
            </a:r>
          </a:p>
        </p:txBody>
      </p:sp>
      <p:sp>
        <p:nvSpPr>
          <p:cNvPr id="13" name="card"/>
          <p:cNvSpPr/>
          <p:nvPr/>
        </p:nvSpPr>
        <p:spPr>
          <a:xfrm>
            <a:off x="7818120" y="4754880"/>
            <a:ext cx="3822191" cy="141732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001000" y="4892040"/>
            <a:ext cx="3456432" cy="685800"/>
          </a:xfrm>
          <a:prstGeom prst="rect">
            <a:avLst/>
          </a:prstGeom>
          <a:noFill/>
        </p:spPr>
        <p:txBody>
          <a:bodyPr wrap="square" lIns="45720" tIns="27432" rIns="45720" bIns="27432" anchor="ctr">
            <a:spAutoFit/>
          </a:bodyPr>
          <a:lstStyle/>
          <a:p>
            <a:pPr algn="r" rtl="1">
              <a:spcAft>
                <a:spcPts val="600"/>
              </a:spcAft>
            </a:pPr>
            <a:r>
              <a:rPr lang="he-IL" sz="3000" b="1" i="0">
                <a:solidFill>
                  <a:srgbClr val="E4572E"/>
                </a:solidFill>
                <a:latin typeface="Arial"/>
                <a:cs typeface="Arial"/>
              </a:rPr>
              <a:t>2</a:t>
            </a:r>
          </a:p>
        </p:txBody>
      </p:sp>
      <p:sp>
        <p:nvSpPr>
          <p:cNvPr id="15" name="TextBox 14"/>
          <p:cNvSpPr txBox="1"/>
          <p:nvPr/>
        </p:nvSpPr>
        <p:spPr>
          <a:xfrm>
            <a:off x="8001000" y="5577840"/>
            <a:ext cx="3456432" cy="457200"/>
          </a:xfrm>
          <a:prstGeom prst="rect">
            <a:avLst/>
          </a:prstGeom>
          <a:noFill/>
        </p:spPr>
        <p:txBody>
          <a:bodyPr wrap="square" lIns="45720" tIns="27432" rIns="45720" bIns="27432" anchor="t">
            <a:spAutoFit/>
          </a:bodyPr>
          <a:lstStyle/>
          <a:p>
            <a:pPr algn="r" rtl="1">
              <a:spcAft>
                <a:spcPts val="600"/>
              </a:spcAft>
            </a:pPr>
            <a:r>
              <a:rPr lang="he-IL" sz="1400" b="0" i="0">
                <a:solidFill>
                  <a:srgbClr val="6B6478"/>
                </a:solidFill>
                <a:latin typeface="Arial"/>
                <a:cs typeface="Arial"/>
              </a:rPr>
              <a:t>שרשראות (chains)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B6DE4F0-5B56-D628-1B9A-99A7212BBE8E}"/>
              </a:ext>
            </a:extLst>
          </p:cNvPr>
          <p:cNvSpPr txBox="1"/>
          <p:nvPr/>
        </p:nvSpPr>
        <p:spPr>
          <a:xfrm>
            <a:off x="2825750" y="983406"/>
            <a:ext cx="6096000" cy="5109091"/>
          </a:xfrm>
          <a:prstGeom prst="rect">
            <a:avLst/>
          </a:prstGeom>
          <a:solidFill>
            <a:schemeClr val="tx2">
              <a:lumMod val="75000"/>
            </a:schemeClr>
          </a:solidFill>
        </p:spPr>
        <p:txBody>
          <a:bodyPr wrap="square">
            <a:spAutoFit/>
          </a:bodyPr>
          <a:lstStyle/>
          <a:p>
            <a:pPr algn="l" rtl="0">
              <a:spcAft>
                <a:spcPts val="0"/>
              </a:spcAft>
            </a:pPr>
            <a:r>
              <a:rPr lang="en-US" sz="1500" b="0" i="0" dirty="0">
                <a:solidFill>
                  <a:srgbClr val="EDE8F5"/>
                </a:solidFill>
                <a:latin typeface="Courier New"/>
                <a:cs typeface="Courier New"/>
              </a:rPr>
              <a:t>with </a:t>
            </a:r>
            <a:r>
              <a:rPr lang="en-US" sz="1500" b="0" i="0" dirty="0" err="1">
                <a:solidFill>
                  <a:srgbClr val="EDE8F5"/>
                </a:solidFill>
                <a:latin typeface="Courier New"/>
                <a:cs typeface="Courier New"/>
              </a:rPr>
              <a:t>pm.Model</a:t>
            </a:r>
            <a:r>
              <a:rPr lang="en-US" sz="1500" b="0" i="0" dirty="0">
                <a:solidFill>
                  <a:srgbClr val="EDE8F5"/>
                </a:solidFill>
                <a:latin typeface="Courier New"/>
                <a:cs typeface="Courier New"/>
              </a:rPr>
              <a:t>() as </a:t>
            </a:r>
            <a:r>
              <a:rPr lang="en-US" sz="1500" b="0" i="0" dirty="0" err="1">
                <a:solidFill>
                  <a:srgbClr val="EDE8F5"/>
                </a:solidFill>
                <a:latin typeface="Courier New"/>
                <a:cs typeface="Courier New"/>
              </a:rPr>
              <a:t>spin_rate_model</a:t>
            </a:r>
            <a:r>
              <a:rPr lang="en-US" sz="1500" b="0" i="0" dirty="0">
                <a:solidFill>
                  <a:srgbClr val="EDE8F5"/>
                </a:solidFill>
                <a:latin typeface="Courier New"/>
                <a:cs typeface="Courier New"/>
              </a:rPr>
              <a:t>:</a:t>
            </a:r>
          </a:p>
          <a:p>
            <a:pPr algn="l" rtl="0">
              <a:spcAft>
                <a:spcPts val="0"/>
              </a:spcAft>
            </a:pPr>
            <a:r>
              <a:rPr lang="en-US" sz="1500" b="0" i="0" dirty="0">
                <a:solidFill>
                  <a:srgbClr val="EDE8F5"/>
                </a:solidFill>
                <a:latin typeface="Courier New"/>
                <a:cs typeface="Courier New"/>
              </a:rPr>
              <a:t> 	</a:t>
            </a:r>
          </a:p>
          <a:p>
            <a:pPr algn="l" rtl="0">
              <a:spcAft>
                <a:spcPts val="0"/>
              </a:spcAft>
            </a:pPr>
            <a:r>
              <a:rPr lang="en-US" sz="1500" dirty="0">
                <a:solidFill>
                  <a:srgbClr val="EDE8F5"/>
                </a:solidFill>
                <a:latin typeface="Courier New"/>
                <a:cs typeface="Courier New"/>
              </a:rPr>
              <a:t>	## priors</a:t>
            </a:r>
            <a:endParaRPr lang="en-US" sz="1500" b="0" i="0" dirty="0">
              <a:solidFill>
                <a:srgbClr val="EDE8F5"/>
              </a:solidFill>
              <a:latin typeface="Courier New"/>
              <a:cs typeface="Courier New"/>
            </a:endParaRPr>
          </a:p>
          <a:p>
            <a:pPr algn="l" rtl="0">
              <a:spcAft>
                <a:spcPts val="0"/>
              </a:spcAft>
            </a:pPr>
            <a:r>
              <a:rPr lang="en-US" sz="1500" b="0" i="0" dirty="0">
                <a:solidFill>
                  <a:srgbClr val="EDE8F5"/>
                </a:solidFill>
                <a:latin typeface="Courier New"/>
                <a:cs typeface="Courier New"/>
              </a:rPr>
              <a:t>    mu = </a:t>
            </a:r>
            <a:r>
              <a:rPr lang="en-US" sz="1500" b="0" i="0" dirty="0" err="1">
                <a:solidFill>
                  <a:srgbClr val="EDE8F5"/>
                </a:solidFill>
                <a:latin typeface="Courier New"/>
                <a:cs typeface="Courier New"/>
              </a:rPr>
              <a:t>pm.Normal</a:t>
            </a:r>
            <a:r>
              <a:rPr lang="en-US" sz="1500" b="0" i="0" dirty="0">
                <a:solidFill>
                  <a:srgbClr val="EDE8F5"/>
                </a:solidFill>
                <a:latin typeface="Courier New"/>
                <a:cs typeface="Courier New"/>
              </a:rPr>
              <a:t>('mu', mu=2500, sigma=100,</a:t>
            </a:r>
          </a:p>
          <a:p>
            <a:pPr algn="l" rtl="0">
              <a:spcAft>
                <a:spcPts val="0"/>
              </a:spcAft>
            </a:pPr>
            <a:r>
              <a:rPr lang="en-US" sz="1500" b="0" i="0" dirty="0">
                <a:solidFill>
                  <a:srgbClr val="EDE8F5"/>
                </a:solidFill>
                <a:latin typeface="Courier New"/>
                <a:cs typeface="Courier New"/>
              </a:rPr>
              <a:t>                   shape=2)</a:t>
            </a:r>
          </a:p>
          <a:p>
            <a:pPr algn="l" rtl="0">
              <a:spcAft>
                <a:spcPts val="0"/>
              </a:spcAft>
            </a:pPr>
            <a:r>
              <a:rPr lang="en-US" sz="1500" b="0" i="0" dirty="0">
                <a:solidFill>
                  <a:srgbClr val="EDE8F5"/>
                </a:solidFill>
                <a:latin typeface="Courier New"/>
                <a:cs typeface="Courier New"/>
              </a:rPr>
              <a:t>    tau = </a:t>
            </a:r>
            <a:r>
              <a:rPr lang="en-US" sz="1500" b="0" i="0" dirty="0" err="1">
                <a:solidFill>
                  <a:srgbClr val="EDE8F5"/>
                </a:solidFill>
                <a:latin typeface="Courier New"/>
                <a:cs typeface="Courier New"/>
              </a:rPr>
              <a:t>pm.Uniform</a:t>
            </a:r>
            <a:r>
              <a:rPr lang="en-US" sz="1500" b="0" i="0" dirty="0">
                <a:solidFill>
                  <a:srgbClr val="EDE8F5"/>
                </a:solidFill>
                <a:latin typeface="Courier New"/>
                <a:cs typeface="Courier New"/>
              </a:rPr>
              <a:t>('tau', lower=</a:t>
            </a:r>
            <a:r>
              <a:rPr lang="en-US" sz="1500" b="0" i="0" dirty="0" err="1">
                <a:solidFill>
                  <a:srgbClr val="EDE8F5"/>
                </a:solidFill>
                <a:latin typeface="Courier New"/>
                <a:cs typeface="Courier New"/>
              </a:rPr>
              <a:t>day_ind.min</a:t>
            </a:r>
            <a:r>
              <a:rPr lang="en-US" sz="1500" b="0" i="0" dirty="0">
                <a:solidFill>
                  <a:srgbClr val="EDE8F5"/>
                </a:solidFill>
                <a:latin typeface="Courier New"/>
                <a:cs typeface="Courier New"/>
              </a:rPr>
              <a:t>(),</a:t>
            </a:r>
          </a:p>
          <a:p>
            <a:pPr algn="l" rtl="0">
              <a:spcAft>
                <a:spcPts val="0"/>
              </a:spcAft>
            </a:pPr>
            <a:r>
              <a:rPr lang="en-US" sz="1500" b="0" i="0" dirty="0">
                <a:solidFill>
                  <a:srgbClr val="EDE8F5"/>
                </a:solidFill>
                <a:latin typeface="Courier New"/>
                <a:cs typeface="Courier New"/>
              </a:rPr>
              <a:t>                     upper=</a:t>
            </a:r>
            <a:r>
              <a:rPr lang="en-US" sz="1500" b="0" i="0" dirty="0" err="1">
                <a:solidFill>
                  <a:srgbClr val="EDE8F5"/>
                </a:solidFill>
                <a:latin typeface="Courier New"/>
                <a:cs typeface="Courier New"/>
              </a:rPr>
              <a:t>day_ind.max</a:t>
            </a:r>
            <a:r>
              <a:rPr lang="en-US" sz="1500" b="0" i="0" dirty="0">
                <a:solidFill>
                  <a:srgbClr val="EDE8F5"/>
                </a:solidFill>
                <a:latin typeface="Courier New"/>
                <a:cs typeface="Courier New"/>
              </a:rPr>
              <a:t>())</a:t>
            </a:r>
          </a:p>
          <a:p>
            <a:r>
              <a:rPr lang="en-US" sz="1500" dirty="0">
                <a:solidFill>
                  <a:srgbClr val="EDE8F5"/>
                </a:solidFill>
                <a:latin typeface="Courier New"/>
                <a:cs typeface="Courier New"/>
              </a:rPr>
              <a:t>	sigma = </a:t>
            </a:r>
            <a:r>
              <a:rPr lang="en-US" sz="1500" dirty="0" err="1">
                <a:solidFill>
                  <a:srgbClr val="EDE8F5"/>
                </a:solidFill>
                <a:latin typeface="Courier New"/>
                <a:cs typeface="Courier New"/>
              </a:rPr>
              <a:t>pm.HalfNormal</a:t>
            </a:r>
            <a:r>
              <a:rPr lang="en-US" sz="1500" dirty="0">
                <a:solidFill>
                  <a:srgbClr val="EDE8F5"/>
                </a:solidFill>
                <a:latin typeface="Courier New"/>
                <a:cs typeface="Courier New"/>
              </a:rPr>
              <a:t>("sigma", 100.)</a:t>
            </a:r>
          </a:p>
          <a:p>
            <a:r>
              <a:rPr lang="en-US" sz="1600" dirty="0">
                <a:solidFill>
                  <a:srgbClr val="EDE8F5"/>
                </a:solidFill>
                <a:latin typeface="Courier New"/>
                <a:cs typeface="Courier New"/>
              </a:rPr>
              <a:t>	r = </a:t>
            </a:r>
            <a:r>
              <a:rPr lang="en-US" sz="1600" dirty="0" err="1">
                <a:solidFill>
                  <a:srgbClr val="EDE8F5"/>
                </a:solidFill>
                <a:latin typeface="Courier New"/>
                <a:cs typeface="Courier New"/>
              </a:rPr>
              <a:t>pm.math.switch</a:t>
            </a:r>
            <a:r>
              <a:rPr lang="en-US" sz="1600" dirty="0">
                <a:solidFill>
                  <a:srgbClr val="EDE8F5"/>
                </a:solidFill>
                <a:latin typeface="Courier New"/>
                <a:cs typeface="Courier New"/>
              </a:rPr>
              <a:t>(tau &gt;= </a:t>
            </a:r>
            <a:r>
              <a:rPr lang="en-US" sz="1600" dirty="0" err="1">
                <a:solidFill>
                  <a:srgbClr val="EDE8F5"/>
                </a:solidFill>
                <a:latin typeface="Courier New"/>
                <a:cs typeface="Courier New"/>
              </a:rPr>
              <a:t>day_ind</a:t>
            </a:r>
            <a:r>
              <a:rPr lang="en-US" sz="1600" dirty="0">
                <a:solidFill>
                  <a:srgbClr val="EDE8F5"/>
                </a:solidFill>
                <a:latin typeface="Courier New"/>
                <a:cs typeface="Courier New"/>
              </a:rPr>
              <a:t>,</a:t>
            </a:r>
          </a:p>
          <a:p>
            <a:r>
              <a:rPr lang="en-US" sz="1600" dirty="0">
                <a:solidFill>
                  <a:srgbClr val="EDE8F5"/>
                </a:solidFill>
                <a:latin typeface="Courier New"/>
                <a:cs typeface="Courier New"/>
              </a:rPr>
              <a:t>                   mu[0], mu[1])</a:t>
            </a:r>
          </a:p>
          <a:p>
            <a:endParaRPr lang="en-US" sz="1600" dirty="0">
              <a:solidFill>
                <a:srgbClr val="EDE8F5"/>
              </a:solidFill>
              <a:latin typeface="Courier New"/>
              <a:cs typeface="Courier New"/>
            </a:endParaRPr>
          </a:p>
          <a:p>
            <a:r>
              <a:rPr lang="en-US" sz="1600" dirty="0">
                <a:solidFill>
                  <a:srgbClr val="EDE8F5"/>
                </a:solidFill>
                <a:latin typeface="Courier New"/>
                <a:cs typeface="Courier New"/>
              </a:rPr>
              <a:t>	</a:t>
            </a:r>
          </a:p>
          <a:p>
            <a:r>
              <a:rPr lang="en-US" sz="1600" dirty="0">
                <a:solidFill>
                  <a:srgbClr val="EDE8F5"/>
                </a:solidFill>
                <a:latin typeface="Courier New"/>
                <a:cs typeface="Courier New"/>
              </a:rPr>
              <a:t>	## Likelihood</a:t>
            </a:r>
          </a:p>
          <a:p>
            <a:r>
              <a:rPr lang="en-US" sz="1600" dirty="0">
                <a:solidFill>
                  <a:srgbClr val="EDE8F5"/>
                </a:solidFill>
                <a:latin typeface="Courier New"/>
                <a:cs typeface="Courier New"/>
              </a:rPr>
              <a:t>	</a:t>
            </a:r>
            <a:r>
              <a:rPr lang="en-US" sz="1600" dirty="0" err="1">
                <a:solidFill>
                  <a:srgbClr val="EDE8F5"/>
                </a:solidFill>
                <a:latin typeface="Courier New"/>
                <a:cs typeface="Courier New"/>
              </a:rPr>
              <a:t>spin_rate_like</a:t>
            </a:r>
            <a:r>
              <a:rPr lang="en-US" sz="1600" dirty="0">
                <a:solidFill>
                  <a:srgbClr val="EDE8F5"/>
                </a:solidFill>
                <a:latin typeface="Courier New"/>
                <a:cs typeface="Courier New"/>
              </a:rPr>
              <a:t> = </a:t>
            </a:r>
            <a:r>
              <a:rPr lang="en-US" sz="1600" dirty="0" err="1">
                <a:solidFill>
                  <a:srgbClr val="EDE8F5"/>
                </a:solidFill>
                <a:latin typeface="Courier New"/>
                <a:cs typeface="Courier New"/>
              </a:rPr>
              <a:t>pm.Normal</a:t>
            </a:r>
            <a:r>
              <a:rPr lang="en-US" sz="1600" dirty="0">
                <a:solidFill>
                  <a:srgbClr val="EDE8F5"/>
                </a:solidFill>
                <a:latin typeface="Courier New"/>
                <a:cs typeface="Courier New"/>
              </a:rPr>
              <a:t>(</a:t>
            </a:r>
          </a:p>
          <a:p>
            <a:r>
              <a:rPr lang="en-US" sz="1600" dirty="0">
                <a:solidFill>
                  <a:srgbClr val="EDE8F5"/>
                </a:solidFill>
                <a:latin typeface="Courier New"/>
                <a:cs typeface="Courier New"/>
              </a:rPr>
              <a:t>        '</a:t>
            </a:r>
            <a:r>
              <a:rPr lang="en-US" sz="1600" dirty="0" err="1">
                <a:solidFill>
                  <a:srgbClr val="EDE8F5"/>
                </a:solidFill>
                <a:latin typeface="Courier New"/>
                <a:cs typeface="Courier New"/>
              </a:rPr>
              <a:t>spin_rate_like</a:t>
            </a:r>
            <a:r>
              <a:rPr lang="en-US" sz="1600" dirty="0">
                <a:solidFill>
                  <a:srgbClr val="EDE8F5"/>
                </a:solidFill>
                <a:latin typeface="Courier New"/>
                <a:cs typeface="Courier New"/>
              </a:rPr>
              <a:t>', mu=r, sigma=sigma,</a:t>
            </a:r>
          </a:p>
          <a:p>
            <a:r>
              <a:rPr lang="en-US" sz="1600" dirty="0">
                <a:solidFill>
                  <a:srgbClr val="EDE8F5"/>
                </a:solidFill>
                <a:latin typeface="Courier New"/>
                <a:cs typeface="Courier New"/>
              </a:rPr>
              <a:t>        observed=</a:t>
            </a:r>
            <a:r>
              <a:rPr lang="en-US" sz="1600" dirty="0" err="1">
                <a:solidFill>
                  <a:srgbClr val="EDE8F5"/>
                </a:solidFill>
                <a:latin typeface="Courier New"/>
                <a:cs typeface="Courier New"/>
              </a:rPr>
              <a:t>spin_rate</a:t>
            </a:r>
            <a:r>
              <a:rPr lang="en-US" sz="1600" dirty="0">
                <a:solidFill>
                  <a:srgbClr val="EDE8F5"/>
                </a:solidFill>
                <a:latin typeface="Courier New"/>
                <a:cs typeface="Courier New"/>
              </a:rPr>
              <a:t>)</a:t>
            </a:r>
          </a:p>
          <a:p>
            <a:endParaRPr lang="en-US" sz="1600" dirty="0">
              <a:solidFill>
                <a:srgbClr val="EDE8F5"/>
              </a:solidFill>
              <a:latin typeface="Courier New"/>
              <a:cs typeface="Courier New"/>
            </a:endParaRPr>
          </a:p>
          <a:p>
            <a:r>
              <a:rPr lang="en-US" sz="1600" dirty="0">
                <a:solidFill>
                  <a:srgbClr val="EDE8F5"/>
                </a:solidFill>
                <a:latin typeface="Courier New"/>
                <a:cs typeface="Courier New"/>
              </a:rPr>
              <a:t>	## sampling</a:t>
            </a:r>
          </a:p>
          <a:p>
            <a:r>
              <a:rPr lang="en-US" sz="1600" dirty="0">
                <a:solidFill>
                  <a:srgbClr val="EDE8F5"/>
                </a:solidFill>
                <a:latin typeface="Courier New"/>
                <a:cs typeface="Courier New"/>
              </a:rPr>
              <a:t>	trace = </a:t>
            </a:r>
            <a:r>
              <a:rPr lang="en-US" sz="1600" dirty="0" err="1">
                <a:solidFill>
                  <a:srgbClr val="EDE8F5"/>
                </a:solidFill>
                <a:latin typeface="Courier New"/>
                <a:cs typeface="Courier New"/>
              </a:rPr>
              <a:t>pm.sample</a:t>
            </a:r>
            <a:r>
              <a:rPr lang="en-US" sz="1600" dirty="0">
                <a:solidFill>
                  <a:srgbClr val="EDE8F5"/>
                </a:solidFill>
                <a:latin typeface="Courier New"/>
                <a:cs typeface="Courier New"/>
              </a:rPr>
              <a:t>(1500, chains=2)</a:t>
            </a:r>
            <a:endParaRPr lang="en-US" sz="1500" dirty="0">
              <a:solidFill>
                <a:srgbClr val="EDE8F5"/>
              </a:solidFill>
              <a:latin typeface="Courier New"/>
              <a:cs typeface="Courier New"/>
            </a:endParaRPr>
          </a:p>
          <a:p>
            <a:endParaRPr lang="en-US" sz="1500" b="0" i="0" dirty="0">
              <a:solidFill>
                <a:srgbClr val="EDE8F5"/>
              </a:solidFill>
              <a:latin typeface="Courier New"/>
              <a:cs typeface="Courier New"/>
            </a:endParaRPr>
          </a:p>
          <a:p>
            <a:r>
              <a:rPr lang="en-US" sz="1500" dirty="0">
                <a:solidFill>
                  <a:srgbClr val="EDE8F5"/>
                </a:solidFill>
                <a:latin typeface="Courier New"/>
                <a:cs typeface="Courier New"/>
              </a:rPr>
              <a:t>	</a:t>
            </a:r>
            <a:endParaRPr lang="en-US" sz="1500" b="0" i="0" dirty="0">
              <a:solidFill>
                <a:srgbClr val="EDE8F5"/>
              </a:solidFill>
              <a:latin typeface="Courier New"/>
              <a:cs typeface="Courier New"/>
            </a:endParaRPr>
          </a:p>
        </p:txBody>
      </p:sp>
      <p:sp>
        <p:nvSpPr>
          <p:cNvPr id="6" name="TextBox 5">
            <a:extLst>
              <a:ext uri="{FF2B5EF4-FFF2-40B4-BE49-F238E27FC236}">
                <a16:creationId xmlns:a16="http://schemas.microsoft.com/office/drawing/2014/main" id="{B11A2427-D14E-26CB-7535-3DDD4202D9EE}"/>
              </a:ext>
            </a:extLst>
          </p:cNvPr>
          <p:cNvSpPr txBox="1"/>
          <p:nvPr/>
        </p:nvSpPr>
        <p:spPr>
          <a:xfrm>
            <a:off x="2908300" y="402521"/>
            <a:ext cx="4597400" cy="369332"/>
          </a:xfrm>
          <a:prstGeom prst="rect">
            <a:avLst/>
          </a:prstGeom>
          <a:noFill/>
        </p:spPr>
        <p:txBody>
          <a:bodyPr wrap="square" rtlCol="0">
            <a:spAutoFit/>
          </a:bodyPr>
          <a:lstStyle/>
          <a:p>
            <a:r>
              <a:rPr lang="en-US" dirty="0"/>
              <a:t>The entire code in one shot</a:t>
            </a:r>
            <a:endParaRPr lang="en-IL" dirty="0"/>
          </a:p>
        </p:txBody>
      </p:sp>
    </p:spTree>
    <p:extLst>
      <p:ext uri="{BB962C8B-B14F-4D97-AF65-F5344CB8AC3E}">
        <p14:creationId xmlns:p14="http://schemas.microsoft.com/office/powerpoint/2010/main" val="3407960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4415" cy="822960"/>
          </a:xfrm>
          <a:prstGeom prst="rect">
            <a:avLst/>
          </a:prstGeom>
          <a:noFill/>
        </p:spPr>
        <p:txBody>
          <a:bodyPr wrap="square" lIns="45720" tIns="27432" rIns="45720" bIns="27432" anchor="ctr">
            <a:spAutoFit/>
          </a:bodyPr>
          <a:lstStyle/>
          <a:p>
            <a:pPr algn="r" rtl="1">
              <a:spcAft>
                <a:spcPts val="600"/>
              </a:spcAft>
            </a:pPr>
            <a:r>
              <a:rPr lang="he-IL" sz="3400" b="1" i="0">
                <a:solidFill>
                  <a:srgbClr val="2B1E3F"/>
                </a:solidFill>
                <a:latin typeface="Arial"/>
                <a:cs typeface="Arial"/>
              </a:rPr>
              <a:t>הפוסטריור של </a:t>
            </a:r>
            <a:r>
              <a:rPr lang="en-US" sz="3400" b="1" i="0">
                <a:solidFill>
                  <a:srgbClr val="2B1E3F"/>
                </a:solidFill>
                <a:latin typeface="Arial"/>
                <a:cs typeface="Arial"/>
              </a:rPr>
              <a:t>μ₁</a:t>
            </a:r>
            <a:r>
              <a:rPr lang="he-IL" sz="3400" b="1" i="0">
                <a:solidFill>
                  <a:srgbClr val="2B1E3F"/>
                </a:solidFill>
                <a:latin typeface="Arial"/>
                <a:cs typeface="Arial"/>
              </a:rPr>
              <a:t> ו-</a:t>
            </a:r>
            <a:r>
              <a:rPr lang="en-US" sz="3400" b="1" i="0">
                <a:solidFill>
                  <a:srgbClr val="2B1E3F"/>
                </a:solidFill>
                <a:latin typeface="Arial"/>
                <a:cs typeface="Arial"/>
              </a:rPr>
              <a:t>μ₂</a:t>
            </a:r>
          </a:p>
        </p:txBody>
      </p:sp>
      <p:pic>
        <p:nvPicPr>
          <p:cNvPr id="3" name="Picture 2" descr="post_mu.png"/>
          <p:cNvPicPr>
            <a:picLocks noChangeAspect="1"/>
          </p:cNvPicPr>
          <p:nvPr/>
        </p:nvPicPr>
        <p:blipFill>
          <a:blip r:embed="rId3"/>
          <a:stretch>
            <a:fillRect/>
          </a:stretch>
        </p:blipFill>
        <p:spPr>
          <a:xfrm>
            <a:off x="548640" y="1463040"/>
            <a:ext cx="6583680" cy="4572000"/>
          </a:xfrm>
          <a:prstGeom prst="rect">
            <a:avLst/>
          </a:prstGeom>
        </p:spPr>
      </p:pic>
      <p:sp>
        <p:nvSpPr>
          <p:cNvPr id="4" name="card"/>
          <p:cNvSpPr/>
          <p:nvPr/>
        </p:nvSpPr>
        <p:spPr>
          <a:xfrm>
            <a:off x="9601200" y="1463040"/>
            <a:ext cx="2039112" cy="173736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9601200" y="1536192"/>
            <a:ext cx="2039112" cy="731520"/>
          </a:xfrm>
          <a:prstGeom prst="rect">
            <a:avLst/>
          </a:prstGeom>
          <a:noFill/>
        </p:spPr>
        <p:txBody>
          <a:bodyPr wrap="square" lIns="45720" tIns="27432" rIns="45720" bIns="27432" anchor="ctr">
            <a:spAutoFit/>
          </a:bodyPr>
          <a:lstStyle/>
          <a:p>
            <a:pPr algn="ctr" rtl="1">
              <a:spcAft>
                <a:spcPts val="600"/>
              </a:spcAft>
            </a:pPr>
            <a:r>
              <a:rPr lang="he-IL" sz="3400" b="1" i="0">
                <a:solidFill>
                  <a:srgbClr val="17A398"/>
                </a:solidFill>
                <a:latin typeface="Arial"/>
                <a:cs typeface="Arial"/>
              </a:rPr>
              <a:t>2,539</a:t>
            </a:r>
          </a:p>
        </p:txBody>
      </p:sp>
      <p:sp>
        <p:nvSpPr>
          <p:cNvPr id="6" name="TextBox 5"/>
          <p:cNvSpPr txBox="1"/>
          <p:nvPr/>
        </p:nvSpPr>
        <p:spPr>
          <a:xfrm>
            <a:off x="9601200" y="2240280"/>
            <a:ext cx="2039112" cy="365760"/>
          </a:xfrm>
          <a:prstGeom prst="rect">
            <a:avLst/>
          </a:prstGeom>
          <a:noFill/>
        </p:spPr>
        <p:txBody>
          <a:bodyPr wrap="square" lIns="45720" tIns="27432" rIns="45720" bIns="27432" anchor="t">
            <a:spAutoFit/>
          </a:bodyPr>
          <a:lstStyle/>
          <a:p>
            <a:pPr algn="ctr" rtl="1">
              <a:spcAft>
                <a:spcPts val="600"/>
              </a:spcAft>
            </a:pPr>
            <a:r>
              <a:rPr lang="en-US" sz="1300" b="0" i="0">
                <a:solidFill>
                  <a:srgbClr val="6B6478"/>
                </a:solidFill>
                <a:latin typeface="Arial"/>
                <a:cs typeface="Arial"/>
              </a:rPr>
              <a:t>μ₁</a:t>
            </a:r>
            <a:r>
              <a:rPr lang="he-IL" sz="1300" b="0" i="0">
                <a:solidFill>
                  <a:srgbClr val="6B6478"/>
                </a:solidFill>
                <a:latin typeface="Arial"/>
                <a:cs typeface="Arial"/>
              </a:rPr>
              <a:t> — לפני</a:t>
            </a:r>
          </a:p>
        </p:txBody>
      </p:sp>
      <p:sp>
        <p:nvSpPr>
          <p:cNvPr id="7" name="TextBox 6"/>
          <p:cNvSpPr txBox="1"/>
          <p:nvPr/>
        </p:nvSpPr>
        <p:spPr>
          <a:xfrm>
            <a:off x="9601200" y="2606040"/>
            <a:ext cx="2039112" cy="365760"/>
          </a:xfrm>
          <a:prstGeom prst="rect">
            <a:avLst/>
          </a:prstGeom>
          <a:noFill/>
        </p:spPr>
        <p:txBody>
          <a:bodyPr wrap="square" lIns="45720" tIns="27432" rIns="45720" bIns="27432" anchor="t">
            <a:spAutoFit/>
          </a:bodyPr>
          <a:lstStyle/>
          <a:p>
            <a:pPr algn="ctr" rtl="0">
              <a:spcAft>
                <a:spcPts val="600"/>
              </a:spcAft>
            </a:pPr>
            <a:r>
              <a:rPr lang="en-US" sz="1200" b="0" i="0">
                <a:solidFill>
                  <a:srgbClr val="6B6478"/>
                </a:solidFill>
                <a:latin typeface="Arial"/>
                <a:cs typeface="Arial"/>
              </a:rPr>
              <a:t>HDI: 2,528–2,551</a:t>
            </a:r>
          </a:p>
        </p:txBody>
      </p:sp>
      <p:sp>
        <p:nvSpPr>
          <p:cNvPr id="8" name="card"/>
          <p:cNvSpPr/>
          <p:nvPr/>
        </p:nvSpPr>
        <p:spPr>
          <a:xfrm>
            <a:off x="7452360" y="1463040"/>
            <a:ext cx="2039112" cy="173736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452360" y="1536192"/>
            <a:ext cx="2039112" cy="731520"/>
          </a:xfrm>
          <a:prstGeom prst="rect">
            <a:avLst/>
          </a:prstGeom>
          <a:noFill/>
        </p:spPr>
        <p:txBody>
          <a:bodyPr wrap="square" lIns="45720" tIns="27432" rIns="45720" bIns="27432" anchor="ctr">
            <a:spAutoFit/>
          </a:bodyPr>
          <a:lstStyle/>
          <a:p>
            <a:pPr algn="ctr" rtl="1">
              <a:spcAft>
                <a:spcPts val="600"/>
              </a:spcAft>
            </a:pPr>
            <a:r>
              <a:rPr lang="he-IL" sz="3400" b="1" i="0">
                <a:solidFill>
                  <a:srgbClr val="E4572E"/>
                </a:solidFill>
                <a:latin typeface="Arial"/>
                <a:cs typeface="Arial"/>
              </a:rPr>
              <a:t>2,442</a:t>
            </a:r>
          </a:p>
        </p:txBody>
      </p:sp>
      <p:sp>
        <p:nvSpPr>
          <p:cNvPr id="10" name="TextBox 9"/>
          <p:cNvSpPr txBox="1"/>
          <p:nvPr/>
        </p:nvSpPr>
        <p:spPr>
          <a:xfrm>
            <a:off x="7452360" y="2240280"/>
            <a:ext cx="2039112" cy="365760"/>
          </a:xfrm>
          <a:prstGeom prst="rect">
            <a:avLst/>
          </a:prstGeom>
          <a:noFill/>
        </p:spPr>
        <p:txBody>
          <a:bodyPr wrap="square" lIns="45720" tIns="27432" rIns="45720" bIns="27432" anchor="t">
            <a:spAutoFit/>
          </a:bodyPr>
          <a:lstStyle/>
          <a:p>
            <a:pPr algn="ctr" rtl="1">
              <a:spcAft>
                <a:spcPts val="600"/>
              </a:spcAft>
            </a:pPr>
            <a:r>
              <a:rPr lang="en-US" sz="1300" b="0" i="0">
                <a:solidFill>
                  <a:srgbClr val="6B6478"/>
                </a:solidFill>
                <a:latin typeface="Arial"/>
                <a:cs typeface="Arial"/>
              </a:rPr>
              <a:t>μ₂</a:t>
            </a:r>
            <a:r>
              <a:rPr lang="he-IL" sz="1300" b="0" i="0">
                <a:solidFill>
                  <a:srgbClr val="6B6478"/>
                </a:solidFill>
                <a:latin typeface="Arial"/>
                <a:cs typeface="Arial"/>
              </a:rPr>
              <a:t> — אחרי</a:t>
            </a:r>
          </a:p>
        </p:txBody>
      </p:sp>
      <p:sp>
        <p:nvSpPr>
          <p:cNvPr id="11" name="TextBox 10"/>
          <p:cNvSpPr txBox="1"/>
          <p:nvPr/>
        </p:nvSpPr>
        <p:spPr>
          <a:xfrm>
            <a:off x="7452360" y="2606040"/>
            <a:ext cx="2039112" cy="365760"/>
          </a:xfrm>
          <a:prstGeom prst="rect">
            <a:avLst/>
          </a:prstGeom>
          <a:noFill/>
        </p:spPr>
        <p:txBody>
          <a:bodyPr wrap="square" lIns="45720" tIns="27432" rIns="45720" bIns="27432" anchor="t">
            <a:spAutoFit/>
          </a:bodyPr>
          <a:lstStyle/>
          <a:p>
            <a:pPr algn="ctr" rtl="0">
              <a:spcAft>
                <a:spcPts val="600"/>
              </a:spcAft>
            </a:pPr>
            <a:r>
              <a:rPr lang="en-US" sz="1200" b="0" i="0">
                <a:solidFill>
                  <a:srgbClr val="6B6478"/>
                </a:solidFill>
                <a:latin typeface="Arial"/>
                <a:cs typeface="Arial"/>
              </a:rPr>
              <a:t>HDI: 2,433–2,450</a:t>
            </a:r>
          </a:p>
        </p:txBody>
      </p:sp>
      <p:sp>
        <p:nvSpPr>
          <p:cNvPr id="12" name="TextBox 11"/>
          <p:cNvSpPr txBox="1"/>
          <p:nvPr/>
        </p:nvSpPr>
        <p:spPr>
          <a:xfrm>
            <a:off x="7452360" y="3474720"/>
            <a:ext cx="4187952" cy="2743200"/>
          </a:xfrm>
          <a:prstGeom prst="rect">
            <a:avLst/>
          </a:prstGeom>
          <a:noFill/>
        </p:spPr>
        <p:txBody>
          <a:bodyPr wrap="square" lIns="45720" tIns="27432" rIns="45720" bIns="27432" anchor="t">
            <a:spAutoFit/>
          </a:bodyPr>
          <a:lstStyle/>
          <a:p>
            <a:pPr marR="274320" indent="-274320" algn="r" rtl="1">
              <a:spcAft>
                <a:spcPts val="1200"/>
              </a:spcAft>
              <a:buClr>
                <a:srgbClr val="17A398"/>
              </a:buClr>
              <a:buFont typeface="Arial"/>
              <a:buChar char="•"/>
            </a:pPr>
            <a:r>
              <a:rPr lang="he-IL" sz="1600" b="0" i="0">
                <a:solidFill>
                  <a:srgbClr val="2B1E3F"/>
                </a:solidFill>
                <a:latin typeface="Arial"/>
                <a:cs typeface="Arial"/>
              </a:rPr>
              <a:t>ירידה של כ-</a:t>
            </a:r>
            <a:r>
              <a:rPr lang="he-IL" sz="1600" b="1" i="0">
                <a:solidFill>
                  <a:srgbClr val="E4572E"/>
                </a:solidFill>
                <a:latin typeface="Arial"/>
                <a:cs typeface="Arial"/>
              </a:rPr>
              <a:t>97 סל”ד</a:t>
            </a:r>
            <a:r>
              <a:rPr lang="he-IL" sz="1600" b="0" i="0">
                <a:solidFill>
                  <a:srgbClr val="2B1E3F"/>
                </a:solidFill>
                <a:latin typeface="Arial"/>
                <a:cs typeface="Arial"/>
              </a:rPr>
              <a:t> בממוצע קצב הסיבוב</a:t>
            </a:r>
          </a:p>
          <a:p>
            <a:pPr marR="274320" indent="-274320" algn="r" rtl="1">
              <a:spcAft>
                <a:spcPts val="1200"/>
              </a:spcAft>
              <a:buClr>
                <a:srgbClr val="17A398"/>
              </a:buClr>
              <a:buFont typeface="Arial"/>
              <a:buChar char="•"/>
            </a:pPr>
            <a:r>
              <a:rPr lang="he-IL" sz="1600" b="0" i="0">
                <a:solidFill>
                  <a:srgbClr val="2B1E3F"/>
                </a:solidFill>
                <a:latin typeface="Arial"/>
                <a:cs typeface="Arial"/>
              </a:rPr>
              <a:t>מרווחי ה-HDI </a:t>
            </a:r>
            <a:r>
              <a:rPr lang="he-IL" sz="1600" b="1" i="0">
                <a:solidFill>
                  <a:srgbClr val="2B1E3F"/>
                </a:solidFill>
                <a:latin typeface="Arial"/>
                <a:cs typeface="Arial"/>
              </a:rPr>
              <a:t>לא חופפים</a:t>
            </a:r>
            <a:r>
              <a:rPr lang="he-IL" sz="1600" b="0" i="0">
                <a:solidFill>
                  <a:srgbClr val="2B1E3F"/>
                </a:solidFill>
                <a:latin typeface="Arial"/>
                <a:cs typeface="Arial"/>
              </a:rPr>
              <a:t> ← ראיה חזקה לשינוי אמיתי</a:t>
            </a:r>
          </a:p>
          <a:p>
            <a:pPr marR="274320" indent="-274320" algn="r" rtl="1">
              <a:spcAft>
                <a:spcPts val="1200"/>
              </a:spcAft>
              <a:buClr>
                <a:srgbClr val="17A398"/>
              </a:buClr>
              <a:buFont typeface="Arial"/>
              <a:buChar char="•"/>
            </a:pPr>
            <a:r>
              <a:rPr lang="he-IL" sz="1600" b="0" i="0">
                <a:solidFill>
                  <a:srgbClr val="2B1E3F"/>
                </a:solidFill>
                <a:latin typeface="Arial"/>
                <a:cs typeface="Arial"/>
              </a:rPr>
              <a:t>היחידות: סיבובים לדקה (rpm)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4415" cy="822960"/>
          </a:xfrm>
          <a:prstGeom prst="rect">
            <a:avLst/>
          </a:prstGeom>
          <a:noFill/>
        </p:spPr>
        <p:txBody>
          <a:bodyPr wrap="square" lIns="45720" tIns="27432" rIns="45720" bIns="27432" anchor="ctr">
            <a:spAutoFit/>
          </a:bodyPr>
          <a:lstStyle/>
          <a:p>
            <a:pPr algn="r" rtl="1">
              <a:spcAft>
                <a:spcPts val="600"/>
              </a:spcAft>
            </a:pPr>
            <a:r>
              <a:rPr lang="he-IL" sz="3400" b="1" i="0">
                <a:solidFill>
                  <a:srgbClr val="2B1E3F"/>
                </a:solidFill>
                <a:latin typeface="Arial"/>
                <a:cs typeface="Arial"/>
              </a:rPr>
              <a:t>הפוסטריור של </a:t>
            </a:r>
            <a:r>
              <a:rPr lang="en-US" sz="3400" b="1" i="0">
                <a:solidFill>
                  <a:srgbClr val="2B1E3F"/>
                </a:solidFill>
                <a:latin typeface="Cambria Math"/>
                <a:cs typeface="Cambria Math"/>
              </a:rPr>
              <a:t>τ</a:t>
            </a:r>
            <a:r>
              <a:rPr lang="he-IL" sz="3400" b="1" i="0">
                <a:solidFill>
                  <a:srgbClr val="2B1E3F"/>
                </a:solidFill>
                <a:latin typeface="Arial"/>
                <a:cs typeface="Arial"/>
              </a:rPr>
              <a:t>: מתי זה קרה?</a:t>
            </a:r>
          </a:p>
        </p:txBody>
      </p:sp>
      <p:pic>
        <p:nvPicPr>
          <p:cNvPr id="3" name="Picture 2" descr="post_tau.png"/>
          <p:cNvPicPr>
            <a:picLocks noChangeAspect="1"/>
          </p:cNvPicPr>
          <p:nvPr/>
        </p:nvPicPr>
        <p:blipFill>
          <a:blip r:embed="rId3"/>
          <a:stretch>
            <a:fillRect/>
          </a:stretch>
        </p:blipFill>
        <p:spPr>
          <a:xfrm>
            <a:off x="548640" y="1463040"/>
            <a:ext cx="6949440" cy="4572000"/>
          </a:xfrm>
          <a:prstGeom prst="rect">
            <a:avLst/>
          </a:prstGeom>
        </p:spPr>
      </p:pic>
      <p:sp>
        <p:nvSpPr>
          <p:cNvPr id="4" name="card"/>
          <p:cNvSpPr/>
          <p:nvPr/>
        </p:nvSpPr>
        <p:spPr>
          <a:xfrm>
            <a:off x="7818120" y="1463040"/>
            <a:ext cx="3822191" cy="1737360"/>
          </a:xfrm>
          <a:prstGeom prst="roundRect">
            <a:avLst>
              <a:gd name="adj" fmla="val 8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818120" y="1554480"/>
            <a:ext cx="3822191" cy="822960"/>
          </a:xfrm>
          <a:prstGeom prst="rect">
            <a:avLst/>
          </a:prstGeom>
          <a:noFill/>
        </p:spPr>
        <p:txBody>
          <a:bodyPr wrap="square" lIns="45720" tIns="27432" rIns="45720" bIns="27432" anchor="ctr">
            <a:spAutoFit/>
          </a:bodyPr>
          <a:lstStyle/>
          <a:p>
            <a:pPr algn="ctr" rtl="1">
              <a:spcAft>
                <a:spcPts val="600"/>
              </a:spcAft>
            </a:pPr>
            <a:r>
              <a:rPr lang="he-IL" sz="3000" b="1" i="0">
                <a:solidFill>
                  <a:srgbClr val="7B5EA7"/>
                </a:solidFill>
                <a:latin typeface="Arial"/>
                <a:cs typeface="Arial"/>
              </a:rPr>
              <a:t>8 ביוני 2021</a:t>
            </a:r>
          </a:p>
        </p:txBody>
      </p:sp>
      <p:sp>
        <p:nvSpPr>
          <p:cNvPr id="6" name="TextBox 5"/>
          <p:cNvSpPr txBox="1"/>
          <p:nvPr/>
        </p:nvSpPr>
        <p:spPr>
          <a:xfrm>
            <a:off x="7818120" y="2377440"/>
            <a:ext cx="3822191" cy="731520"/>
          </a:xfrm>
          <a:prstGeom prst="rect">
            <a:avLst/>
          </a:prstGeom>
          <a:noFill/>
        </p:spPr>
        <p:txBody>
          <a:bodyPr wrap="square" lIns="45720" tIns="27432" rIns="45720" bIns="27432" anchor="t">
            <a:spAutoFit/>
          </a:bodyPr>
          <a:lstStyle/>
          <a:p>
            <a:pPr algn="ctr" rtl="1">
              <a:spcAft>
                <a:spcPts val="600"/>
              </a:spcAft>
            </a:pPr>
            <a:r>
              <a:rPr lang="he-IL" sz="1300" b="0" i="0">
                <a:solidFill>
                  <a:srgbClr val="6B6478"/>
                </a:solidFill>
                <a:latin typeface="Arial"/>
                <a:cs typeface="Arial"/>
              </a:rPr>
              <a:t>ממוצע הפוסטריור של </a:t>
            </a:r>
            <a:r>
              <a:rPr lang="en-US" sz="1300" b="0" i="0">
                <a:solidFill>
                  <a:srgbClr val="6B6478"/>
                </a:solidFill>
                <a:latin typeface="Cambria Math"/>
                <a:cs typeface="Cambria Math"/>
              </a:rPr>
              <a:t>τ</a:t>
            </a:r>
            <a:r>
              <a:rPr lang="he-IL" sz="1300" b="0" i="0">
                <a:solidFill>
                  <a:srgbClr val="6B6478"/>
                </a:solidFill>
                <a:latin typeface="Arial"/>
                <a:cs typeface="Arial"/>
              </a:rPr>
              <a:t> (יום 68 בעונה)</a:t>
            </a:r>
          </a:p>
        </p:txBody>
      </p:sp>
      <p:sp>
        <p:nvSpPr>
          <p:cNvPr id="7" name="TextBox 6"/>
          <p:cNvSpPr txBox="1"/>
          <p:nvPr/>
        </p:nvSpPr>
        <p:spPr>
          <a:xfrm>
            <a:off x="7818120" y="3474720"/>
            <a:ext cx="3822191" cy="2743200"/>
          </a:xfrm>
          <a:prstGeom prst="rect">
            <a:avLst/>
          </a:prstGeom>
          <a:noFill/>
        </p:spPr>
        <p:txBody>
          <a:bodyPr wrap="square" lIns="45720" tIns="27432" rIns="45720" bIns="27432" anchor="t">
            <a:spAutoFit/>
          </a:bodyPr>
          <a:lstStyle/>
          <a:p>
            <a:pPr marR="274320" indent="-274320" algn="r" rtl="1">
              <a:spcAft>
                <a:spcPts val="1200"/>
              </a:spcAft>
              <a:buClr>
                <a:srgbClr val="7B5EA7"/>
              </a:buClr>
              <a:buFont typeface="Arial"/>
              <a:buChar char="•"/>
            </a:pPr>
            <a:r>
              <a:rPr lang="he-IL" sz="1600" b="0" i="0">
                <a:solidFill>
                  <a:srgbClr val="2B1E3F"/>
                </a:solidFill>
                <a:latin typeface="Arial"/>
                <a:cs typeface="Arial"/>
              </a:rPr>
              <a:t>מרווח HDI של 94%: בין יום 65 ליום 72 — חלון של כשבוע</a:t>
            </a:r>
          </a:p>
          <a:p>
            <a:pPr marR="274320" indent="-274320" algn="r" rtl="1">
              <a:spcAft>
                <a:spcPts val="1200"/>
              </a:spcAft>
              <a:buClr>
                <a:srgbClr val="7B5EA7"/>
              </a:buClr>
              <a:buFont typeface="Arial"/>
              <a:buChar char="•"/>
            </a:pPr>
            <a:r>
              <a:rPr lang="he-IL" sz="1600" b="0" i="0">
                <a:solidFill>
                  <a:srgbClr val="2B1E3F"/>
                </a:solidFill>
                <a:latin typeface="Arial"/>
                <a:cs typeface="Arial"/>
              </a:rPr>
              <a:t>תואם את מועד השינוי בכללים — וקרוב לשמועה על האכיפה (3 ביוני)</a:t>
            </a:r>
          </a:p>
          <a:p>
            <a:pPr marR="274320" indent="-274320" algn="r" rtl="1">
              <a:spcAft>
                <a:spcPts val="1200"/>
              </a:spcAft>
              <a:buClr>
                <a:srgbClr val="7B5EA7"/>
              </a:buClr>
              <a:buFont typeface="Arial"/>
              <a:buChar char="•"/>
            </a:pPr>
            <a:r>
              <a:rPr lang="he-IL" sz="1600" b="0" i="0">
                <a:solidFill>
                  <a:srgbClr val="2B1E3F"/>
                </a:solidFill>
                <a:latin typeface="Arial"/>
                <a:cs typeface="Arial"/>
              </a:rPr>
              <a:t>הפוסטריור לא חלק: כמה ימים מתחרים על המקום</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4415" cy="822960"/>
          </a:xfrm>
          <a:prstGeom prst="rect">
            <a:avLst/>
          </a:prstGeom>
          <a:noFill/>
        </p:spPr>
        <p:txBody>
          <a:bodyPr wrap="square" lIns="45720" tIns="27432" rIns="45720" bIns="27432" anchor="ctr">
            <a:spAutoFit/>
          </a:bodyPr>
          <a:lstStyle/>
          <a:p>
            <a:pPr algn="r" rtl="1">
              <a:spcAft>
                <a:spcPts val="600"/>
              </a:spcAft>
            </a:pPr>
            <a:r>
              <a:rPr lang="he-IL" sz="3400" b="1" i="0">
                <a:solidFill>
                  <a:srgbClr val="2B1E3F"/>
                </a:solidFill>
                <a:latin typeface="Arial"/>
                <a:cs typeface="Arial"/>
              </a:rPr>
              <a:t>התמונה המלאה</a:t>
            </a:r>
          </a:p>
        </p:txBody>
      </p:sp>
      <p:pic>
        <p:nvPicPr>
          <p:cNvPr id="3" name="Picture 2" descr="fit.png"/>
          <p:cNvPicPr>
            <a:picLocks noChangeAspect="1"/>
          </p:cNvPicPr>
          <p:nvPr/>
        </p:nvPicPr>
        <p:blipFill>
          <a:blip r:embed="rId3"/>
          <a:stretch>
            <a:fillRect/>
          </a:stretch>
        </p:blipFill>
        <p:spPr>
          <a:xfrm>
            <a:off x="548640" y="1463040"/>
            <a:ext cx="7498079" cy="4574789"/>
          </a:xfrm>
          <a:prstGeom prst="rect">
            <a:avLst/>
          </a:prstGeom>
        </p:spPr>
      </p:pic>
      <p:sp>
        <p:nvSpPr>
          <p:cNvPr id="4" name="TextBox 3"/>
          <p:cNvSpPr txBox="1"/>
          <p:nvPr/>
        </p:nvSpPr>
        <p:spPr>
          <a:xfrm>
            <a:off x="8321040" y="1554480"/>
            <a:ext cx="3319272" cy="4663440"/>
          </a:xfrm>
          <a:prstGeom prst="rect">
            <a:avLst/>
          </a:prstGeom>
          <a:noFill/>
        </p:spPr>
        <p:txBody>
          <a:bodyPr wrap="square" lIns="45720" tIns="27432" rIns="45720" bIns="27432" anchor="t">
            <a:spAutoFit/>
          </a:bodyPr>
          <a:lstStyle/>
          <a:p>
            <a:pPr marR="274320" indent="-274320" algn="r" rtl="1">
              <a:spcAft>
                <a:spcPts val="1400"/>
              </a:spcAft>
              <a:buClr>
                <a:srgbClr val="17A398"/>
              </a:buClr>
              <a:buFont typeface="Arial"/>
              <a:buChar char="•"/>
            </a:pPr>
            <a:r>
              <a:rPr lang="he-IL" sz="1600" b="0" i="0">
                <a:solidFill>
                  <a:srgbClr val="2B1E3F"/>
                </a:solidFill>
                <a:latin typeface="Arial"/>
                <a:cs typeface="Arial"/>
              </a:rPr>
              <a:t>נקודות: ממוצע קצב הסיבוב בכל יום משחק</a:t>
            </a:r>
          </a:p>
          <a:p>
            <a:pPr marR="274320" indent="-274320" algn="r" rtl="1">
              <a:spcAft>
                <a:spcPts val="1400"/>
              </a:spcAft>
              <a:buClr>
                <a:srgbClr val="17A398"/>
              </a:buClr>
              <a:buFont typeface="Arial"/>
              <a:buChar char="•"/>
            </a:pPr>
            <a:r>
              <a:rPr lang="he-IL" sz="1600" b="0" i="0">
                <a:solidFill>
                  <a:srgbClr val="2B1E3F"/>
                </a:solidFill>
                <a:latin typeface="Arial"/>
                <a:cs typeface="Arial"/>
              </a:rPr>
              <a:t>קו: הקצב הצפוי לפי הפוסטריור, ממוצע על כל הדגימות</a:t>
            </a:r>
          </a:p>
          <a:p>
            <a:pPr marR="274320" indent="-274320" algn="r" rtl="1">
              <a:spcAft>
                <a:spcPts val="1400"/>
              </a:spcAft>
              <a:buClr>
                <a:srgbClr val="17A398"/>
              </a:buClr>
              <a:buFont typeface="Arial"/>
              <a:buChar char="•"/>
            </a:pPr>
            <a:r>
              <a:rPr lang="he-IL" sz="1600" b="0" i="0">
                <a:solidFill>
                  <a:srgbClr val="2B1E3F"/>
                </a:solidFill>
                <a:latin typeface="Arial"/>
                <a:cs typeface="Arial"/>
              </a:rPr>
              <a:t>רצועה: מרווח ה-HDI של </a:t>
            </a:r>
            <a:r>
              <a:rPr lang="en-US" sz="1600" b="0" i="0">
                <a:solidFill>
                  <a:srgbClr val="2B1E3F"/>
                </a:solidFill>
                <a:latin typeface="Cambria Math"/>
                <a:cs typeface="Cambria Math"/>
              </a:rPr>
              <a:t>τ</a:t>
            </a:r>
          </a:p>
          <a:p>
            <a:pPr algn="r" rtl="1">
              <a:spcAft>
                <a:spcPts val="1400"/>
              </a:spcAft>
            </a:pPr>
            <a:r>
              <a:rPr lang="he-IL" sz="1600" b="1" i="0">
                <a:solidFill>
                  <a:srgbClr val="7B5EA7"/>
                </a:solidFill>
                <a:latin typeface="Arial"/>
                <a:cs typeface="Arial"/>
              </a:rPr>
              <a:t>הרעש היומי גדול — ובדיוק בשביל זה צריך מודל הסתברותי</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4415" cy="822960"/>
          </a:xfrm>
          <a:prstGeom prst="rect">
            <a:avLst/>
          </a:prstGeom>
          <a:noFill/>
        </p:spPr>
        <p:txBody>
          <a:bodyPr wrap="square" lIns="45720" tIns="27432" rIns="45720" bIns="27432" anchor="ctr">
            <a:spAutoFit/>
          </a:bodyPr>
          <a:lstStyle/>
          <a:p>
            <a:pPr algn="r" rtl="1">
              <a:spcAft>
                <a:spcPts val="600"/>
              </a:spcAft>
            </a:pPr>
            <a:r>
              <a:rPr lang="he-IL" sz="3400" b="1" i="0">
                <a:solidFill>
                  <a:srgbClr val="2B1E3F"/>
                </a:solidFill>
                <a:latin typeface="Arial"/>
                <a:cs typeface="Arial"/>
              </a:rPr>
              <a:t>מה השתנה לעומת השיעור הקודם?</a:t>
            </a:r>
          </a:p>
        </p:txBody>
      </p:sp>
      <p:sp>
        <p:nvSpPr>
          <p:cNvPr id="3" name="Rectangle 2"/>
          <p:cNvSpPr/>
          <p:nvPr/>
        </p:nvSpPr>
        <p:spPr>
          <a:xfrm>
            <a:off x="8625535" y="1463040"/>
            <a:ext cx="3017520" cy="786384"/>
          </a:xfrm>
          <a:prstGeom prst="rect">
            <a:avLst/>
          </a:prstGeom>
          <a:solidFill>
            <a:srgbClr val="2B1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8808415" y="1463040"/>
            <a:ext cx="2651760" cy="786384"/>
          </a:xfrm>
          <a:prstGeom prst="rect">
            <a:avLst/>
          </a:prstGeom>
          <a:noFill/>
        </p:spPr>
        <p:txBody>
          <a:bodyPr wrap="square" lIns="45720" tIns="27432" rIns="45720" bIns="27432" anchor="ctr">
            <a:spAutoFit/>
          </a:bodyPr>
          <a:lstStyle/>
          <a:p>
            <a:pPr algn="r" rtl="1">
              <a:spcAft>
                <a:spcPts val="600"/>
              </a:spcAft>
            </a:pPr>
            <a:endParaRPr/>
          </a:p>
        </p:txBody>
      </p:sp>
      <p:sp>
        <p:nvSpPr>
          <p:cNvPr id="5" name="Rectangle 4"/>
          <p:cNvSpPr/>
          <p:nvPr/>
        </p:nvSpPr>
        <p:spPr>
          <a:xfrm>
            <a:off x="4602175" y="1463040"/>
            <a:ext cx="4023360" cy="786384"/>
          </a:xfrm>
          <a:prstGeom prst="rect">
            <a:avLst/>
          </a:prstGeom>
          <a:solidFill>
            <a:srgbClr val="2B1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4785055" y="1463040"/>
            <a:ext cx="3657600" cy="786384"/>
          </a:xfrm>
          <a:prstGeom prst="rect">
            <a:avLst/>
          </a:prstGeom>
          <a:noFill/>
        </p:spPr>
        <p:txBody>
          <a:bodyPr wrap="square" lIns="45720" tIns="27432" rIns="45720" bIns="27432" anchor="ctr">
            <a:spAutoFit/>
          </a:bodyPr>
          <a:lstStyle/>
          <a:p>
            <a:pPr algn="r" rtl="1">
              <a:spcAft>
                <a:spcPts val="600"/>
              </a:spcAft>
            </a:pPr>
            <a:r>
              <a:rPr lang="he-IL" sz="1600" b="1" i="0">
                <a:solidFill>
                  <a:srgbClr val="FFFFFF"/>
                </a:solidFill>
                <a:latin typeface="Arial"/>
                <a:cs typeface="Arial"/>
              </a:rPr>
              <a:t>הודעות טקסט (שיעור 2)</a:t>
            </a:r>
          </a:p>
        </p:txBody>
      </p:sp>
      <p:sp>
        <p:nvSpPr>
          <p:cNvPr id="7" name="Rectangle 6"/>
          <p:cNvSpPr/>
          <p:nvPr/>
        </p:nvSpPr>
        <p:spPr>
          <a:xfrm>
            <a:off x="551383" y="1463040"/>
            <a:ext cx="4050791" cy="786384"/>
          </a:xfrm>
          <a:prstGeom prst="rect">
            <a:avLst/>
          </a:prstGeom>
          <a:solidFill>
            <a:srgbClr val="2B1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34263" y="1463040"/>
            <a:ext cx="3685031" cy="786384"/>
          </a:xfrm>
          <a:prstGeom prst="rect">
            <a:avLst/>
          </a:prstGeom>
          <a:noFill/>
        </p:spPr>
        <p:txBody>
          <a:bodyPr wrap="square" lIns="45720" tIns="27432" rIns="45720" bIns="27432" anchor="ctr">
            <a:spAutoFit/>
          </a:bodyPr>
          <a:lstStyle/>
          <a:p>
            <a:pPr algn="r" rtl="1">
              <a:spcAft>
                <a:spcPts val="600"/>
              </a:spcAft>
            </a:pPr>
            <a:r>
              <a:rPr lang="he-IL" sz="1600" b="1" i="0">
                <a:solidFill>
                  <a:srgbClr val="FFFFFF"/>
                </a:solidFill>
                <a:latin typeface="Arial"/>
                <a:cs typeface="Arial"/>
              </a:rPr>
              <a:t>קצב סיבוב (שיעור 3)</a:t>
            </a:r>
          </a:p>
        </p:txBody>
      </p:sp>
      <p:sp>
        <p:nvSpPr>
          <p:cNvPr id="9" name="Rectangle 8"/>
          <p:cNvSpPr/>
          <p:nvPr/>
        </p:nvSpPr>
        <p:spPr>
          <a:xfrm>
            <a:off x="8625535" y="2249424"/>
            <a:ext cx="3017520" cy="786384"/>
          </a:xfrm>
          <a:prstGeom prst="rect">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808415" y="2249424"/>
            <a:ext cx="2651760" cy="786384"/>
          </a:xfrm>
          <a:prstGeom prst="rect">
            <a:avLst/>
          </a:prstGeom>
          <a:noFill/>
        </p:spPr>
        <p:txBody>
          <a:bodyPr wrap="square" lIns="45720" tIns="27432" rIns="45720" bIns="27432" anchor="ctr">
            <a:spAutoFit/>
          </a:bodyPr>
          <a:lstStyle/>
          <a:p>
            <a:pPr algn="r" rtl="1">
              <a:spcAft>
                <a:spcPts val="600"/>
              </a:spcAft>
            </a:pPr>
            <a:r>
              <a:rPr lang="he-IL" sz="1600" b="1" i="0">
                <a:solidFill>
                  <a:srgbClr val="2B1E3F"/>
                </a:solidFill>
                <a:latin typeface="Arial"/>
                <a:cs typeface="Arial"/>
              </a:rPr>
              <a:t>נתונים</a:t>
            </a:r>
          </a:p>
        </p:txBody>
      </p:sp>
      <p:sp>
        <p:nvSpPr>
          <p:cNvPr id="11" name="Rectangle 10"/>
          <p:cNvSpPr/>
          <p:nvPr/>
        </p:nvSpPr>
        <p:spPr>
          <a:xfrm>
            <a:off x="4602175" y="2249424"/>
            <a:ext cx="4023360" cy="786384"/>
          </a:xfrm>
          <a:prstGeom prst="rect">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785055" y="2249424"/>
            <a:ext cx="3657600" cy="786384"/>
          </a:xfrm>
          <a:prstGeom prst="rect">
            <a:avLst/>
          </a:prstGeom>
          <a:noFill/>
        </p:spPr>
        <p:txBody>
          <a:bodyPr wrap="square" lIns="45720" tIns="27432" rIns="45720" bIns="27432" anchor="ctr">
            <a:spAutoFit/>
          </a:bodyPr>
          <a:lstStyle/>
          <a:p>
            <a:pPr algn="r" rtl="1">
              <a:spcAft>
                <a:spcPts val="600"/>
              </a:spcAft>
            </a:pPr>
            <a:r>
              <a:rPr lang="he-IL" sz="1600" b="0" i="0">
                <a:solidFill>
                  <a:srgbClr val="7B5EA7"/>
                </a:solidFill>
                <a:latin typeface="Arial"/>
                <a:cs typeface="Arial"/>
              </a:rPr>
              <a:t>ספירות יומיות</a:t>
            </a:r>
          </a:p>
        </p:txBody>
      </p:sp>
      <p:sp>
        <p:nvSpPr>
          <p:cNvPr id="13" name="Rectangle 12"/>
          <p:cNvSpPr/>
          <p:nvPr/>
        </p:nvSpPr>
        <p:spPr>
          <a:xfrm>
            <a:off x="551383" y="2249424"/>
            <a:ext cx="4050791" cy="786384"/>
          </a:xfrm>
          <a:prstGeom prst="rect">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34263" y="2249424"/>
            <a:ext cx="3685031" cy="786384"/>
          </a:xfrm>
          <a:prstGeom prst="rect">
            <a:avLst/>
          </a:prstGeom>
          <a:noFill/>
        </p:spPr>
        <p:txBody>
          <a:bodyPr wrap="square" lIns="45720" tIns="27432" rIns="45720" bIns="27432" anchor="ctr">
            <a:spAutoFit/>
          </a:bodyPr>
          <a:lstStyle/>
          <a:p>
            <a:pPr algn="r" rtl="1">
              <a:spcAft>
                <a:spcPts val="600"/>
              </a:spcAft>
            </a:pPr>
            <a:r>
              <a:rPr lang="he-IL" sz="1600" b="0" i="0">
                <a:solidFill>
                  <a:srgbClr val="E4572E"/>
                </a:solidFill>
                <a:latin typeface="Arial"/>
                <a:cs typeface="Arial"/>
              </a:rPr>
              <a:t>מדידות רציפות (rpm)</a:t>
            </a:r>
          </a:p>
        </p:txBody>
      </p:sp>
      <p:sp>
        <p:nvSpPr>
          <p:cNvPr id="15" name="Rectangle 14"/>
          <p:cNvSpPr/>
          <p:nvPr/>
        </p:nvSpPr>
        <p:spPr>
          <a:xfrm>
            <a:off x="8625535" y="3035808"/>
            <a:ext cx="301752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808415" y="3035808"/>
            <a:ext cx="2651760" cy="786384"/>
          </a:xfrm>
          <a:prstGeom prst="rect">
            <a:avLst/>
          </a:prstGeom>
          <a:noFill/>
        </p:spPr>
        <p:txBody>
          <a:bodyPr wrap="square" lIns="45720" tIns="27432" rIns="45720" bIns="27432" anchor="ctr">
            <a:spAutoFit/>
          </a:bodyPr>
          <a:lstStyle/>
          <a:p>
            <a:pPr algn="r" rtl="1">
              <a:spcAft>
                <a:spcPts val="600"/>
              </a:spcAft>
            </a:pPr>
            <a:r>
              <a:rPr lang="he-IL" sz="1600" b="1" i="0">
                <a:solidFill>
                  <a:srgbClr val="2B1E3F"/>
                </a:solidFill>
                <a:latin typeface="Arial"/>
                <a:cs typeface="Arial"/>
              </a:rPr>
              <a:t>נראות</a:t>
            </a:r>
          </a:p>
        </p:txBody>
      </p:sp>
      <p:sp>
        <p:nvSpPr>
          <p:cNvPr id="17" name="Rectangle 16"/>
          <p:cNvSpPr/>
          <p:nvPr/>
        </p:nvSpPr>
        <p:spPr>
          <a:xfrm>
            <a:off x="4602175" y="3035808"/>
            <a:ext cx="402336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785055" y="3035808"/>
            <a:ext cx="3657600" cy="786384"/>
          </a:xfrm>
          <a:prstGeom prst="rect">
            <a:avLst/>
          </a:prstGeom>
          <a:noFill/>
        </p:spPr>
        <p:txBody>
          <a:bodyPr wrap="square" lIns="45720" tIns="27432" rIns="45720" bIns="27432" anchor="ctr">
            <a:spAutoFit/>
          </a:bodyPr>
          <a:lstStyle/>
          <a:p>
            <a:pPr algn="r" rtl="0">
              <a:spcAft>
                <a:spcPts val="600"/>
              </a:spcAft>
            </a:pPr>
            <a:r>
              <a:rPr lang="en-US" sz="1600" b="0" i="0">
                <a:solidFill>
                  <a:srgbClr val="7B5EA7"/>
                </a:solidFill>
                <a:latin typeface="Arial"/>
                <a:cs typeface="Arial"/>
              </a:rPr>
              <a:t>Poisson(λ)</a:t>
            </a:r>
          </a:p>
        </p:txBody>
      </p:sp>
      <p:sp>
        <p:nvSpPr>
          <p:cNvPr id="19" name="Rectangle 18"/>
          <p:cNvSpPr/>
          <p:nvPr/>
        </p:nvSpPr>
        <p:spPr>
          <a:xfrm>
            <a:off x="551383" y="3035808"/>
            <a:ext cx="4050791"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34263" y="3035808"/>
            <a:ext cx="3685031" cy="786384"/>
          </a:xfrm>
          <a:prstGeom prst="rect">
            <a:avLst/>
          </a:prstGeom>
          <a:noFill/>
        </p:spPr>
        <p:txBody>
          <a:bodyPr wrap="square" lIns="45720" tIns="27432" rIns="45720" bIns="27432" anchor="ctr">
            <a:spAutoFit/>
          </a:bodyPr>
          <a:lstStyle/>
          <a:p>
            <a:pPr algn="r" rtl="0">
              <a:spcAft>
                <a:spcPts val="600"/>
              </a:spcAft>
            </a:pPr>
            <a:r>
              <a:rPr lang="en-US" sz="1600" b="0" i="0">
                <a:solidFill>
                  <a:srgbClr val="E4572E"/>
                </a:solidFill>
                <a:latin typeface="Arial"/>
                <a:cs typeface="Arial"/>
              </a:rPr>
              <a:t>Normal(μ, σ)</a:t>
            </a:r>
          </a:p>
        </p:txBody>
      </p:sp>
      <p:sp>
        <p:nvSpPr>
          <p:cNvPr id="21" name="Rectangle 20"/>
          <p:cNvSpPr/>
          <p:nvPr/>
        </p:nvSpPr>
        <p:spPr>
          <a:xfrm>
            <a:off x="8625535" y="3822191"/>
            <a:ext cx="3017520" cy="786384"/>
          </a:xfrm>
          <a:prstGeom prst="rect">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8808415" y="3822191"/>
            <a:ext cx="2651760" cy="786384"/>
          </a:xfrm>
          <a:prstGeom prst="rect">
            <a:avLst/>
          </a:prstGeom>
          <a:noFill/>
        </p:spPr>
        <p:txBody>
          <a:bodyPr wrap="square" lIns="45720" tIns="27432" rIns="45720" bIns="27432" anchor="ctr">
            <a:spAutoFit/>
          </a:bodyPr>
          <a:lstStyle/>
          <a:p>
            <a:pPr algn="r" rtl="1">
              <a:spcAft>
                <a:spcPts val="600"/>
              </a:spcAft>
            </a:pPr>
            <a:r>
              <a:rPr lang="he-IL" sz="1600" b="1" i="0">
                <a:solidFill>
                  <a:srgbClr val="2B1E3F"/>
                </a:solidFill>
                <a:latin typeface="Arial"/>
                <a:cs typeface="Arial"/>
              </a:rPr>
              <a:t>נקודת השינוי </a:t>
            </a:r>
            <a:r>
              <a:rPr lang="en-US" sz="1600" b="1" i="0">
                <a:solidFill>
                  <a:srgbClr val="2B1E3F"/>
                </a:solidFill>
                <a:latin typeface="Cambria Math"/>
                <a:cs typeface="Cambria Math"/>
              </a:rPr>
              <a:t>τ</a:t>
            </a:r>
          </a:p>
        </p:txBody>
      </p:sp>
      <p:sp>
        <p:nvSpPr>
          <p:cNvPr id="23" name="Rectangle 22"/>
          <p:cNvSpPr/>
          <p:nvPr/>
        </p:nvSpPr>
        <p:spPr>
          <a:xfrm>
            <a:off x="4602175" y="3822191"/>
            <a:ext cx="4023360" cy="786384"/>
          </a:xfrm>
          <a:prstGeom prst="rect">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4785055" y="3822191"/>
            <a:ext cx="3657600" cy="786384"/>
          </a:xfrm>
          <a:prstGeom prst="rect">
            <a:avLst/>
          </a:prstGeom>
          <a:noFill/>
        </p:spPr>
        <p:txBody>
          <a:bodyPr wrap="square" lIns="45720" tIns="27432" rIns="45720" bIns="27432" anchor="ctr">
            <a:spAutoFit/>
          </a:bodyPr>
          <a:lstStyle/>
          <a:p>
            <a:pPr algn="r" rtl="1">
              <a:spcAft>
                <a:spcPts val="600"/>
              </a:spcAft>
            </a:pPr>
            <a:r>
              <a:rPr lang="he-IL" sz="1600" b="0" i="0">
                <a:solidFill>
                  <a:srgbClr val="7B5EA7"/>
                </a:solidFill>
                <a:latin typeface="Arial"/>
                <a:cs typeface="Arial"/>
              </a:rPr>
              <a:t>DiscreteUniform — בדיד</a:t>
            </a:r>
          </a:p>
        </p:txBody>
      </p:sp>
      <p:sp>
        <p:nvSpPr>
          <p:cNvPr id="25" name="Rectangle 24"/>
          <p:cNvSpPr/>
          <p:nvPr/>
        </p:nvSpPr>
        <p:spPr>
          <a:xfrm>
            <a:off x="551383" y="3822191"/>
            <a:ext cx="4050791" cy="786384"/>
          </a:xfrm>
          <a:prstGeom prst="rect">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734263" y="3822191"/>
            <a:ext cx="3685031" cy="786384"/>
          </a:xfrm>
          <a:prstGeom prst="rect">
            <a:avLst/>
          </a:prstGeom>
          <a:noFill/>
        </p:spPr>
        <p:txBody>
          <a:bodyPr wrap="square" lIns="45720" tIns="27432" rIns="45720" bIns="27432" anchor="ctr">
            <a:spAutoFit/>
          </a:bodyPr>
          <a:lstStyle/>
          <a:p>
            <a:pPr algn="r" rtl="1">
              <a:spcAft>
                <a:spcPts val="600"/>
              </a:spcAft>
            </a:pPr>
            <a:r>
              <a:rPr lang="he-IL" sz="1600" b="0" i="0">
                <a:solidFill>
                  <a:srgbClr val="E4572E"/>
                </a:solidFill>
                <a:latin typeface="Arial"/>
                <a:cs typeface="Arial"/>
              </a:rPr>
              <a:t>Uniform — רציף</a:t>
            </a:r>
          </a:p>
        </p:txBody>
      </p:sp>
      <p:sp>
        <p:nvSpPr>
          <p:cNvPr id="27" name="Rectangle 26"/>
          <p:cNvSpPr/>
          <p:nvPr/>
        </p:nvSpPr>
        <p:spPr>
          <a:xfrm>
            <a:off x="8625535" y="4608576"/>
            <a:ext cx="301752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8808415" y="4608576"/>
            <a:ext cx="2651760" cy="786384"/>
          </a:xfrm>
          <a:prstGeom prst="rect">
            <a:avLst/>
          </a:prstGeom>
          <a:noFill/>
        </p:spPr>
        <p:txBody>
          <a:bodyPr wrap="square" lIns="45720" tIns="27432" rIns="45720" bIns="27432" anchor="ctr">
            <a:spAutoFit/>
          </a:bodyPr>
          <a:lstStyle/>
          <a:p>
            <a:pPr algn="r" rtl="1">
              <a:spcAft>
                <a:spcPts val="600"/>
              </a:spcAft>
            </a:pPr>
            <a:r>
              <a:rPr lang="he-IL" sz="1600" b="1" i="0">
                <a:solidFill>
                  <a:srgbClr val="2B1E3F"/>
                </a:solidFill>
                <a:latin typeface="Arial"/>
                <a:cs typeface="Arial"/>
              </a:rPr>
              <a:t>דוגם</a:t>
            </a:r>
          </a:p>
        </p:txBody>
      </p:sp>
      <p:sp>
        <p:nvSpPr>
          <p:cNvPr id="29" name="Rectangle 28"/>
          <p:cNvSpPr/>
          <p:nvPr/>
        </p:nvSpPr>
        <p:spPr>
          <a:xfrm>
            <a:off x="4602175" y="4608576"/>
            <a:ext cx="402336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4785055" y="4608576"/>
            <a:ext cx="3657600" cy="786384"/>
          </a:xfrm>
          <a:prstGeom prst="rect">
            <a:avLst/>
          </a:prstGeom>
          <a:noFill/>
        </p:spPr>
        <p:txBody>
          <a:bodyPr wrap="square" lIns="45720" tIns="27432" rIns="45720" bIns="27432" anchor="ctr">
            <a:spAutoFit/>
          </a:bodyPr>
          <a:lstStyle/>
          <a:p>
            <a:pPr algn="r" rtl="0">
              <a:spcAft>
                <a:spcPts val="600"/>
              </a:spcAft>
            </a:pPr>
            <a:r>
              <a:rPr lang="en-US" sz="1600" b="0" i="0">
                <a:solidFill>
                  <a:srgbClr val="7B5EA7"/>
                </a:solidFill>
                <a:latin typeface="Arial"/>
                <a:cs typeface="Arial"/>
              </a:rPr>
              <a:t>Metropolis</a:t>
            </a:r>
          </a:p>
        </p:txBody>
      </p:sp>
      <p:sp>
        <p:nvSpPr>
          <p:cNvPr id="31" name="Rectangle 30"/>
          <p:cNvSpPr/>
          <p:nvPr/>
        </p:nvSpPr>
        <p:spPr>
          <a:xfrm>
            <a:off x="551383" y="4608576"/>
            <a:ext cx="4050791"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734263" y="4608576"/>
            <a:ext cx="3685031" cy="786384"/>
          </a:xfrm>
          <a:prstGeom prst="rect">
            <a:avLst/>
          </a:prstGeom>
          <a:noFill/>
        </p:spPr>
        <p:txBody>
          <a:bodyPr wrap="square" lIns="45720" tIns="27432" rIns="45720" bIns="27432" anchor="ctr">
            <a:spAutoFit/>
          </a:bodyPr>
          <a:lstStyle/>
          <a:p>
            <a:pPr algn="r" rtl="0">
              <a:spcAft>
                <a:spcPts val="600"/>
              </a:spcAft>
            </a:pPr>
            <a:r>
              <a:rPr lang="en-US" sz="1600" b="0" i="0">
                <a:solidFill>
                  <a:srgbClr val="E4572E"/>
                </a:solidFill>
                <a:latin typeface="Arial"/>
                <a:cs typeface="Arial"/>
              </a:rPr>
              <a:t>NUTS (ברירת המחדל)</a:t>
            </a:r>
          </a:p>
        </p:txBody>
      </p:sp>
      <p:sp>
        <p:nvSpPr>
          <p:cNvPr id="33" name="Rectangle 32"/>
          <p:cNvSpPr/>
          <p:nvPr/>
        </p:nvSpPr>
        <p:spPr>
          <a:xfrm>
            <a:off x="8625535" y="5394960"/>
            <a:ext cx="3017520" cy="786384"/>
          </a:xfrm>
          <a:prstGeom prst="rect">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8808415" y="5394960"/>
            <a:ext cx="2651760" cy="786384"/>
          </a:xfrm>
          <a:prstGeom prst="rect">
            <a:avLst/>
          </a:prstGeom>
          <a:noFill/>
        </p:spPr>
        <p:txBody>
          <a:bodyPr wrap="square" lIns="45720" tIns="27432" rIns="45720" bIns="27432" anchor="ctr">
            <a:spAutoFit/>
          </a:bodyPr>
          <a:lstStyle/>
          <a:p>
            <a:pPr algn="r" rtl="1">
              <a:spcAft>
                <a:spcPts val="600"/>
              </a:spcAft>
            </a:pPr>
            <a:r>
              <a:rPr lang="he-IL" sz="1600" b="1" i="0">
                <a:solidFill>
                  <a:srgbClr val="2B1E3F"/>
                </a:solidFill>
                <a:latin typeface="Arial"/>
                <a:cs typeface="Arial"/>
              </a:rPr>
              <a:t>כיוון השינוי</a:t>
            </a:r>
          </a:p>
        </p:txBody>
      </p:sp>
      <p:sp>
        <p:nvSpPr>
          <p:cNvPr id="35" name="Rectangle 34"/>
          <p:cNvSpPr/>
          <p:nvPr/>
        </p:nvSpPr>
        <p:spPr>
          <a:xfrm>
            <a:off x="4602175" y="5394960"/>
            <a:ext cx="4023360" cy="786384"/>
          </a:xfrm>
          <a:prstGeom prst="rect">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4785055" y="5394960"/>
            <a:ext cx="3657600" cy="786384"/>
          </a:xfrm>
          <a:prstGeom prst="rect">
            <a:avLst/>
          </a:prstGeom>
          <a:noFill/>
        </p:spPr>
        <p:txBody>
          <a:bodyPr wrap="square" lIns="45720" tIns="27432" rIns="45720" bIns="27432" anchor="ctr">
            <a:spAutoFit/>
          </a:bodyPr>
          <a:lstStyle/>
          <a:p>
            <a:pPr algn="r" rtl="1">
              <a:spcAft>
                <a:spcPts val="600"/>
              </a:spcAft>
            </a:pPr>
            <a:r>
              <a:rPr lang="he-IL" sz="1600" b="0" i="0">
                <a:solidFill>
                  <a:srgbClr val="7B5EA7"/>
                </a:solidFill>
                <a:latin typeface="Arial"/>
                <a:cs typeface="Arial"/>
              </a:rPr>
              <a:t>עלייה</a:t>
            </a:r>
          </a:p>
        </p:txBody>
      </p:sp>
      <p:sp>
        <p:nvSpPr>
          <p:cNvPr id="37" name="Rectangle 36"/>
          <p:cNvSpPr/>
          <p:nvPr/>
        </p:nvSpPr>
        <p:spPr>
          <a:xfrm>
            <a:off x="551383" y="5394960"/>
            <a:ext cx="4050791" cy="786384"/>
          </a:xfrm>
          <a:prstGeom prst="rect">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734263" y="5394960"/>
            <a:ext cx="3685031" cy="786384"/>
          </a:xfrm>
          <a:prstGeom prst="rect">
            <a:avLst/>
          </a:prstGeom>
          <a:noFill/>
        </p:spPr>
        <p:txBody>
          <a:bodyPr wrap="square" lIns="45720" tIns="27432" rIns="45720" bIns="27432" anchor="ctr">
            <a:spAutoFit/>
          </a:bodyPr>
          <a:lstStyle/>
          <a:p>
            <a:pPr algn="r" rtl="1">
              <a:spcAft>
                <a:spcPts val="600"/>
              </a:spcAft>
            </a:pPr>
            <a:r>
              <a:rPr lang="he-IL" sz="1600" b="0" i="0">
                <a:solidFill>
                  <a:srgbClr val="E4572E"/>
                </a:solidFill>
                <a:latin typeface="Arial"/>
                <a:cs typeface="Arial"/>
              </a:rPr>
              <a:t>ירידה</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B1E3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4415" cy="822960"/>
          </a:xfrm>
          <a:prstGeom prst="rect">
            <a:avLst/>
          </a:prstGeom>
          <a:noFill/>
        </p:spPr>
        <p:txBody>
          <a:bodyPr wrap="square" lIns="45720" tIns="27432" rIns="45720" bIns="27432" anchor="ctr">
            <a:spAutoFit/>
          </a:bodyPr>
          <a:lstStyle/>
          <a:p>
            <a:pPr algn="r" rtl="1">
              <a:spcAft>
                <a:spcPts val="600"/>
              </a:spcAft>
            </a:pPr>
            <a:r>
              <a:rPr lang="he-IL" sz="3400" b="1" i="0">
                <a:solidFill>
                  <a:srgbClr val="FFFFFF"/>
                </a:solidFill>
                <a:latin typeface="Arial"/>
                <a:cs typeface="Arial"/>
              </a:rPr>
              <a:t>סיכום</a:t>
            </a:r>
          </a:p>
        </p:txBody>
      </p:sp>
      <p:sp>
        <p:nvSpPr>
          <p:cNvPr id="3" name="badge 1"/>
          <p:cNvSpPr/>
          <p:nvPr/>
        </p:nvSpPr>
        <p:spPr>
          <a:xfrm>
            <a:off x="10835640" y="1600200"/>
            <a:ext cx="777240" cy="777240"/>
          </a:xfrm>
          <a:prstGeom prst="ellipse">
            <a:avLst/>
          </a:prstGeom>
          <a:solidFill>
            <a:srgbClr val="17A39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400" b="1">
                <a:solidFill>
                  <a:srgbClr val="FFFFFF"/>
                </a:solidFill>
                <a:latin typeface="Arial"/>
                <a:cs typeface="Arial"/>
              </a:rPr>
              <a:t>1</a:t>
            </a:r>
          </a:p>
        </p:txBody>
      </p:sp>
      <p:sp>
        <p:nvSpPr>
          <p:cNvPr id="4" name="TextBox 3"/>
          <p:cNvSpPr txBox="1"/>
          <p:nvPr/>
        </p:nvSpPr>
        <p:spPr>
          <a:xfrm>
            <a:off x="822960" y="1600200"/>
            <a:ext cx="9784080" cy="777240"/>
          </a:xfrm>
          <a:prstGeom prst="rect">
            <a:avLst/>
          </a:prstGeom>
          <a:noFill/>
        </p:spPr>
        <p:txBody>
          <a:bodyPr wrap="square" lIns="45720" tIns="27432" rIns="45720" bIns="27432" anchor="ctr">
            <a:spAutoFit/>
          </a:bodyPr>
          <a:lstStyle/>
          <a:p>
            <a:pPr algn="r" rtl="1">
              <a:spcAft>
                <a:spcPts val="600"/>
              </a:spcAft>
            </a:pPr>
            <a:r>
              <a:rPr lang="he-IL" sz="2100" b="0" i="0">
                <a:solidFill>
                  <a:srgbClr val="FFFFFF"/>
                </a:solidFill>
                <a:latin typeface="Arial"/>
                <a:cs typeface="Arial"/>
              </a:rPr>
              <a:t>מודל ב-PyMC: Priors, נראות, משתנה דטרמיניסטי ודגימה</a:t>
            </a:r>
          </a:p>
        </p:txBody>
      </p:sp>
      <p:sp>
        <p:nvSpPr>
          <p:cNvPr id="5" name="badge μ"/>
          <p:cNvSpPr/>
          <p:nvPr/>
        </p:nvSpPr>
        <p:spPr>
          <a:xfrm>
            <a:off x="10835640" y="2743200"/>
            <a:ext cx="777240" cy="777240"/>
          </a:xfrm>
          <a:prstGeom prst="ellipse">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400" b="1">
                <a:solidFill>
                  <a:srgbClr val="FFFFFF"/>
                </a:solidFill>
                <a:latin typeface="Arial"/>
                <a:cs typeface="Arial"/>
              </a:rPr>
              <a:t>μ</a:t>
            </a:r>
          </a:p>
        </p:txBody>
      </p:sp>
      <p:sp>
        <p:nvSpPr>
          <p:cNvPr id="6" name="TextBox 5"/>
          <p:cNvSpPr txBox="1"/>
          <p:nvPr/>
        </p:nvSpPr>
        <p:spPr>
          <a:xfrm>
            <a:off x="822960" y="2743200"/>
            <a:ext cx="9784080" cy="777240"/>
          </a:xfrm>
          <a:prstGeom prst="rect">
            <a:avLst/>
          </a:prstGeom>
          <a:noFill/>
        </p:spPr>
        <p:txBody>
          <a:bodyPr wrap="square" lIns="45720" tIns="27432" rIns="45720" bIns="27432" anchor="ctr">
            <a:spAutoFit/>
          </a:bodyPr>
          <a:lstStyle/>
          <a:p>
            <a:pPr algn="r" rtl="1">
              <a:spcAft>
                <a:spcPts val="600"/>
              </a:spcAft>
            </a:pPr>
            <a:r>
              <a:rPr lang="he-IL" sz="2100" b="0" i="0">
                <a:solidFill>
                  <a:srgbClr val="FFFFFF"/>
                </a:solidFill>
                <a:latin typeface="Arial"/>
                <a:cs typeface="Arial"/>
              </a:rPr>
              <a:t>משתנים סטוכסטיים מול דטרמיניסטיים — הסתברות כידע</a:t>
            </a:r>
          </a:p>
        </p:txBody>
      </p:sp>
      <p:sp>
        <p:nvSpPr>
          <p:cNvPr id="7" name="badge τ"/>
          <p:cNvSpPr/>
          <p:nvPr/>
        </p:nvSpPr>
        <p:spPr>
          <a:xfrm>
            <a:off x="10835640" y="3886200"/>
            <a:ext cx="777240" cy="7772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400" b="1">
                <a:solidFill>
                  <a:srgbClr val="FFFFFF"/>
                </a:solidFill>
                <a:latin typeface="Cambria Math"/>
                <a:cs typeface="Cambria Math"/>
              </a:rPr>
              <a:t>τ</a:t>
            </a:r>
          </a:p>
        </p:txBody>
      </p:sp>
      <p:sp>
        <p:nvSpPr>
          <p:cNvPr id="8" name="TextBox 7"/>
          <p:cNvSpPr txBox="1"/>
          <p:nvPr/>
        </p:nvSpPr>
        <p:spPr>
          <a:xfrm>
            <a:off x="822960" y="3886200"/>
            <a:ext cx="9784080" cy="777240"/>
          </a:xfrm>
          <a:prstGeom prst="rect">
            <a:avLst/>
          </a:prstGeom>
          <a:noFill/>
        </p:spPr>
        <p:txBody>
          <a:bodyPr wrap="square" lIns="45720" tIns="27432" rIns="45720" bIns="27432" anchor="ctr">
            <a:spAutoFit/>
          </a:bodyPr>
          <a:lstStyle/>
          <a:p>
            <a:pPr algn="r" rtl="1">
              <a:spcAft>
                <a:spcPts val="600"/>
              </a:spcAft>
            </a:pPr>
            <a:r>
              <a:rPr lang="he-IL" sz="2100" b="0" i="0">
                <a:solidFill>
                  <a:srgbClr val="FFFFFF"/>
                </a:solidFill>
                <a:latin typeface="Arial"/>
                <a:cs typeface="Arial"/>
              </a:rPr>
              <a:t>נקודת השינוי נמצאה סביב 8 ביוני 2021 — מועד השינוי בכללים</a:t>
            </a:r>
          </a:p>
        </p:txBody>
      </p:sp>
      <p:sp>
        <p:nvSpPr>
          <p:cNvPr id="9" name="badge ↓"/>
          <p:cNvSpPr/>
          <p:nvPr/>
        </p:nvSpPr>
        <p:spPr>
          <a:xfrm>
            <a:off x="10835640" y="5029200"/>
            <a:ext cx="777240" cy="777240"/>
          </a:xfrm>
          <a:prstGeom prst="ellipse">
            <a:avLst/>
          </a:prstGeom>
          <a:solidFill>
            <a:srgbClr val="CFC6D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400" b="1">
                <a:solidFill>
                  <a:srgbClr val="FFFFFF"/>
                </a:solidFill>
                <a:latin typeface="Arial"/>
                <a:cs typeface="Arial"/>
              </a:rPr>
              <a:t>↓</a:t>
            </a:r>
          </a:p>
        </p:txBody>
      </p:sp>
      <p:sp>
        <p:nvSpPr>
          <p:cNvPr id="10" name="TextBox 9"/>
          <p:cNvSpPr txBox="1"/>
          <p:nvPr/>
        </p:nvSpPr>
        <p:spPr>
          <a:xfrm>
            <a:off x="822960" y="5029200"/>
            <a:ext cx="9784080" cy="777240"/>
          </a:xfrm>
          <a:prstGeom prst="rect">
            <a:avLst/>
          </a:prstGeom>
          <a:noFill/>
        </p:spPr>
        <p:txBody>
          <a:bodyPr wrap="square" lIns="45720" tIns="27432" rIns="45720" bIns="27432" anchor="ctr">
            <a:spAutoFit/>
          </a:bodyPr>
          <a:lstStyle/>
          <a:p>
            <a:pPr algn="r" rtl="1">
              <a:spcAft>
                <a:spcPts val="600"/>
              </a:spcAft>
            </a:pPr>
            <a:r>
              <a:rPr lang="he-IL" sz="2100" b="0" i="0">
                <a:solidFill>
                  <a:srgbClr val="FFFFFF"/>
                </a:solidFill>
                <a:latin typeface="Arial"/>
                <a:cs typeface="Arial"/>
              </a:rPr>
              <a:t>קצב הסיבוב ירד בכ-97 סל”ד אחרי האכיפה</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651</TotalTime>
  <Words>2608</Words>
  <Application>Microsoft Office PowerPoint</Application>
  <PresentationFormat>Widescreen</PresentationFormat>
  <Paragraphs>287</Paragraphs>
  <Slides>21</Slides>
  <Notes>20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 Math</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אלירן שרצר/Eliran Sherzer</cp:lastModifiedBy>
  <cp:revision>5</cp:revision>
  <dcterms:created xsi:type="dcterms:W3CDTF">2013-01-27T09:14:16Z</dcterms:created>
  <dcterms:modified xsi:type="dcterms:W3CDTF">2026-10-21T15:57:07Z</dcterms:modified>
  <cp:category/>
</cp:coreProperties>
</file>