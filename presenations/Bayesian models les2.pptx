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הודעות ביום</c:v>
                </c:pt>
              </c:strCache>
            </c:strRef>
          </c:tx>
          <c:spPr>
            <a:solidFill>
              <a:srgbClr val="7B5EA7"/>
            </a:solidFill>
          </c:spPr>
          <c:cat>
            <c:strRef>
              <c:f>Sheet1!$A$2:$A$75</c:f>
              <c:strCache>
                <c:ptCount val="7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</c:strCache>
            </c:strRef>
          </c:cat>
          <c:val>
            <c:numRef>
              <c:f>Sheet1!$B$2:$B$75</c:f>
              <c:numCache>
                <c:formatCode>General</c:formatCode>
                <c:ptCount val="74"/>
                <c:pt idx="0">
                  <c:v>13</c:v>
                </c:pt>
                <c:pt idx="1">
                  <c:v>24</c:v>
                </c:pt>
                <c:pt idx="2">
                  <c:v>8</c:v>
                </c:pt>
                <c:pt idx="3">
                  <c:v>24</c:v>
                </c:pt>
                <c:pt idx="4">
                  <c:v>7</c:v>
                </c:pt>
                <c:pt idx="5">
                  <c:v>35</c:v>
                </c:pt>
                <c:pt idx="6">
                  <c:v>14</c:v>
                </c:pt>
                <c:pt idx="7">
                  <c:v>11</c:v>
                </c:pt>
                <c:pt idx="8">
                  <c:v>15</c:v>
                </c:pt>
                <c:pt idx="9">
                  <c:v>11</c:v>
                </c:pt>
                <c:pt idx="10">
                  <c:v>22</c:v>
                </c:pt>
                <c:pt idx="11">
                  <c:v>22</c:v>
                </c:pt>
                <c:pt idx="12">
                  <c:v>11</c:v>
                </c:pt>
                <c:pt idx="13">
                  <c:v>57</c:v>
                </c:pt>
                <c:pt idx="14">
                  <c:v>11</c:v>
                </c:pt>
                <c:pt idx="15">
                  <c:v>19</c:v>
                </c:pt>
                <c:pt idx="16">
                  <c:v>29</c:v>
                </c:pt>
                <c:pt idx="17">
                  <c:v>6</c:v>
                </c:pt>
                <c:pt idx="18">
                  <c:v>19</c:v>
                </c:pt>
                <c:pt idx="19">
                  <c:v>12</c:v>
                </c:pt>
                <c:pt idx="20">
                  <c:v>22</c:v>
                </c:pt>
                <c:pt idx="21">
                  <c:v>12</c:v>
                </c:pt>
                <c:pt idx="22">
                  <c:v>18</c:v>
                </c:pt>
                <c:pt idx="23">
                  <c:v>72</c:v>
                </c:pt>
                <c:pt idx="24">
                  <c:v>32</c:v>
                </c:pt>
                <c:pt idx="25">
                  <c:v>9</c:v>
                </c:pt>
                <c:pt idx="26">
                  <c:v>7</c:v>
                </c:pt>
                <c:pt idx="27">
                  <c:v>13</c:v>
                </c:pt>
                <c:pt idx="28">
                  <c:v>19</c:v>
                </c:pt>
                <c:pt idx="29">
                  <c:v>23</c:v>
                </c:pt>
                <c:pt idx="30">
                  <c:v>27</c:v>
                </c:pt>
                <c:pt idx="31">
                  <c:v>20</c:v>
                </c:pt>
                <c:pt idx="32">
                  <c:v>6</c:v>
                </c:pt>
                <c:pt idx="33">
                  <c:v>17</c:v>
                </c:pt>
                <c:pt idx="34">
                  <c:v>13</c:v>
                </c:pt>
                <c:pt idx="35">
                  <c:v>10</c:v>
                </c:pt>
                <c:pt idx="36">
                  <c:v>14</c:v>
                </c:pt>
                <c:pt idx="37">
                  <c:v>6</c:v>
                </c:pt>
                <c:pt idx="38">
                  <c:v>16</c:v>
                </c:pt>
                <c:pt idx="39">
                  <c:v>15</c:v>
                </c:pt>
                <c:pt idx="40">
                  <c:v>7</c:v>
                </c:pt>
                <c:pt idx="41">
                  <c:v>2</c:v>
                </c:pt>
                <c:pt idx="42">
                  <c:v>15</c:v>
                </c:pt>
                <c:pt idx="43">
                  <c:v>15</c:v>
                </c:pt>
                <c:pt idx="44">
                  <c:v>19</c:v>
                </c:pt>
                <c:pt idx="45">
                  <c:v>70</c:v>
                </c:pt>
                <c:pt idx="46">
                  <c:v>49</c:v>
                </c:pt>
                <c:pt idx="47">
                  <c:v>7</c:v>
                </c:pt>
                <c:pt idx="48">
                  <c:v>53</c:v>
                </c:pt>
                <c:pt idx="49">
                  <c:v>22</c:v>
                </c:pt>
                <c:pt idx="50">
                  <c:v>21</c:v>
                </c:pt>
                <c:pt idx="51">
                  <c:v>31</c:v>
                </c:pt>
                <c:pt idx="52">
                  <c:v>19</c:v>
                </c:pt>
                <c:pt idx="53">
                  <c:v>11</c:v>
                </c:pt>
                <c:pt idx="54">
                  <c:v>18</c:v>
                </c:pt>
                <c:pt idx="55">
                  <c:v>20</c:v>
                </c:pt>
                <c:pt idx="56">
                  <c:v>12</c:v>
                </c:pt>
                <c:pt idx="57">
                  <c:v>35</c:v>
                </c:pt>
                <c:pt idx="58">
                  <c:v>17</c:v>
                </c:pt>
                <c:pt idx="59">
                  <c:v>23</c:v>
                </c:pt>
                <c:pt idx="60">
                  <c:v>17</c:v>
                </c:pt>
                <c:pt idx="61">
                  <c:v>4</c:v>
                </c:pt>
                <c:pt idx="62">
                  <c:v>2</c:v>
                </c:pt>
                <c:pt idx="63">
                  <c:v>31</c:v>
                </c:pt>
                <c:pt idx="64">
                  <c:v>30</c:v>
                </c:pt>
                <c:pt idx="65">
                  <c:v>13</c:v>
                </c:pt>
                <c:pt idx="66">
                  <c:v>27</c:v>
                </c:pt>
                <c:pt idx="67">
                  <c:v>0</c:v>
                </c:pt>
                <c:pt idx="68">
                  <c:v>39</c:v>
                </c:pt>
                <c:pt idx="69">
                  <c:v>37</c:v>
                </c:pt>
                <c:pt idx="70">
                  <c:v>5</c:v>
                </c:pt>
                <c:pt idx="71">
                  <c:v>14</c:v>
                </c:pt>
                <c:pt idx="72">
                  <c:v>13</c:v>
                </c:pt>
                <c:pt idx="73">
                  <c:v>22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6B6478"/>
                    </a:solidFill>
                  </a:rPr>
                  <a:t>יום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FC6DE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0"/>
        <c:tickMarkSkip val="10"/>
      </c:catAx>
      <c:valAx>
        <c:axId val="-2113994440"/>
        <c:scaling/>
        <c:delete val="0"/>
        <c:axPos val="l"/>
        <c:majorGridlines>
          <c:spPr>
            <a:ln>
              <a:solidFill>
                <a:srgbClr val="E6E2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6478"/>
                    </a:solidFill>
                  </a:rPr>
                  <a:t>מספר הודעות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647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P(τ)</c:v>
                </c:pt>
              </c:strCache>
            </c:strRef>
          </c:tx>
          <c:spPr>
            <a:solidFill>
              <a:srgbClr val="CFC6DE"/>
            </a:solidFill>
          </c:spPr>
          <c:dPt>
            <c:idx val="4"/>
            <c:spPr>
              <a:solidFill>
                <a:srgbClr val="7B5EA7"/>
              </a:solidFill>
            </c:spPr>
          </c:dPt>
          <c:dPt>
            <c:idx val="5"/>
            <c:spPr>
              <a:solidFill>
                <a:srgbClr val="7B5EA7"/>
              </a:solidFill>
            </c:spPr>
          </c:dPt>
          <c:dPt>
            <c:idx val="6"/>
            <c:spPr>
              <a:solidFill>
                <a:srgbClr val="7B5EA7"/>
              </a:solidFill>
            </c:spPr>
          </c:dPt>
          <c:cat>
            <c:strRef>
              <c:f>Sheet1!$A$2:$A$12</c:f>
              <c:strCache>
                <c:ptCount val="11"/>
                <c:pt idx="0">
                  <c:v>39</c:v>
                </c:pt>
                <c:pt idx="1">
                  <c:v>40</c:v>
                </c:pt>
                <c:pt idx="2">
                  <c:v>41</c:v>
                </c:pt>
                <c:pt idx="3">
                  <c:v>42</c:v>
                </c:pt>
                <c:pt idx="4">
                  <c:v>43</c:v>
                </c:pt>
                <c:pt idx="5">
                  <c:v>44</c:v>
                </c:pt>
                <c:pt idx="6">
                  <c:v>45</c:v>
                </c:pt>
                <c:pt idx="7">
                  <c:v>46</c:v>
                </c:pt>
                <c:pt idx="8">
                  <c:v>47</c:v>
                </c:pt>
                <c:pt idx="9">
                  <c:v>48</c:v>
                </c:pt>
                <c:pt idx="10">
                  <c:v>49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0.0</c:v>
                </c:pt>
                <c:pt idx="2">
                  <c:v>0.001</c:v>
                </c:pt>
                <c:pt idx="3">
                  <c:v>0.0309</c:v>
                </c:pt>
                <c:pt idx="4">
                  <c:v>0.1166</c:v>
                </c:pt>
                <c:pt idx="5">
                  <c:v>0.3676</c:v>
                </c:pt>
                <c:pt idx="6">
                  <c:v>0.4835</c:v>
                </c:pt>
                <c:pt idx="7">
                  <c:v>0.0004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</c:numCache>
            </c:numRef>
          </c:val>
        </c:ser>
        <c:dLbls>
          <c:numFmt formatCode="[&lt;0.005]&quot;&quot;;0%" sourceLinked="0"/>
          <c:txPr>
            <a:bodyPr/>
            <a:lstStyle/>
            <a:p>
              <a:pPr>
                <a:defRPr sz="1200" b="1">
                  <a:solidFill>
                    <a:srgbClr val="2B1E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6B6478"/>
                    </a:solidFill>
                  </a:rPr>
                  <a:t>יום (τ)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FC6D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>
              <a:solidFill>
                <a:srgbClr val="E6E2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647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שיעור 2: מודל נקודת שינוי (switchpoint). נחזור על התפלגויות פואסון ומעריכית, ונבנה את המודל הבייסיאני הראשון שלנו ב-PyMC שבו הפוסטריור אינו ידוע בצורה סגורה.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מבנה השיעור: נתחיל בתזכורת על התפלגויות, נשאל מהו הפרמטר λ ואיך מסיקים אותו, נבנה מודל נקודת שינוי, ונפרש את התוצאות.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משתנה מקרי Z מקבל התפלגות הסתברות שמשייכת הסתברויות לתוצאות האפשריות. בדיד: ערכים מתוך רשימה. רציף: ערכים מדויקים כרצוננו. מעורב: שילוב של השניים.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λ נקרא פרמטר של ההתפלגות והוא קובע את צורתה. ככל ש-λ גדל, יותר הסתברות עוברת לערכים גבוהים. k חייב להיות שלם אי-שלילי - אין משמעות לאוכלוסייה בגודל 4.25. תכונה חשובה: התוחלת שווה ל-λ.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במקום פונקציית הסתברות יש פונקציית צפיפות. כמו פואסון, ערכים אי-שליליים בלבד, אך כאן כל ערך ממשי (למשל 4.25 או 5.612401). לכן לא מתאימה לספירות, אבל מצוינת לזמן, לטמפרטורה בקלווין ולכל גודל חיובי ומדויק. התוחלת היא 1/λ.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זו השאלה שמניעה את הסטטיסטיקה. אנחנו רואים רק את Z וצריכים ללכת אחורה כדי להסיק את λ. אין התאמה חד-חד-ערכית, ואף אחד לא יכול לומר בוודאות איזו שיטה הכי טובה. בגישה הבייסיאנית: λ אולי קבוע, אבל מותר לנו להחזיק אמונות לגביו ולתאר אותן כהתפלגות.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נתונים אמיתיים: ספירה יומית של הודעות טקסט של משתמש לאורך 74 ימים. השאלה: האם הרגלי ההודעות השתנו לאורך הזמן, בהדרגה או בבת אחת? לפני שממשיכים, בקשו מהסטודנטים להעריך מהגרף אם היה שינוי ומתי.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פואסון מתאים לנתוני ספירה, ולכן C_i ~ Poisson(λ). נראה שהקצב עולה בשלב מאוחר, כלומר λ קופץ לערך גבוה יותר ביום מסוים τ. יש לנו שני פרמטרים: λ1 לפני τ ו-λ2 מ-τ והלאה. אם בפועל לא היה שינוי, הפוסטריורים של שני ה-λ ייראו דומים.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λ יכול להיות כל מספר חיובי, ולכן התפלגות מעריכית מתאימה. לה יש פרמטר משלה, α, שנקרא היפר-פרמטר. כלל אצבע: α שווה להופכי של ממוצע הנתונים, בזכות זהות התוחלת E[λ|α]=1/α. הבחירה ב-α לא משפיעה חזק על המודל. ל-τ: אין לנו מידע מוקדם, ולכן כל יום שווה הסתברות. אפשר לנסות גם שני priors שונים לכל 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זה הגרף ש-pm.model_to_graphviz(model) מצייר. α הוא קבוע. λ1, λ2 ו-τ הם משתנים סטוכסטיים - PyMC מתייחס אליהם כמחוללי מספרים מקריים. λ(t) נקבע באופן דטרמיניסטי מהם. C_i הוא המשתנה הנצפה, והוא מחבר את הנתונים למודל.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יוצרים את המשתנים של PyMC בתוך הקשר with pm.Model(). pm.math.switch מחזירה את lambda_1 לפני tau ואת lambda_2 אחריו. הפרמטר observed מחבר את הנתונים count_data למנגנון יצירת הנתונים המוצע. במחברת יש גם גרסה מקוצרת עם shape=2.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lambda_ הוא פונקציה, אבל אפשר לחשוב עליו כמשתנה מקרי: מאחר ש-lambda_1, lambda_2 ו-tau מקריים, גם lambda_ מקרי. אנחנו לא מקבעים עדיין שום משתנה. ההבדל בין האפשרויות הוא רק האם הערכים של lambda_ נשמרים ב-trace.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זהו שלב ה'למידה'. השיטה נקראת Markov Chain Monte Carlo (MCMC) ונסביר אותה בהמשך הקורס. היא מחזירה אלפי ערכים מקריים מההתפלגויות הפוסטריוריות של λ1, λ2 ו-τ. הדגימות נקראות traces. אחרי הדגימה נאסוף אותן להיסטוגרמות.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בייסיאנית מחזירה התפלגות, ולכן אנחנו רואים מיד את אי-הוודאות: ככל שההתפלגות רחבה יותר, כך האמונה שלנו פחות ודאית. λ1 סביב 18 ו-λ2 סביב 23, וההתפלגויות נפרדות בבירור. שימו לב שהפוסטריורים אינם מעריכיים למרות שה-priors היו מעריכיים - בגישה חישובית לא אכפת לנו אם יש פתרון אנליטי.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 בדיד, ולכן הוא לא משייך הסתברויות לקטעים אלא לימים ספציפיים. סביב יום 45 יש בערך 48% סיכוי שההתנהגות השתנתה. אילו לא היה שינוי, או שהשינוי היה הדרגתי, הפוסטריור של τ היה מפוזר על פני ימים רבים. בפועל רק 3-4 ימים הם מועמדים סבירים.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שאלה: מהו המספר הצפוי של הודעות ביום t? מאחר שהתוחלת של פואסון היא λ, השאלה שקולה ל'מהי התוחלת של λ ביום t'. לכל דגימה i משתמשים ב-λ1,i אם t &lt; τi (השינוי עוד לא קרה), ואחרת ב-λ2,i, ואז ממצעים על כל הדגימות. כך מתקבלת גם אי-הוודאות במעבר.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יש תמיכה חזקה בכך שההתנהגות השתנתה (אחרת λ1 היה קרוב ל-λ2), ושהשינוי היה פתאומי ולא הדרגתי (הפוסטריור של τ מחודד). השערות: מחיר הודעות זול יותר, מנוי חדש, או מערכת יחסים חדשה. בפועל, לפי מחבר הנתונים, היום ה-45 הוא חג המולד, ובחודש שלאחר מכן הוא עבר לטורונטו והשאיר חברה מאחור.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תרגיל 1: ממוצעי הפוסטריור. תרגיל 2: נניח שקיבלנו מידע חדש שהשינוי התרחש לפני יום 45. אין צורך להריץ שוב את PyMC - פשוט מסננים את הדגימות שבהן tau_samples &lt; 45. כך מתנים על מידע חדש ישירות מהדגימות.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dge λ₁"/>
          <p:cNvSpPr/>
          <p:nvPr/>
        </p:nvSpPr>
        <p:spPr>
          <a:xfrm>
            <a:off x="822960" y="5120640"/>
            <a:ext cx="914400" cy="91440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  <a:cs typeface="Arial"/>
              </a:rPr>
              <a:t>λ₁</a:t>
            </a:r>
          </a:p>
        </p:txBody>
      </p:sp>
      <p:sp>
        <p:nvSpPr>
          <p:cNvPr id="3" name="badge τ"/>
          <p:cNvSpPr/>
          <p:nvPr/>
        </p:nvSpPr>
        <p:spPr>
          <a:xfrm>
            <a:off x="1965960" y="5120640"/>
            <a:ext cx="914400" cy="9144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4" name="badge λ₂"/>
          <p:cNvSpPr/>
          <p:nvPr/>
        </p:nvSpPr>
        <p:spPr>
          <a:xfrm>
            <a:off x="3108960" y="5120640"/>
            <a:ext cx="914400" cy="9144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  <a:cs typeface="Arial"/>
              </a:rPr>
              <a:t>λ₂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800" b="1" i="0" lang="he-IL">
                <a:solidFill>
                  <a:srgbClr val="FFFFFF"/>
                </a:solidFill>
                <a:latin typeface="Arial"/>
                <a:cs typeface="Arial"/>
              </a:rPr>
              <a:t>מודל נקודת שינוי — חלק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0" i="0" lang="he-IL">
                <a:solidFill>
                  <a:srgbClr val="CFC6DE"/>
                </a:solidFill>
                <a:latin typeface="Arial"/>
                <a:cs typeface="Arial"/>
              </a:rPr>
              <a:t>התפלגויות פואסון ומעריכית, והסקה בייסיאנית על נתוני הודעות טקסט ב-PyMC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257800"/>
            <a:ext cx="6309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i="0" lang="he-IL">
                <a:solidFill>
                  <a:srgbClr val="CFC6DE"/>
                </a:solidFill>
                <a:latin typeface="Arial"/>
                <a:cs typeface="Arial"/>
              </a:rPr>
              <a:t>מודלים בייסיאניים · שיעור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מה נלמד היום</a:t>
            </a:r>
          </a:p>
        </p:txBody>
      </p:sp>
      <p:sp>
        <p:nvSpPr>
          <p:cNvPr id="3" name="card"/>
          <p:cNvSpPr/>
          <p:nvPr/>
        </p:nvSpPr>
        <p:spPr>
          <a:xfrm>
            <a:off x="9128455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adge 1"/>
          <p:cNvSpPr/>
          <p:nvPr/>
        </p:nvSpPr>
        <p:spPr>
          <a:xfrm>
            <a:off x="9928555" y="2194560"/>
            <a:ext cx="914400" cy="91440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1335" y="3383280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התפלגויות הסתברות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1335" y="4160520"/>
            <a:ext cx="2148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בדיד מול רציף: פואסון ומעריכית</a:t>
            </a:r>
          </a:p>
        </p:txBody>
      </p:sp>
      <p:sp>
        <p:nvSpPr>
          <p:cNvPr id="7" name="card"/>
          <p:cNvSpPr/>
          <p:nvPr/>
        </p:nvSpPr>
        <p:spPr>
          <a:xfrm>
            <a:off x="6312103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dge 2"/>
          <p:cNvSpPr/>
          <p:nvPr/>
        </p:nvSpPr>
        <p:spPr>
          <a:xfrm>
            <a:off x="7112203" y="2194560"/>
            <a:ext cx="914400" cy="9144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4983" y="3383280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אבל מהו </a:t>
            </a:r>
            <a:r>
              <a:rPr sz="20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4983" y="4160520"/>
            <a:ext cx="2148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מעבר מהנתונים לאמונות על הפרמטר</a:t>
            </a:r>
          </a:p>
        </p:txBody>
      </p:sp>
      <p:sp>
        <p:nvSpPr>
          <p:cNvPr id="11" name="card"/>
          <p:cNvSpPr/>
          <p:nvPr/>
        </p:nvSpPr>
        <p:spPr>
          <a:xfrm>
            <a:off x="3495751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badge 3"/>
          <p:cNvSpPr/>
          <p:nvPr/>
        </p:nvSpPr>
        <p:spPr>
          <a:xfrm>
            <a:off x="4295851" y="2194560"/>
            <a:ext cx="914400" cy="9144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631" y="3383280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בניית המודל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8631" y="4160520"/>
            <a:ext cx="2148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נקודת שינוי, priors ודגימת MCMC</a:t>
            </a:r>
          </a:p>
        </p:txBody>
      </p:sp>
      <p:sp>
        <p:nvSpPr>
          <p:cNvPr id="15" name="card"/>
          <p:cNvSpPr/>
          <p:nvPr/>
        </p:nvSpPr>
        <p:spPr>
          <a:xfrm>
            <a:off x="679399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adge 4"/>
          <p:cNvSpPr/>
          <p:nvPr/>
        </p:nvSpPr>
        <p:spPr>
          <a:xfrm>
            <a:off x="1479499" y="2194560"/>
            <a:ext cx="914400" cy="91440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" y="3383280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פירוש הפוסטריור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" y="4160520"/>
            <a:ext cx="2148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מה למדנו, ולמה דגימות כל כך שימושיות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שלושה סוגים של משתנים מקריים</a:t>
            </a:r>
          </a:p>
        </p:txBody>
      </p:sp>
      <p:sp>
        <p:nvSpPr>
          <p:cNvPr id="3" name="card"/>
          <p:cNvSpPr/>
          <p:nvPr/>
        </p:nvSpPr>
        <p:spPr>
          <a:xfrm>
            <a:off x="8122615" y="160020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adge k"/>
          <p:cNvSpPr/>
          <p:nvPr/>
        </p:nvSpPr>
        <p:spPr>
          <a:xfrm>
            <a:off x="10591495" y="1874519"/>
            <a:ext cx="777240" cy="7772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6935" y="1920240"/>
            <a:ext cx="21031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i="0" lang="he-IL">
                <a:solidFill>
                  <a:srgbClr val="2B1E3F"/>
                </a:solidFill>
                <a:latin typeface="Arial"/>
                <a:cs typeface="Arial"/>
              </a:rPr>
              <a:t>בדיד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2880360"/>
            <a:ext cx="29718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מקבל ערכים רק מתוך רשימה מוגדרת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6935" y="384048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1" i="0" lang="he-IL">
                <a:solidFill>
                  <a:srgbClr val="17A398"/>
                </a:solidFill>
                <a:latin typeface="Arial"/>
                <a:cs typeface="Arial"/>
              </a:rPr>
              <a:t>דוגמאות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6935" y="4206240"/>
            <a:ext cx="2971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גודל אוכלוסייה, דירוג סרטים, מספר קולות בבחירות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6935" y="5257800"/>
            <a:ext cx="2971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 i="0" lang="he-IL">
                <a:solidFill>
                  <a:srgbClr val="17A398"/>
                </a:solidFill>
                <a:latin typeface="Arial"/>
                <a:cs typeface="Arial"/>
              </a:rPr>
              <a:t>פונקציית הסתברות — PMF</a:t>
            </a:r>
          </a:p>
        </p:txBody>
      </p:sp>
      <p:sp>
        <p:nvSpPr>
          <p:cNvPr id="10" name="card"/>
          <p:cNvSpPr/>
          <p:nvPr/>
        </p:nvSpPr>
        <p:spPr>
          <a:xfrm>
            <a:off x="4236415" y="160020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adge z"/>
          <p:cNvSpPr/>
          <p:nvPr/>
        </p:nvSpPr>
        <p:spPr>
          <a:xfrm>
            <a:off x="6705295" y="1874519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0735" y="1920240"/>
            <a:ext cx="21031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i="0" lang="he-IL">
                <a:solidFill>
                  <a:srgbClr val="2B1E3F"/>
                </a:solidFill>
                <a:latin typeface="Arial"/>
                <a:cs typeface="Arial"/>
              </a:rPr>
              <a:t>רציף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0735" y="2880360"/>
            <a:ext cx="29718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יכול לקבל ערכים מדויקים כרצוננו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0735" y="384048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1" i="0" lang="he-IL">
                <a:solidFill>
                  <a:srgbClr val="E4572E"/>
                </a:solidFill>
                <a:latin typeface="Arial"/>
                <a:cs typeface="Arial"/>
              </a:rPr>
              <a:t>דוגמאות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0735" y="4206240"/>
            <a:ext cx="2971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טמפרטורה, מהירות, זמן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0735" y="5257800"/>
            <a:ext cx="2971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 i="0" lang="he-IL">
                <a:solidFill>
                  <a:srgbClr val="E4572E"/>
                </a:solidFill>
                <a:latin typeface="Arial"/>
                <a:cs typeface="Arial"/>
              </a:rPr>
              <a:t>פונקציית צפיפות — PDF</a:t>
            </a:r>
          </a:p>
        </p:txBody>
      </p:sp>
      <p:sp>
        <p:nvSpPr>
          <p:cNvPr id="17" name="card"/>
          <p:cNvSpPr/>
          <p:nvPr/>
        </p:nvSpPr>
        <p:spPr>
          <a:xfrm>
            <a:off x="350215" y="160020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adge z+k"/>
          <p:cNvSpPr/>
          <p:nvPr/>
        </p:nvSpPr>
        <p:spPr>
          <a:xfrm>
            <a:off x="2819095" y="1874519"/>
            <a:ext cx="777240" cy="7772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z+k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" y="1920240"/>
            <a:ext cx="21031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i="0" lang="he-IL">
                <a:solidFill>
                  <a:srgbClr val="2B1E3F"/>
                </a:solidFill>
                <a:latin typeface="Arial"/>
                <a:cs typeface="Arial"/>
              </a:rPr>
              <a:t>מעורב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" y="2880360"/>
            <a:ext cx="29718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משייך הסתברויות גם לערכים בדידים וגם לרציפים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" y="384048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1" i="0" lang="he-IL">
                <a:solidFill>
                  <a:srgbClr val="7B5EA7"/>
                </a:solidFill>
                <a:latin typeface="Arial"/>
                <a:cs typeface="Arial"/>
              </a:rPr>
              <a:t>דוגמאות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" y="4206240"/>
            <a:ext cx="2971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שילוב של שתי הקטגוריות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" y="5257800"/>
            <a:ext cx="2971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 i="0" lang="he-IL">
                <a:solidFill>
                  <a:srgbClr val="7B5EA7"/>
                </a:solidFill>
                <a:latin typeface="Arial"/>
                <a:cs typeface="Arial"/>
              </a:rPr>
              <a:t>שילוב של שתיהן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התפלגות פואסון — מודל לנתוני ספירה</a:t>
            </a:r>
          </a:p>
        </p:txBody>
      </p:sp>
      <p:pic>
        <p:nvPicPr>
          <p:cNvPr id="3" name="Picture 2" descr="poi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035040" cy="3960495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6949440" y="1463040"/>
            <a:ext cx="4690872" cy="11887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_po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43244"/>
            <a:ext cx="4233672" cy="628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880360"/>
            <a:ext cx="4690872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7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 — פרמטר העוצמה (intensity); כל מספר חיובי</a:t>
            </a:r>
          </a:p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700" b="1" i="0" lang="he-IL">
                <a:solidFill>
                  <a:srgbClr val="2B1E3F"/>
                </a:solidFill>
                <a:latin typeface="Arial"/>
                <a:cs typeface="Arial"/>
              </a:rPr>
              <a:t>k</a:t>
            </a: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 — רק שלם אי-שלילי: 0, 1, 2, ...</a:t>
            </a:r>
          </a:p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הגדלת </a:t>
            </a:r>
            <a:r>
              <a:rPr sz="17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 מעבירה הסתברות לערכים גבוהים יותר</a:t>
            </a:r>
          </a:p>
        </p:txBody>
      </p:sp>
      <p:sp>
        <p:nvSpPr>
          <p:cNvPr id="7" name="card"/>
          <p:cNvSpPr/>
          <p:nvPr/>
        </p:nvSpPr>
        <p:spPr>
          <a:xfrm>
            <a:off x="6949440" y="4983480"/>
            <a:ext cx="4690872" cy="128016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_pois_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5135067"/>
            <a:ext cx="4233672" cy="4740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5715000"/>
            <a:ext cx="4343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 i="0" lang="he-IL">
                <a:solidFill>
                  <a:srgbClr val="17A398"/>
                </a:solidFill>
                <a:latin typeface="Arial"/>
                <a:cs typeface="Arial"/>
              </a:rPr>
              <a:t>התוחלת שווה ל-</a:t>
            </a:r>
            <a:r>
              <a:rPr sz="1500" b="1" i="0" lang="en-US">
                <a:solidFill>
                  <a:srgbClr val="17A398"/>
                </a:solidFill>
                <a:latin typeface="Arial"/>
                <a:cs typeface="Arial"/>
              </a:rPr>
              <a:t>λ</a:t>
            </a:r>
            <a:r>
              <a:rPr sz="1500" b="1" i="0" lang="he-IL">
                <a:solidFill>
                  <a:srgbClr val="17A398"/>
                </a:solidFill>
                <a:latin typeface="Arial"/>
                <a:cs typeface="Arial"/>
              </a:rPr>
              <a:t> — נשתמש בזה הרבה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התפלגות מעריכית — לערכים רציפים וחיוביים</a:t>
            </a:r>
          </a:p>
        </p:txBody>
      </p:sp>
      <p:pic>
        <p:nvPicPr>
          <p:cNvPr id="3" name="Picture 2" descr="exp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035040" cy="3960495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6949440" y="1463040"/>
            <a:ext cx="4690872" cy="11887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_ex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80460"/>
            <a:ext cx="4233672" cy="553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880360"/>
            <a:ext cx="4690872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מקבלת כל ערך אי-שלילי, גם ערכים לא שלמים, למשל 4.25</a:t>
            </a:r>
          </a:p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לא מתאימה לנתוני ספירה</a:t>
            </a:r>
          </a:p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700" b="0" i="0" lang="he-IL">
                <a:solidFill>
                  <a:srgbClr val="2B1E3F"/>
                </a:solidFill>
                <a:latin typeface="Arial"/>
                <a:cs typeface="Arial"/>
              </a:rPr>
              <a:t>מצוינת לזמן, טמפרטורה וכל גודל חיובי ורציף</a:t>
            </a:r>
          </a:p>
        </p:txBody>
      </p:sp>
      <p:sp>
        <p:nvSpPr>
          <p:cNvPr id="7" name="card"/>
          <p:cNvSpPr/>
          <p:nvPr/>
        </p:nvSpPr>
        <p:spPr>
          <a:xfrm>
            <a:off x="6949440" y="4983480"/>
            <a:ext cx="4690872" cy="1280160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_exp_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145" y="5047488"/>
            <a:ext cx="3883461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5715000"/>
            <a:ext cx="4343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 i="0" lang="he-IL">
                <a:solidFill>
                  <a:srgbClr val="E4572E"/>
                </a:solidFill>
                <a:latin typeface="Arial"/>
                <a:cs typeface="Arial"/>
              </a:rPr>
              <a:t>התוחלת היא ההופכי של </a:t>
            </a:r>
            <a:r>
              <a:rPr sz="1500" b="1" i="0" lang="en-US">
                <a:solidFill>
                  <a:srgbClr val="E4572E"/>
                </a:solidFill>
                <a:latin typeface="Arial"/>
                <a:cs typeface="Arial"/>
              </a:rPr>
              <a:t>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אבל מהו </a:t>
            </a:r>
            <a:r>
              <a:rPr sz="34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adge λ"/>
          <p:cNvSpPr/>
          <p:nvPr/>
        </p:nvSpPr>
        <p:spPr>
          <a:xfrm>
            <a:off x="2331720" y="1874519"/>
            <a:ext cx="1371600" cy="13716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5400" b="1">
                <a:solidFill>
                  <a:srgbClr val="FFFFFF"/>
                </a:solidFill>
                <a:latin typeface="Cambria Math"/>
                <a:cs typeface="Cambria Math"/>
              </a:rPr>
              <a:t>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 i="0" lang="he-IL">
                <a:solidFill>
                  <a:srgbClr val="7B5EA7"/>
                </a:solidFill>
                <a:latin typeface="Arial"/>
                <a:cs typeface="Arial"/>
              </a:rPr>
              <a:t>מוסתר — לא נצפה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3794760"/>
            <a:ext cx="0" cy="548640"/>
          </a:xfrm>
          <a:prstGeom prst="line">
            <a:avLst/>
          </a:prstGeom>
          <a:ln w="2857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60120" y="4526280"/>
            <a:ext cx="6858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2B1E3F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4526280"/>
            <a:ext cx="6858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2B1E3F"/>
                </a:solidFill>
                <a:latin typeface="Arial"/>
                <a:cs typeface="Arial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4526280"/>
            <a:ext cx="6858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2B1E3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526280"/>
            <a:ext cx="6858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2B1E3F"/>
                </a:solidFill>
                <a:latin typeface="Arial"/>
                <a:cs typeface="Arial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526280"/>
            <a:ext cx="6858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2B1E3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 i="0" lang="he-IL">
                <a:solidFill>
                  <a:srgbClr val="17A398"/>
                </a:solidFill>
                <a:latin typeface="Arial"/>
                <a:cs typeface="Arial"/>
              </a:rPr>
              <a:t>Z — הנתונים שאנחנו רואים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605272" cy="4572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200" b="1" i="0" lang="he-IL">
                <a:solidFill>
                  <a:srgbClr val="2B1E3F"/>
                </a:solidFill>
                <a:latin typeface="Arial"/>
                <a:cs typeface="Arial"/>
              </a:rPr>
              <a:t>זו השאלה שמניעה את הסטטיסטיקה</a:t>
            </a:r>
          </a:p>
          <a:p>
            <a:pPr algn="r" rtl="1" marR="274320" indent="-274320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במציאות </a:t>
            </a:r>
            <a:r>
              <a:rPr sz="18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 מוסתר מאיתנו — אנחנו רואים רק את Z</a:t>
            </a:r>
          </a:p>
          <a:p>
            <a:pPr algn="r" rtl="1" marR="274320" indent="-274320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אין התאמה חד-חד-ערכית מ-Z ל-</a:t>
            </a:r>
            <a:r>
              <a:rPr sz="18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, ולכן צריך ”ללכת אחורה“</a:t>
            </a:r>
          </a:p>
          <a:p>
            <a:pPr algn="r" rtl="1" marR="274320" indent="-274320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הגישה הבייסיאנית: במקום לנחש ערך יחיד, מתארים את האמונה שלנו לגבי </a:t>
            </a:r>
            <a:r>
              <a:rPr sz="18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 באמצעות התפלגות</a:t>
            </a:r>
          </a:p>
          <a:p>
            <a:pPr algn="r" rtl="1" marR="274320" indent="-274320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sz="18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 אולי קבוע — אבל </a:t>
            </a:r>
            <a:r>
              <a:rPr sz="1800" b="1" i="0" lang="he-IL">
                <a:solidFill>
                  <a:srgbClr val="7B5EA7"/>
                </a:solidFill>
                <a:latin typeface="Arial"/>
                <a:cs typeface="Arial"/>
              </a:rPr>
              <a:t>מותר לנו להחזיק אמונות לגביו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דוגמה: האם הרגלי שליחת ההודעות השתנו?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17320"/>
          <a:ext cx="76809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8595360" y="14630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ard"/>
          <p:cNvSpPr/>
          <p:nvPr/>
        </p:nvSpPr>
        <p:spPr>
          <a:xfrm>
            <a:off x="10222992" y="14630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22992" y="1554480"/>
            <a:ext cx="14173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 i="0" lang="he-IL">
                <a:solidFill>
                  <a:srgbClr val="7B5EA7"/>
                </a:solidFill>
                <a:latin typeface="Arial"/>
                <a:cs typeface="Arial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228600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ימים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554480"/>
            <a:ext cx="14173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 i="0" lang="he-IL">
                <a:solidFill>
                  <a:srgbClr val="7B5EA7"/>
                </a:solidFill>
                <a:latin typeface="Arial"/>
                <a:cs typeface="Arial"/>
              </a:rPr>
              <a:t>19.7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28600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00" b="0" i="0" lang="he-IL">
                <a:solidFill>
                  <a:srgbClr val="6B6478"/>
                </a:solidFill>
                <a:latin typeface="Arial"/>
                <a:cs typeface="Arial"/>
              </a:rPr>
              <a:t>הודעות ביום בממוצע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108960"/>
            <a:ext cx="3044952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ספירה יומית של הודעות טקסט שמשתמש קיבל</a:t>
            </a:r>
          </a:p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השאלה: האם ההתנהגות השתנתה — בהדרגה או בבת אחת?</a:t>
            </a:r>
          </a:p>
          <a:p>
            <a:pPr algn="r" rtl="1">
              <a:spcAft>
                <a:spcPts val="1200"/>
              </a:spcAft>
            </a:pPr>
            <a:r>
              <a:rPr sz="1600" b="1" i="0" lang="he-IL">
                <a:solidFill>
                  <a:srgbClr val="E4572E"/>
                </a:solidFill>
                <a:latin typeface="Arial"/>
                <a:cs typeface="Arial"/>
              </a:rPr>
              <a:t>לפני שממשיכים: מה אתם רואים בגרף? האם היה שינוי, ומתי?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בניית המודל: נקודת שינוי </a:t>
            </a:r>
            <a:r>
              <a:rPr sz="3400" b="1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_l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3001992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600200"/>
            <a:ext cx="72237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i="0" lang="he-IL">
                <a:solidFill>
                  <a:srgbClr val="2B1E3F"/>
                </a:solidFill>
                <a:latin typeface="Arial"/>
                <a:cs typeface="Arial"/>
              </a:rPr>
              <a:t>מספר ההודעות ביום i מתפלג פואסון — המודל הטבעי לספירות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806440" cy="640080"/>
          </a:xfrm>
          <a:prstGeom prst="roundRect">
            <a:avLst>
              <a:gd name="adj" fmla="val 30000"/>
            </a:avLst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720840" y="3246120"/>
            <a:ext cx="4617720" cy="640080"/>
          </a:xfrm>
          <a:prstGeom prst="roundRect">
            <a:avLst>
              <a:gd name="adj" fmla="val 3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585215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1" i="0" lang="en-US">
                <a:solidFill>
                  <a:srgbClr val="FFFFFF"/>
                </a:solidFill>
                <a:latin typeface="Arial"/>
                <a:cs typeface="Arial"/>
              </a:rPr>
              <a:t>λ₁</a:t>
            </a:r>
            <a:r>
              <a:rPr sz="1800" b="1" i="0" lang="he-IL">
                <a:solidFill>
                  <a:srgbClr val="FFFFFF"/>
                </a:solidFill>
                <a:latin typeface="Arial"/>
                <a:cs typeface="Arial"/>
              </a:rPr>
              <a:t>  —  לפני השינוי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246120"/>
            <a:ext cx="46634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1" i="0" lang="en-US">
                <a:solidFill>
                  <a:srgbClr val="FFFFFF"/>
                </a:solidFill>
                <a:latin typeface="Arial"/>
                <a:cs typeface="Arial"/>
              </a:rPr>
              <a:t>λ₂</a:t>
            </a:r>
            <a:r>
              <a:rPr sz="1800" b="1" i="0" lang="he-IL">
                <a:solidFill>
                  <a:srgbClr val="FFFFFF"/>
                </a:solidFill>
                <a:latin typeface="Arial"/>
                <a:cs typeface="Arial"/>
              </a:rPr>
              <a:t>  —  אחרי השינוי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0" y="2926079"/>
            <a:ext cx="0" cy="1280161"/>
          </a:xfrm>
          <a:prstGeom prst="line">
            <a:avLst/>
          </a:prstGeom>
          <a:ln w="31750">
            <a:solidFill>
              <a:srgbClr val="2B1E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adge τ"/>
          <p:cNvSpPr/>
          <p:nvPr/>
        </p:nvSpPr>
        <p:spPr>
          <a:xfrm>
            <a:off x="6355080" y="2286000"/>
            <a:ext cx="640080" cy="64008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יום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977639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יום 73</a:t>
            </a:r>
          </a:p>
        </p:txBody>
      </p:sp>
      <p:pic>
        <p:nvPicPr>
          <p:cNvPr id="14" name="Picture 13" descr="f_sw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4434840"/>
            <a:ext cx="2868168" cy="457200"/>
          </a:xfrm>
          <a:prstGeom prst="rect">
            <a:avLst/>
          </a:prstGeom>
        </p:spPr>
      </p:pic>
      <p:pic>
        <p:nvPicPr>
          <p:cNvPr id="15" name="Picture 14" descr="f_sw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434840"/>
            <a:ext cx="2868168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700" b="0" i="0" lang="he-IL">
                <a:solidFill>
                  <a:srgbClr val="6B6478"/>
                </a:solidFill>
                <a:latin typeface="Arial"/>
                <a:cs typeface="Arial"/>
              </a:rPr>
              <a:t>אם לא היה שינוי אמיתי, ההתפלגויות הפוסטריוריות של </a:t>
            </a:r>
            <a:r>
              <a:rPr sz="17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  <a:r>
              <a:rPr sz="1700" b="0" i="0" lang="he-IL">
                <a:solidFill>
                  <a:srgbClr val="6B6478"/>
                </a:solidFill>
                <a:latin typeface="Arial"/>
                <a:cs typeface="Arial"/>
              </a:rPr>
              <a:t> ושל </a:t>
            </a:r>
            <a:r>
              <a:rPr sz="1700" b="0" i="0" lang="en-US">
                <a:solidFill>
                  <a:srgbClr val="6B6478"/>
                </a:solidFill>
                <a:latin typeface="Arial"/>
                <a:cs typeface="Arial"/>
              </a:rPr>
              <a:t>λ₂</a:t>
            </a:r>
            <a:r>
              <a:rPr sz="1700" b="0" i="0" lang="he-IL">
                <a:solidFill>
                  <a:srgbClr val="6B6478"/>
                </a:solidFill>
                <a:latin typeface="Arial"/>
                <a:cs typeface="Arial"/>
              </a:rPr>
              <a:t> ייראו כמעט זהות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בחירת התפלגויות קודמות (Priors)</a:t>
            </a:r>
          </a:p>
        </p:txBody>
      </p:sp>
      <p:pic>
        <p:nvPicPr>
          <p:cNvPr id="3" name="Picture 2" descr="p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669280" cy="3590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49240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ה-prior של </a:t>
            </a: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λ</a:t>
            </a: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; הקו המקווקו הוא ממוצע הנתונים</a:t>
            </a:r>
          </a:p>
        </p:txBody>
      </p:sp>
      <p:sp>
        <p:nvSpPr>
          <p:cNvPr id="5" name="card"/>
          <p:cNvSpPr/>
          <p:nvPr/>
        </p:nvSpPr>
        <p:spPr>
          <a:xfrm>
            <a:off x="6583680" y="1463040"/>
            <a:ext cx="5056632" cy="9601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_pri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799444"/>
            <a:ext cx="4663440" cy="2873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2651760"/>
            <a:ext cx="5056632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6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 חיובי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← התפלגות מעריכית היא בחירה טבעית</a:t>
            </a:r>
          </a:p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600" b="1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— אין מידע מוקדם: כל יום סביר באותה מידה</a:t>
            </a:r>
          </a:p>
          <a:p>
            <a:pPr algn="r" rtl="1" marR="274320" indent="-274320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sz="1600" b="1" i="0" lang="en-US">
                <a:solidFill>
                  <a:srgbClr val="2B1E3F"/>
                </a:solidFill>
                <a:latin typeface="Arial"/>
                <a:cs typeface="Arial"/>
              </a:rPr>
              <a:t>α</a:t>
            </a: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 הוא היפר-פרמטר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: פרמטר שמשפיע על פרמטרים אחרים</a:t>
            </a:r>
          </a:p>
        </p:txBody>
      </p:sp>
      <p:sp>
        <p:nvSpPr>
          <p:cNvPr id="8" name="card"/>
          <p:cNvSpPr/>
          <p:nvPr/>
        </p:nvSpPr>
        <p:spPr>
          <a:xfrm>
            <a:off x="6583680" y="4526280"/>
            <a:ext cx="5056632" cy="173736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_alp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678" y="4645152"/>
            <a:ext cx="2690635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0" y="5532120"/>
            <a:ext cx="17830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 lang="he-IL">
                <a:solidFill>
                  <a:srgbClr val="17A398"/>
                </a:solidFill>
                <a:latin typeface="Arial"/>
                <a:cs typeface="Arial"/>
              </a:rPr>
              <a:t>כלל אצבע: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53212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0">
              <a:spcAft>
                <a:spcPts val="600"/>
              </a:spcAft>
            </a:pPr>
            <a:r>
              <a:rPr sz="1600" b="1" i="0" lang="en-US">
                <a:solidFill>
                  <a:srgbClr val="17A398"/>
                </a:solidFill>
                <a:latin typeface="Arial"/>
                <a:cs typeface="Arial"/>
              </a:rPr>
              <a:t>α</a:t>
            </a:r>
            <a:r>
              <a:rPr sz="1600" b="1" i="0" lang="en-US">
                <a:solidFill>
                  <a:srgbClr val="17A398"/>
                </a:solidFill>
                <a:latin typeface="Arial"/>
                <a:cs typeface="Arial"/>
              </a:rPr>
              <a:t> = 1/19.7 ≈ 0.051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מבנה המודל — מי משפיע על מי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657600"/>
            <a:ext cx="4754880" cy="26060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0" y="5852160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1" i="0" lang="he-IL">
                <a:solidFill>
                  <a:srgbClr val="6B6478"/>
                </a:solidFill>
                <a:latin typeface="Arial"/>
                <a:cs typeface="Arial"/>
              </a:rPr>
              <a:t>74 ימים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499" y="1371600"/>
            <a:ext cx="777240" cy="777240"/>
          </a:xfrm>
          <a:prstGeom prst="roundRect">
            <a:avLst/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2B1E3F"/>
                </a:solidFill>
                <a:latin typeface="Cambria Math"/>
                <a:cs typeface="Cambria Math"/>
              </a:rPr>
              <a:t>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4891" y="157276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const = 0.051</a:t>
            </a:r>
          </a:p>
        </p:txBody>
      </p:sp>
      <p:sp>
        <p:nvSpPr>
          <p:cNvPr id="7" name="Oval 6"/>
          <p:cNvSpPr/>
          <p:nvPr/>
        </p:nvSpPr>
        <p:spPr>
          <a:xfrm>
            <a:off x="1074420" y="2560320"/>
            <a:ext cx="777240" cy="7772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 Math"/>
                <a:cs typeface="Cambria Math"/>
              </a:rPr>
              <a:t>λ₁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736092" y="276148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Exp(</a:t>
            </a: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α</a:t>
            </a: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2354580" y="2560320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 Math"/>
                <a:cs typeface="Cambria Math"/>
              </a:rPr>
              <a:t>λ₂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972" y="276148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Exp(</a:t>
            </a: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α</a:t>
            </a: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3817620" y="2560320"/>
            <a:ext cx="777240" cy="7772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8012" y="276148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DiscreteUniform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931920"/>
            <a:ext cx="1188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2B1E3F"/>
                </a:solidFill>
                <a:latin typeface="Cambria Math"/>
                <a:cs typeface="Cambria Math"/>
              </a:rPr>
              <a:t>λ(t)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133087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switch</a:t>
            </a:r>
          </a:p>
        </p:txBody>
      </p:sp>
      <p:sp>
        <p:nvSpPr>
          <p:cNvPr id="15" name="Oval 14"/>
          <p:cNvSpPr/>
          <p:nvPr/>
        </p:nvSpPr>
        <p:spPr>
          <a:xfrm>
            <a:off x="2720340" y="5166360"/>
            <a:ext cx="777240" cy="777240"/>
          </a:xfrm>
          <a:prstGeom prst="ellipse">
            <a:avLst/>
          </a:prstGeom>
          <a:solidFill>
            <a:srgbClr val="CFC6DE"/>
          </a:solidFill>
          <a:ln w="25400">
            <a:solidFill>
              <a:srgbClr val="2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2B1E3F"/>
                </a:solidFill>
                <a:latin typeface="Cambria Math"/>
                <a:cs typeface="Cambria Math"/>
              </a:rPr>
              <a:t>Cᵢ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0732" y="536752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sz="1200" b="0" i="0" lang="en-US">
                <a:solidFill>
                  <a:srgbClr val="6B6478"/>
                </a:solidFill>
                <a:latin typeface="Arial"/>
                <a:cs typeface="Arial"/>
              </a:rPr>
              <a:t>Poisson (observed)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600200" y="2148840"/>
            <a:ext cx="320039" cy="393192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2148840"/>
            <a:ext cx="320040" cy="393192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3291840"/>
            <a:ext cx="960119" cy="621792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34640" y="3337560"/>
            <a:ext cx="182880" cy="576072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520440" y="3291840"/>
            <a:ext cx="411480" cy="621792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08960" y="4709160"/>
            <a:ext cx="0" cy="438912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rd"/>
          <p:cNvSpPr/>
          <p:nvPr/>
        </p:nvSpPr>
        <p:spPr>
          <a:xfrm>
            <a:off x="6309360" y="1554480"/>
            <a:ext cx="5330952" cy="987552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972800" y="1801368"/>
            <a:ext cx="502920" cy="50292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1645920"/>
            <a:ext cx="4297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עיגול צבעוני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011680"/>
            <a:ext cx="4297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משתנה סטוכסטי — יש לו prior, ו-PyMC דוגם אותו</a:t>
            </a:r>
          </a:p>
        </p:txBody>
      </p:sp>
      <p:sp>
        <p:nvSpPr>
          <p:cNvPr id="27" name="card"/>
          <p:cNvSpPr/>
          <p:nvPr/>
        </p:nvSpPr>
        <p:spPr>
          <a:xfrm>
            <a:off x="6309360" y="2724912"/>
            <a:ext cx="5330952" cy="987552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0972800" y="29718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2240" y="2816352"/>
            <a:ext cx="4297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מלבן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182112"/>
            <a:ext cx="4297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משתנה דטרמיניסטי — נקבע לגמרי מההורים שלו</a:t>
            </a:r>
          </a:p>
        </p:txBody>
      </p:sp>
      <p:sp>
        <p:nvSpPr>
          <p:cNvPr id="31" name="card"/>
          <p:cNvSpPr/>
          <p:nvPr/>
        </p:nvSpPr>
        <p:spPr>
          <a:xfrm>
            <a:off x="6309360" y="3895344"/>
            <a:ext cx="5330952" cy="987552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0972800" y="4142231"/>
            <a:ext cx="502920" cy="502920"/>
          </a:xfrm>
          <a:prstGeom prst="ellipse">
            <a:avLst/>
          </a:prstGeom>
          <a:solidFill>
            <a:srgbClr val="CFC6DE"/>
          </a:solidFill>
          <a:ln w="25400">
            <a:solidFill>
              <a:srgbClr val="2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92240" y="3986783"/>
            <a:ext cx="4297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עיגול אפור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352544"/>
            <a:ext cx="4297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משתנה נצפה (observed) — כאן נכנסים הנתונים</a:t>
            </a:r>
          </a:p>
        </p:txBody>
      </p:sp>
      <p:sp>
        <p:nvSpPr>
          <p:cNvPr id="35" name="card"/>
          <p:cNvSpPr/>
          <p:nvPr/>
        </p:nvSpPr>
        <p:spPr>
          <a:xfrm>
            <a:off x="6309360" y="5065776"/>
            <a:ext cx="5330952" cy="987552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0972800" y="5312664"/>
            <a:ext cx="502920" cy="50292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0" y="5157216"/>
            <a:ext cx="4297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מסגרת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22976"/>
            <a:ext cx="4297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חזרה על כל אחד מ-74 הימים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המודל בקוד PyMC</a:t>
            </a:r>
          </a:p>
        </p:txBody>
      </p:sp>
      <p:sp>
        <p:nvSpPr>
          <p:cNvPr id="3" name="code block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de"/>
          <p:cNvSpPr txBox="1"/>
          <p:nvPr/>
        </p:nvSpPr>
        <p:spPr>
          <a:xfrm>
            <a:off x="777240" y="1645920"/>
            <a:ext cx="6217920" cy="4434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with pm.Model() as model: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alpha = 1.0 / count_data.mean()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lambda_1 = pm.Exponential("lambda_1", alpha)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lambda_2 = pm.Exponential("lambda_2", alpha)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tau = pm.DiscreteUniform("tau", lower=0,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                         upper=n_count_data - 1)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idx = np.arange(n_count_data)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lambda_ = pm.Deterministic("lambda_",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    pm.math.switch(idx &lt; tau, lambda_1, lambda_2))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observation = pm.Poisson("obs", lambda_,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                         observed=count_data)</a:t>
            </a:r>
          </a:p>
        </p:txBody>
      </p:sp>
      <p:sp>
        <p:nvSpPr>
          <p:cNvPr id="5" name="card"/>
          <p:cNvSpPr/>
          <p:nvPr/>
        </p:nvSpPr>
        <p:spPr>
          <a:xfrm>
            <a:off x="7543800" y="1463040"/>
            <a:ext cx="4096512" cy="1069848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badge 1"/>
          <p:cNvSpPr/>
          <p:nvPr/>
        </p:nvSpPr>
        <p:spPr>
          <a:xfrm>
            <a:off x="11018520" y="1746504"/>
            <a:ext cx="502920" cy="50292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sz="1300" b="1" i="0" lang="en-US">
                <a:solidFill>
                  <a:srgbClr val="2B1E3F"/>
                </a:solidFill>
                <a:latin typeface="Courier New"/>
                <a:cs typeface="Courier New"/>
              </a:rPr>
              <a:t>alpha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947672"/>
            <a:ext cx="3246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היפר-פרמטר קבוע, מחושב מממוצע הנתונים</a:t>
            </a:r>
          </a:p>
        </p:txBody>
      </p:sp>
      <p:sp>
        <p:nvSpPr>
          <p:cNvPr id="9" name="card"/>
          <p:cNvSpPr/>
          <p:nvPr/>
        </p:nvSpPr>
        <p:spPr>
          <a:xfrm>
            <a:off x="7543800" y="2697480"/>
            <a:ext cx="4096512" cy="1069848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dge 2"/>
          <p:cNvSpPr/>
          <p:nvPr/>
        </p:nvSpPr>
        <p:spPr>
          <a:xfrm>
            <a:off x="11018520" y="2980944"/>
            <a:ext cx="502920" cy="50292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78892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sz="1300" b="1" i="0" lang="en-US">
                <a:solidFill>
                  <a:srgbClr val="2B1E3F"/>
                </a:solidFill>
                <a:latin typeface="Courier New"/>
                <a:cs typeface="Courier New"/>
              </a:rPr>
              <a:t>pm.Exponential / DiscreteUniform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182112"/>
            <a:ext cx="3246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משתנים סטוכסטיים: ה-priors של </a:t>
            </a:r>
            <a:r>
              <a:rPr sz="14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, </a:t>
            </a:r>
            <a:r>
              <a:rPr sz="1400" b="0" i="0" lang="en-US">
                <a:solidFill>
                  <a:srgbClr val="6B6478"/>
                </a:solidFill>
                <a:latin typeface="Arial"/>
                <a:cs typeface="Arial"/>
              </a:rPr>
              <a:t>λ₂</a:t>
            </a: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 ו-</a:t>
            </a:r>
            <a:r>
              <a:rPr sz="1400" b="0" i="0" lang="en-US">
                <a:solidFill>
                  <a:srgbClr val="6B6478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13" name="card"/>
          <p:cNvSpPr/>
          <p:nvPr/>
        </p:nvSpPr>
        <p:spPr>
          <a:xfrm>
            <a:off x="7543800" y="3931920"/>
            <a:ext cx="4096512" cy="1069848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adge 3"/>
          <p:cNvSpPr/>
          <p:nvPr/>
        </p:nvSpPr>
        <p:spPr>
          <a:xfrm>
            <a:off x="11018520" y="4215384"/>
            <a:ext cx="502920" cy="50292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02336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sz="1300" b="1" i="0" lang="en-US">
                <a:solidFill>
                  <a:srgbClr val="2B1E3F"/>
                </a:solidFill>
                <a:latin typeface="Courier New"/>
                <a:cs typeface="Courier New"/>
              </a:rPr>
              <a:t>pm.math.switch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416552"/>
            <a:ext cx="3246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בוחר </a:t>
            </a:r>
            <a:r>
              <a:rPr sz="14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 או </a:t>
            </a:r>
            <a:r>
              <a:rPr sz="1400" b="0" i="0" lang="en-US">
                <a:solidFill>
                  <a:srgbClr val="6B6478"/>
                </a:solidFill>
                <a:latin typeface="Arial"/>
                <a:cs typeface="Arial"/>
              </a:rPr>
              <a:t>λ₂</a:t>
            </a: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 לכל יום, לפי הצד של </a:t>
            </a:r>
            <a:r>
              <a:rPr sz="1400" b="0" i="0" lang="en-US">
                <a:solidFill>
                  <a:srgbClr val="6B6478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17" name="card"/>
          <p:cNvSpPr/>
          <p:nvPr/>
        </p:nvSpPr>
        <p:spPr>
          <a:xfrm>
            <a:off x="7543800" y="5166360"/>
            <a:ext cx="4096512" cy="1069848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adge 4"/>
          <p:cNvSpPr/>
          <p:nvPr/>
        </p:nvSpPr>
        <p:spPr>
          <a:xfrm>
            <a:off x="11018520" y="5449824"/>
            <a:ext cx="502920" cy="50292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2578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sz="1300" b="1" i="0" lang="en-US">
                <a:solidFill>
                  <a:srgbClr val="2B1E3F"/>
                </a:solidFill>
                <a:latin typeface="Courier New"/>
                <a:cs typeface="Courier New"/>
              </a:rPr>
              <a:t>observed=count_data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650992"/>
            <a:ext cx="3246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מחבר את הנתונים למנגנון יצירת הנתונים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: מוסתר או שמור? שתי אפשרויות</a:t>
            </a:r>
          </a:p>
        </p:txBody>
      </p:sp>
      <p:sp>
        <p:nvSpPr>
          <p:cNvPr id="3" name="card"/>
          <p:cNvSpPr/>
          <p:nvPr/>
        </p:nvSpPr>
        <p:spPr>
          <a:xfrm>
            <a:off x="6281928" y="1463040"/>
            <a:ext cx="5358384" cy="3977639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adge 1"/>
          <p:cNvSpPr/>
          <p:nvPr/>
        </p:nvSpPr>
        <p:spPr>
          <a:xfrm>
            <a:off x="10771632" y="1691640"/>
            <a:ext cx="594360" cy="59436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0528" y="1691640"/>
            <a:ext cx="4206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אפשרות 1: </a:t>
            </a:r>
            <a:r>
              <a:rPr sz="20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 מוסתר מהמודל</a:t>
            </a:r>
          </a:p>
        </p:txBody>
      </p:sp>
      <p:sp>
        <p:nvSpPr>
          <p:cNvPr id="6" name="code block"/>
          <p:cNvSpPr/>
          <p:nvPr/>
        </p:nvSpPr>
        <p:spPr>
          <a:xfrm>
            <a:off x="6510528" y="2514600"/>
            <a:ext cx="4901184" cy="123444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"/>
          <p:cNvSpPr txBox="1"/>
          <p:nvPr/>
        </p:nvSpPr>
        <p:spPr>
          <a:xfrm>
            <a:off x="6739128" y="2697480"/>
            <a:ext cx="4443984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300" b="0" i="0" lang="en-US">
                <a:solidFill>
                  <a:srgbClr val="EDE8F5"/>
                </a:solidFill>
                <a:latin typeface="Courier New"/>
                <a:cs typeface="Courier New"/>
              </a:rPr>
              <a:t>lambda_ = pm.math.switch(</a:t>
            </a:r>
          </a:p>
          <a:p>
            <a:pPr algn="l" rtl="0">
              <a:spcAft>
                <a:spcPts val="0"/>
              </a:spcAft>
            </a:pPr>
            <a:r>
              <a:rPr sz="1300" b="0" i="0" lang="en-US">
                <a:solidFill>
                  <a:srgbClr val="EDE8F5"/>
                </a:solidFill>
                <a:latin typeface="Courier New"/>
                <a:cs typeface="Courier New"/>
              </a:rPr>
              <a:t>    idx &lt; tau, lambda_1, lambda_2)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3931920"/>
            <a:ext cx="4901184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6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מחושב בתוך המודל ומשמש את הנראות</a:t>
            </a:r>
          </a:p>
          <a:p>
            <a:pPr algn="r" rtl="1" marR="274320" indent="-274320">
              <a:spcAft>
                <a:spcPts val="6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הערכים שלו לא נשמרים ב-trace</a:t>
            </a:r>
          </a:p>
          <a:p>
            <a:pPr algn="r" rtl="1" marR="274320" indent="-274320">
              <a:spcAft>
                <a:spcPts val="6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חסכוני יותר בזיכרון</a:t>
            </a:r>
          </a:p>
        </p:txBody>
      </p:sp>
      <p:sp>
        <p:nvSpPr>
          <p:cNvPr id="9" name="card"/>
          <p:cNvSpPr/>
          <p:nvPr/>
        </p:nvSpPr>
        <p:spPr>
          <a:xfrm>
            <a:off x="548640" y="1463040"/>
            <a:ext cx="5358384" cy="3977639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dge 2"/>
          <p:cNvSpPr/>
          <p:nvPr/>
        </p:nvSpPr>
        <p:spPr>
          <a:xfrm>
            <a:off x="5038344" y="1691640"/>
            <a:ext cx="594360" cy="5943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4206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1" i="0" lang="he-IL">
                <a:solidFill>
                  <a:srgbClr val="2B1E3F"/>
                </a:solidFill>
                <a:latin typeface="Arial"/>
                <a:cs typeface="Arial"/>
              </a:rPr>
              <a:t>אפשרות 2: pm.Deterministic</a:t>
            </a:r>
          </a:p>
        </p:txBody>
      </p:sp>
      <p:sp>
        <p:nvSpPr>
          <p:cNvPr id="12" name="code block"/>
          <p:cNvSpPr/>
          <p:nvPr/>
        </p:nvSpPr>
        <p:spPr>
          <a:xfrm>
            <a:off x="777240" y="2514600"/>
            <a:ext cx="4901184" cy="123444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ode"/>
          <p:cNvSpPr txBox="1"/>
          <p:nvPr/>
        </p:nvSpPr>
        <p:spPr>
          <a:xfrm>
            <a:off x="1005840" y="2697480"/>
            <a:ext cx="4443984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300" b="0" i="0" lang="en-US">
                <a:solidFill>
                  <a:srgbClr val="EDE8F5"/>
                </a:solidFill>
                <a:latin typeface="Courier New"/>
                <a:cs typeface="Courier New"/>
              </a:rPr>
              <a:t>lambda_ = pm.Deterministic('lambda_',</a:t>
            </a:r>
          </a:p>
          <a:p>
            <a:pPr algn="l" rtl="0">
              <a:spcAft>
                <a:spcPts val="0"/>
              </a:spcAft>
            </a:pPr>
            <a:r>
              <a:rPr sz="1300" b="0" i="0" lang="en-US">
                <a:solidFill>
                  <a:srgbClr val="EDE8F5"/>
                </a:solidFill>
                <a:latin typeface="Courier New"/>
                <a:cs typeface="Courier New"/>
              </a:rPr>
              <a:t>    pm.math.switch(</a:t>
            </a:r>
          </a:p>
          <a:p>
            <a:pPr algn="l" rtl="0">
              <a:spcAft>
                <a:spcPts val="0"/>
              </a:spcAft>
            </a:pPr>
            <a:r>
              <a:rPr sz="1300" b="0" i="0" lang="en-US">
                <a:solidFill>
                  <a:srgbClr val="EDE8F5"/>
                </a:solidFill>
                <a:latin typeface="Courier New"/>
                <a:cs typeface="Courier New"/>
              </a:rPr>
              <a:t>        idx &lt; tau, lambda_1, lambda_2))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4901184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600"/>
              </a:spcAft>
              <a:buClr>
                <a:srgbClr val="E4572E"/>
              </a:buClr>
              <a:buFont typeface="Arial"/>
              <a:buChar char="•"/>
            </a:pPr>
            <a:r>
              <a:rPr sz="16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נשמר ב-trace לכל דגימה</a:t>
            </a:r>
          </a:p>
          <a:p>
            <a:pPr algn="r" rtl="1" marR="274320" indent="-274320">
              <a:spcAft>
                <a:spcPts val="600"/>
              </a:spcAft>
              <a:buClr>
                <a:srgbClr val="E4572E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אפשר לקבל את הפוסטריור של </a:t>
            </a:r>
            <a:r>
              <a:rPr sz="16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לכל יום</a:t>
            </a:r>
          </a:p>
          <a:p>
            <a:pPr algn="r" rtl="1" marR="274320" indent="-274320">
              <a:spcAft>
                <a:spcPts val="600"/>
              </a:spcAft>
              <a:buClr>
                <a:srgbClr val="E4572E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נוח לניתוח ולגרפים בהמשך</a:t>
            </a:r>
          </a:p>
        </p:txBody>
      </p:sp>
      <p:sp>
        <p:nvSpPr>
          <p:cNvPr id="15" name="card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25912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בשני המקרים </a:t>
            </a:r>
            <a:r>
              <a:rPr sz="1600" b="1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 הוא משתנה מקרי — כי </a:t>
            </a:r>
            <a:r>
              <a:rPr sz="1600" b="1" i="0" lang="en-US">
                <a:solidFill>
                  <a:srgbClr val="2B1E3F"/>
                </a:solidFill>
                <a:latin typeface="Arial"/>
                <a:cs typeface="Arial"/>
              </a:rPr>
              <a:t>λ₁</a:t>
            </a: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, </a:t>
            </a:r>
            <a:r>
              <a:rPr sz="1600" b="1" i="0" lang="en-US">
                <a:solidFill>
                  <a:srgbClr val="2B1E3F"/>
                </a:solidFill>
                <a:latin typeface="Arial"/>
                <a:cs typeface="Arial"/>
              </a:rPr>
              <a:t>λ₂</a:t>
            </a: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 ו-</a:t>
            </a:r>
            <a:r>
              <a:rPr sz="1600" b="1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 מקריים. שום ערך עדיין לא מקובע.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דגימה מהפוסטריור עם MCMC</a:t>
            </a:r>
          </a:p>
        </p:txBody>
      </p:sp>
      <p:sp>
        <p:nvSpPr>
          <p:cNvPr id="3" name="code block"/>
          <p:cNvSpPr/>
          <p:nvPr/>
        </p:nvSpPr>
        <p:spPr>
          <a:xfrm>
            <a:off x="548640" y="1463040"/>
            <a:ext cx="6949440" cy="292608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de"/>
          <p:cNvSpPr txBox="1"/>
          <p:nvPr/>
        </p:nvSpPr>
        <p:spPr>
          <a:xfrm>
            <a:off x="777240" y="1645920"/>
            <a:ext cx="649224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with model: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step = pm.Metropolis()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trace = pm.sample(5000, tune=1000, step=step)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post = trace.posterior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lambda_1_samples = post["lambda_1"].values.flatten()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lambda_2_samples = post["lambda_2"].values.flatten()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tau_samples      = post["tau"].values.flatten()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4617720"/>
            <a:ext cx="6949440" cy="164592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649224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 i="0" lang="he-IL">
                <a:solidFill>
                  <a:srgbClr val="2B1E3F"/>
                </a:solidFill>
                <a:latin typeface="Arial"/>
                <a:cs typeface="Arial"/>
              </a:rPr>
              <a:t>מה קורה כאן?</a:t>
            </a:r>
          </a:p>
          <a:p>
            <a:pPr algn="r" rtl="1">
              <a:spcAft>
                <a:spcPts val="600"/>
              </a:spcAft>
            </a:pPr>
            <a:r>
              <a:rPr sz="1500" b="0" i="0" lang="he-IL">
                <a:solidFill>
                  <a:srgbClr val="2B1E3F"/>
                </a:solidFill>
                <a:latin typeface="Arial"/>
                <a:cs typeface="Arial"/>
              </a:rPr>
              <a:t>זהו שלב ה”למידה“: מתקבלות אלפי דגימות מההתפלגויות הפוסטריוריות של </a:t>
            </a:r>
            <a:r>
              <a:rPr sz="1500" b="0" i="0" lang="en-US">
                <a:solidFill>
                  <a:srgbClr val="2B1E3F"/>
                </a:solidFill>
                <a:latin typeface="Arial"/>
                <a:cs typeface="Arial"/>
              </a:rPr>
              <a:t>λ₁</a:t>
            </a:r>
            <a:r>
              <a:rPr sz="1500" b="0" i="0" lang="he-IL">
                <a:solidFill>
                  <a:srgbClr val="2B1E3F"/>
                </a:solidFill>
                <a:latin typeface="Arial"/>
                <a:cs typeface="Arial"/>
              </a:rPr>
              <a:t>, </a:t>
            </a:r>
            <a:r>
              <a:rPr sz="1500" b="0" i="0" lang="en-US">
                <a:solidFill>
                  <a:srgbClr val="2B1E3F"/>
                </a:solidFill>
                <a:latin typeface="Arial"/>
                <a:cs typeface="Arial"/>
              </a:rPr>
              <a:t>λ₂</a:t>
            </a:r>
            <a:r>
              <a:rPr sz="1500" b="0" i="0" lang="he-IL">
                <a:solidFill>
                  <a:srgbClr val="2B1E3F"/>
                </a:solidFill>
                <a:latin typeface="Arial"/>
                <a:cs typeface="Arial"/>
              </a:rPr>
              <a:t> ו-</a:t>
            </a:r>
            <a:r>
              <a:rPr sz="1500" b="0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  <a:r>
              <a:rPr sz="1500" b="0" i="0" lang="he-IL">
                <a:solidFill>
                  <a:srgbClr val="2B1E3F"/>
                </a:solidFill>
                <a:latin typeface="Arial"/>
                <a:cs typeface="Arial"/>
              </a:rPr>
              <a:t>. בספרות ה-MCMC הן נקראות traces.</a:t>
            </a:r>
          </a:p>
        </p:txBody>
      </p:sp>
      <p:sp>
        <p:nvSpPr>
          <p:cNvPr id="7" name="card"/>
          <p:cNvSpPr/>
          <p:nvPr/>
        </p:nvSpPr>
        <p:spPr>
          <a:xfrm>
            <a:off x="7818120" y="146304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456432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i="0" lang="he-IL">
                <a:solidFill>
                  <a:srgbClr val="17A398"/>
                </a:solidFill>
                <a:latin typeface="Arial"/>
                <a:cs typeface="Arial"/>
              </a:rPr>
              <a:t>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86000"/>
            <a:ext cx="345643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דגימות לכל שרשרת (draws)</a:t>
            </a:r>
          </a:p>
        </p:txBody>
      </p:sp>
      <p:sp>
        <p:nvSpPr>
          <p:cNvPr id="10" name="card"/>
          <p:cNvSpPr/>
          <p:nvPr/>
        </p:nvSpPr>
        <p:spPr>
          <a:xfrm>
            <a:off x="7818120" y="310896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01000" y="3246120"/>
            <a:ext cx="3456432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i="0" lang="he-IL">
                <a:solidFill>
                  <a:srgbClr val="7B5EA7"/>
                </a:solidFill>
                <a:latin typeface="Arial"/>
                <a:cs typeface="Arial"/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931920"/>
            <a:ext cx="345643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צעדי כיול (tune) — נזרקים</a:t>
            </a:r>
          </a:p>
        </p:txBody>
      </p:sp>
      <p:sp>
        <p:nvSpPr>
          <p:cNvPr id="13" name="card"/>
          <p:cNvSpPr/>
          <p:nvPr/>
        </p:nvSpPr>
        <p:spPr>
          <a:xfrm>
            <a:off x="7818120" y="475488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4892040"/>
            <a:ext cx="3456432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i="0" lang="he-IL">
                <a:solidFill>
                  <a:srgbClr val="E4572E"/>
                </a:solidFill>
                <a:latin typeface="Arial"/>
                <a:cs typeface="Arial"/>
              </a:rPr>
              <a:t>Metropolis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577840"/>
            <a:ext cx="345643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אלגוריתם MCMC — נסביר בהמשך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הפוסטריור של </a:t>
            </a:r>
            <a:r>
              <a:rPr sz="3400" b="1" i="0" lang="en-US">
                <a:solidFill>
                  <a:srgbClr val="2B1E3F"/>
                </a:solidFill>
                <a:latin typeface="Arial"/>
                <a:cs typeface="Arial"/>
              </a:rPr>
              <a:t>λ₁</a:t>
            </a: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 ו-</a:t>
            </a:r>
            <a:r>
              <a:rPr sz="3400" b="1" i="0" lang="en-US">
                <a:solidFill>
                  <a:srgbClr val="2B1E3F"/>
                </a:solidFill>
                <a:latin typeface="Arial"/>
                <a:cs typeface="Arial"/>
              </a:rPr>
              <a:t>λ₂</a:t>
            </a:r>
          </a:p>
        </p:txBody>
      </p:sp>
      <p:pic>
        <p:nvPicPr>
          <p:cNvPr id="3" name="Picture 2" descr="post_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583680" cy="457200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9601200" y="1463040"/>
            <a:ext cx="2039112" cy="14630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0" y="1554480"/>
            <a:ext cx="203911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 i="0" lang="he-IL">
                <a:solidFill>
                  <a:srgbClr val="17A398"/>
                </a:solidFill>
                <a:latin typeface="Arial"/>
                <a:cs typeface="Arial"/>
              </a:rPr>
              <a:t>17.8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377440"/>
            <a:ext cx="203911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ממוצע </a:t>
            </a: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 — לפני</a:t>
            </a:r>
          </a:p>
        </p:txBody>
      </p:sp>
      <p:sp>
        <p:nvSpPr>
          <p:cNvPr id="7" name="card"/>
          <p:cNvSpPr/>
          <p:nvPr/>
        </p:nvSpPr>
        <p:spPr>
          <a:xfrm>
            <a:off x="7452360" y="1463040"/>
            <a:ext cx="2039112" cy="14630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52360" y="1554480"/>
            <a:ext cx="203911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 i="0" lang="he-IL">
                <a:solidFill>
                  <a:srgbClr val="E4572E"/>
                </a:solidFill>
                <a:latin typeface="Arial"/>
                <a:cs typeface="Arial"/>
              </a:rPr>
              <a:t>22.7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377440"/>
            <a:ext cx="203911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ממוצע </a:t>
            </a: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λ₂</a:t>
            </a:r>
            <a:r>
              <a:rPr sz="1300" b="0" i="0" lang="he-IL">
                <a:solidFill>
                  <a:srgbClr val="6B6478"/>
                </a:solidFill>
                <a:latin typeface="Arial"/>
                <a:cs typeface="Arial"/>
              </a:rPr>
              <a:t> — אחרי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200400"/>
            <a:ext cx="4187952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ההתפלגויות נפרדות בבירור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← סביר מאוד שההתנהגות אכן השתנתה</a:t>
            </a:r>
          </a:p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רוחב ההתפלגות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= מידת אי-הוודאות שלנו</a:t>
            </a:r>
          </a:p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1" i="0" lang="he-IL">
                <a:solidFill>
                  <a:srgbClr val="2B1E3F"/>
                </a:solidFill>
                <a:latin typeface="Arial"/>
                <a:cs typeface="Arial"/>
              </a:rPr>
              <a:t>הפוסטריור אינו מעריכי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למרות שה-prior היה מעריכי — הגישה החישובית לא דורשת פתרון אנליטי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הפוסטריור של </a:t>
            </a:r>
            <a:r>
              <a:rPr sz="3400" b="1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: מתי זה קרה?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1732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7818120" y="1463040"/>
            <a:ext cx="3822191" cy="15544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18120" y="1554480"/>
            <a:ext cx="3822191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 i="0" lang="he-IL">
                <a:solidFill>
                  <a:srgbClr val="7B5EA7"/>
                </a:solidFill>
                <a:latin typeface="Arial"/>
                <a:cs typeface="Arial"/>
              </a:rPr>
              <a:t>יום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377440"/>
            <a:ext cx="3822191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הערך הסביר ביותר — כ-48%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3291840"/>
            <a:ext cx="3822191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200"/>
              </a:spcAft>
              <a:buClr>
                <a:srgbClr val="7B5EA7"/>
              </a:buClr>
              <a:buFont typeface="Arial"/>
              <a:buChar char="•"/>
            </a:pPr>
            <a:r>
              <a:rPr sz="1600" b="0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בדיד — ההסתברות מרוכזת בימים ספציפיים ולא בקטעים</a:t>
            </a:r>
          </a:p>
          <a:p>
            <a:pPr algn="r" rtl="1" marR="274320" indent="-274320">
              <a:spcAft>
                <a:spcPts val="1200"/>
              </a:spcAft>
              <a:buClr>
                <a:srgbClr val="7B5EA7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רק שלושה-ארבעה ימים הם מועמדים סבירים לנקודת השינוי</a:t>
            </a:r>
          </a:p>
          <a:p>
            <a:pPr algn="r" rtl="1" marR="274320" indent="-274320">
              <a:spcAft>
                <a:spcPts val="1200"/>
              </a:spcAft>
              <a:buClr>
                <a:srgbClr val="7B5EA7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אילו השינוי היה הדרגתי (או לא היה בכלל), הפוסטריור של </a:t>
            </a:r>
            <a:r>
              <a:rPr sz="1600" b="0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היה מפוזר על פני ימים רבים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למה בכלל צריך דגימות מהפוסטריור?</a:t>
            </a:r>
          </a:p>
        </p:txBody>
      </p:sp>
      <p:pic>
        <p:nvPicPr>
          <p:cNvPr id="3" name="Picture 2" descr="exp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84632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818120" y="1463040"/>
            <a:ext cx="3822191" cy="118872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55279" y="1508760"/>
            <a:ext cx="3547872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 i="0" lang="he-IL">
                <a:solidFill>
                  <a:srgbClr val="2B1E3F"/>
                </a:solidFill>
                <a:latin typeface="Arial"/>
                <a:cs typeface="Arial"/>
              </a:rPr>
              <a:t>כמה הודעות צפויות בכל יום?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880360"/>
            <a:ext cx="3822191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התוחלת של פואסון היא </a:t>
            </a:r>
            <a:r>
              <a:rPr sz="16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— לכן מחפשים את התוחלת של </a:t>
            </a:r>
            <a:r>
              <a:rPr sz="1600" b="0" i="0" lang="en-US">
                <a:solidFill>
                  <a:srgbClr val="2B1E3F"/>
                </a:solidFill>
                <a:latin typeface="Arial"/>
                <a:cs typeface="Arial"/>
              </a:rPr>
              <a:t>λ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 ביום t</a:t>
            </a:r>
          </a:p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לכל דגימה i: אם השינוי עוד לא קרה ביום t לוקחים את </a:t>
            </a:r>
            <a:r>
              <a:rPr sz="1600" b="1" i="0" lang="en-US">
                <a:solidFill>
                  <a:srgbClr val="17A398"/>
                </a:solidFill>
                <a:latin typeface="Arial"/>
                <a:cs typeface="Arial"/>
              </a:rPr>
              <a:t>λ₁</a:t>
            </a: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, אחרת את </a:t>
            </a:r>
            <a:r>
              <a:rPr sz="1600" b="1" i="0" lang="en-US">
                <a:solidFill>
                  <a:srgbClr val="E4572E"/>
                </a:solidFill>
                <a:latin typeface="Arial"/>
                <a:cs typeface="Arial"/>
              </a:rPr>
              <a:t>λ₂</a:t>
            </a:r>
          </a:p>
          <a:p>
            <a:pPr algn="r" rtl="1" marR="274320" indent="-274320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sz="1600" b="0" i="0" lang="he-IL">
                <a:solidFill>
                  <a:srgbClr val="2B1E3F"/>
                </a:solidFill>
                <a:latin typeface="Arial"/>
                <a:cs typeface="Arial"/>
              </a:rPr>
              <a:t>ממצעים על כל הדגימות ← עקומה אחת שמשקפת גם את אי-הוודאות לגבי </a:t>
            </a:r>
            <a:r>
              <a:rPr sz="1600" b="0" i="0" lang="en-US">
                <a:solidFill>
                  <a:srgbClr val="2B1E3F"/>
                </a:solidFill>
                <a:latin typeface="Cambria Math"/>
                <a:cs typeface="Cambria Math"/>
              </a:rPr>
              <a:t>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מסקנות: מה קרה ביום 45?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adge λ"/>
          <p:cNvSpPr/>
          <p:nvPr/>
        </p:nvSpPr>
        <p:spPr>
          <a:xfrm>
            <a:off x="10835640" y="1664207"/>
            <a:ext cx="694944" cy="694944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  <a:cs typeface="Cambria Math"/>
              </a:rPr>
              <a:t>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900" b="1" i="0" lang="he-IL">
                <a:solidFill>
                  <a:srgbClr val="2B1E3F"/>
                </a:solidFill>
                <a:latin typeface="Arial"/>
                <a:cs typeface="Arial"/>
              </a:rPr>
              <a:t>ההתנהגות השתנתה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 ו-</a:t>
            </a:r>
            <a:r>
              <a:rPr sz="1500" b="0" i="0" lang="en-US">
                <a:solidFill>
                  <a:srgbClr val="6B6478"/>
                </a:solidFill>
                <a:latin typeface="Arial"/>
                <a:cs typeface="Arial"/>
              </a:rPr>
              <a:t>λ₂</a:t>
            </a: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 שונים בבירור — אילו לא היה שינוי, הם היו קרובים זה לזה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2715768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dge τ"/>
          <p:cNvSpPr/>
          <p:nvPr/>
        </p:nvSpPr>
        <p:spPr>
          <a:xfrm>
            <a:off x="10835640" y="2871215"/>
            <a:ext cx="694944" cy="694944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07208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900" b="1" i="0" lang="he-IL">
                <a:solidFill>
                  <a:srgbClr val="2B1E3F"/>
                </a:solidFill>
                <a:latin typeface="Arial"/>
                <a:cs typeface="Arial"/>
              </a:rPr>
              <a:t>השינוי היה פתאומי, לא הדרגתי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687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הפוסטריור של </a:t>
            </a:r>
            <a:r>
              <a:rPr sz="1500" b="0" i="0" lang="en-US">
                <a:solidFill>
                  <a:srgbClr val="6B6478"/>
                </a:solidFill>
                <a:latin typeface="Cambria Math"/>
                <a:cs typeface="Cambria Math"/>
              </a:rPr>
              <a:t>τ</a:t>
            </a: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 מחודד מאוד סביב ימים 44 ו-45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3922776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badge ?"/>
          <p:cNvSpPr/>
          <p:nvPr/>
        </p:nvSpPr>
        <p:spPr>
          <a:xfrm>
            <a:off x="10835640" y="4078224"/>
            <a:ext cx="694944" cy="69494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14215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900" b="1" i="0" lang="he-IL">
                <a:solidFill>
                  <a:srgbClr val="2B1E3F"/>
                </a:solidFill>
                <a:latin typeface="Arial"/>
                <a:cs typeface="Arial"/>
              </a:rPr>
              <a:t>ומה הסיבה?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25696"/>
            <a:ext cx="9875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i="0" lang="he-IL">
                <a:solidFill>
                  <a:srgbClr val="6B6478"/>
                </a:solidFill>
                <a:latin typeface="Arial"/>
                <a:cs typeface="Arial"/>
              </a:rPr>
              <a:t>מחיר הודעות זול יותר? מנוי חדש? מערכת יחסים חדשה?</a:t>
            </a:r>
          </a:p>
        </p:txBody>
      </p:sp>
      <p:sp>
        <p:nvSpPr>
          <p:cNvPr id="15" name="card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634472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 i="0" lang="he-IL">
                <a:solidFill>
                  <a:srgbClr val="F7B9A6"/>
                </a:solidFill>
                <a:latin typeface="Arial"/>
                <a:cs typeface="Arial"/>
              </a:rPr>
              <a:t>התשובה האמיתית: </a:t>
            </a:r>
            <a:r>
              <a:rPr sz="1700" b="0" i="0" lang="he-IL">
                <a:solidFill>
                  <a:srgbClr val="FFFFFF"/>
                </a:solidFill>
                <a:latin typeface="Arial"/>
                <a:cs typeface="Arial"/>
              </a:rPr>
              <a:t>יום 45 הוא חג המולד, ובחודש שאחריו כותב הנתונים עבר לטורונטו והשאיר חברה מאחור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2B1E3F"/>
                </a:solidFill>
                <a:latin typeface="Arial"/>
                <a:cs typeface="Arial"/>
              </a:rPr>
              <a:t>תרגילים</a:t>
            </a:r>
          </a:p>
        </p:txBody>
      </p:sp>
      <p:sp>
        <p:nvSpPr>
          <p:cNvPr id="3" name="card"/>
          <p:cNvSpPr/>
          <p:nvPr/>
        </p:nvSpPr>
        <p:spPr>
          <a:xfrm>
            <a:off x="6281928" y="1463040"/>
            <a:ext cx="5358384" cy="4800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adge 1"/>
          <p:cNvSpPr/>
          <p:nvPr/>
        </p:nvSpPr>
        <p:spPr>
          <a:xfrm>
            <a:off x="10771632" y="1691640"/>
            <a:ext cx="594360" cy="59436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0528" y="1645920"/>
            <a:ext cx="4206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 i="0" lang="he-IL">
                <a:solidFill>
                  <a:srgbClr val="2B1E3F"/>
                </a:solidFill>
                <a:latin typeface="Arial"/>
                <a:cs typeface="Arial"/>
              </a:rPr>
              <a:t>מהו הממוצע של הפוסטריורים של </a:t>
            </a:r>
            <a:r>
              <a:rPr sz="1800" b="1" i="0" lang="en-US">
                <a:solidFill>
                  <a:srgbClr val="2B1E3F"/>
                </a:solidFill>
                <a:latin typeface="Arial"/>
                <a:cs typeface="Arial"/>
              </a:rPr>
              <a:t>λ₁</a:t>
            </a:r>
            <a:r>
              <a:rPr sz="1800" b="1" i="0" lang="he-IL">
                <a:solidFill>
                  <a:srgbClr val="2B1E3F"/>
                </a:solidFill>
                <a:latin typeface="Arial"/>
                <a:cs typeface="Arial"/>
              </a:rPr>
              <a:t> ו-</a:t>
            </a:r>
            <a:r>
              <a:rPr sz="1800" b="1" i="0" lang="en-US">
                <a:solidFill>
                  <a:srgbClr val="2B1E3F"/>
                </a:solidFill>
                <a:latin typeface="Arial"/>
                <a:cs typeface="Arial"/>
              </a:rPr>
              <a:t>λ₂</a:t>
            </a:r>
            <a:r>
              <a:rPr sz="1800" b="1" i="0" lang="he-IL">
                <a:solidFill>
                  <a:srgbClr val="2B1E3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code block"/>
          <p:cNvSpPr/>
          <p:nvPr/>
        </p:nvSpPr>
        <p:spPr>
          <a:xfrm>
            <a:off x="6510528" y="2697480"/>
            <a:ext cx="4901184" cy="109728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"/>
          <p:cNvSpPr txBox="1"/>
          <p:nvPr/>
        </p:nvSpPr>
        <p:spPr>
          <a:xfrm>
            <a:off x="6739128" y="2880360"/>
            <a:ext cx="4443984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np.mean(lambda_1_samples)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np.mean(lambda_2_samples)</a:t>
            </a:r>
          </a:p>
        </p:txBody>
      </p:sp>
      <p:sp>
        <p:nvSpPr>
          <p:cNvPr id="8" name="card"/>
          <p:cNvSpPr/>
          <p:nvPr/>
        </p:nvSpPr>
        <p:spPr>
          <a:xfrm>
            <a:off x="9125712" y="40233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25712" y="4069080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200" b="1" i="0" lang="he-IL">
                <a:solidFill>
                  <a:srgbClr val="17A398"/>
                </a:solidFill>
                <a:latin typeface="Arial"/>
                <a:cs typeface="Arial"/>
              </a:rPr>
              <a:t>17.77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4754880"/>
            <a:ext cx="2286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</a:p>
        </p:txBody>
      </p:sp>
      <p:sp>
        <p:nvSpPr>
          <p:cNvPr id="11" name="card"/>
          <p:cNvSpPr/>
          <p:nvPr/>
        </p:nvSpPr>
        <p:spPr>
          <a:xfrm>
            <a:off x="6656832" y="40233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56832" y="4069080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200" b="1" i="0" lang="he-IL">
                <a:solidFill>
                  <a:srgbClr val="E4572E"/>
                </a:solidFill>
                <a:latin typeface="Arial"/>
                <a:cs typeface="Arial"/>
              </a:rPr>
              <a:t>22.66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4754880"/>
            <a:ext cx="2286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λ₂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5440680"/>
            <a:ext cx="490118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הממוצעים תואמים את מה שראינו בהיסטוגרמות</a:t>
            </a:r>
          </a:p>
        </p:txBody>
      </p:sp>
      <p:sp>
        <p:nvSpPr>
          <p:cNvPr id="15" name="card"/>
          <p:cNvSpPr/>
          <p:nvPr/>
        </p:nvSpPr>
        <p:spPr>
          <a:xfrm>
            <a:off x="548640" y="1463040"/>
            <a:ext cx="5358384" cy="4800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adge 2"/>
          <p:cNvSpPr/>
          <p:nvPr/>
        </p:nvSpPr>
        <p:spPr>
          <a:xfrm>
            <a:off x="5038344" y="1691640"/>
            <a:ext cx="594360" cy="59436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645920"/>
            <a:ext cx="4206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 i="0" lang="he-IL">
                <a:solidFill>
                  <a:srgbClr val="2B1E3F"/>
                </a:solidFill>
                <a:latin typeface="Arial"/>
                <a:cs typeface="Arial"/>
              </a:rPr>
              <a:t>מהו הממוצע של </a:t>
            </a:r>
            <a:r>
              <a:rPr sz="1800" b="1" i="0" lang="en-US">
                <a:solidFill>
                  <a:srgbClr val="2B1E3F"/>
                </a:solidFill>
                <a:latin typeface="Arial"/>
                <a:cs typeface="Arial"/>
              </a:rPr>
              <a:t>λ₁</a:t>
            </a:r>
            <a:r>
              <a:rPr sz="1800" b="1" i="0" lang="he-IL">
                <a:solidFill>
                  <a:srgbClr val="2B1E3F"/>
                </a:solidFill>
                <a:latin typeface="Arial"/>
                <a:cs typeface="Arial"/>
              </a:rPr>
              <a:t> בהינתן שהשינוי קרה לפני יום 45?</a:t>
            </a:r>
          </a:p>
        </p:txBody>
      </p:sp>
      <p:sp>
        <p:nvSpPr>
          <p:cNvPr id="18" name="code block"/>
          <p:cNvSpPr/>
          <p:nvPr/>
        </p:nvSpPr>
        <p:spPr>
          <a:xfrm>
            <a:off x="777240" y="2697480"/>
            <a:ext cx="4901184" cy="109728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code"/>
          <p:cNvSpPr txBox="1"/>
          <p:nvPr/>
        </p:nvSpPr>
        <p:spPr>
          <a:xfrm>
            <a:off x="1005840" y="2880360"/>
            <a:ext cx="4443984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np.mean(lambda_1_samples[</a:t>
            </a:r>
          </a:p>
          <a:p>
            <a:pPr algn="l" rtl="0">
              <a:spcAft>
                <a:spcPts val="0"/>
              </a:spcAft>
            </a:pPr>
            <a:r>
              <a:rPr sz="1400" b="0" i="0" lang="en-US">
                <a:solidFill>
                  <a:srgbClr val="EDE8F5"/>
                </a:solidFill>
                <a:latin typeface="Courier New"/>
                <a:cs typeface="Courier New"/>
              </a:rPr>
              <a:t>        tau_samples &lt; 45])</a:t>
            </a:r>
          </a:p>
        </p:txBody>
      </p:sp>
      <p:sp>
        <p:nvSpPr>
          <p:cNvPr id="20" name="card"/>
          <p:cNvSpPr/>
          <p:nvPr/>
        </p:nvSpPr>
        <p:spPr>
          <a:xfrm>
            <a:off x="3392424" y="40233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392424" y="4069080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200" b="1" i="0" lang="he-IL">
                <a:solidFill>
                  <a:srgbClr val="17A398"/>
                </a:solidFill>
                <a:latin typeface="Arial"/>
                <a:cs typeface="Arial"/>
              </a:rPr>
              <a:t>17.77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4754880"/>
            <a:ext cx="2286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λ₁</a:t>
            </a: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 | </a:t>
            </a:r>
            <a:r>
              <a:rPr sz="1300" b="0" i="0" lang="en-US">
                <a:solidFill>
                  <a:srgbClr val="6B6478"/>
                </a:solidFill>
                <a:latin typeface="Cambria Math"/>
                <a:cs typeface="Cambria Math"/>
              </a:rPr>
              <a:t>τ</a:t>
            </a:r>
            <a:r>
              <a:rPr sz="1300" b="0" i="0" lang="en-US">
                <a:solidFill>
                  <a:srgbClr val="6B6478"/>
                </a:solidFill>
                <a:latin typeface="Arial"/>
                <a:cs typeface="Arial"/>
              </a:rPr>
              <a:t>&lt;45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40680"/>
            <a:ext cx="490118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i="0" lang="he-IL">
                <a:solidFill>
                  <a:srgbClr val="6B6478"/>
                </a:solidFill>
                <a:latin typeface="Arial"/>
                <a:cs typeface="Arial"/>
              </a:rPr>
              <a:t>התניה על מידע חדש = פשוט סינון הדגימות, בלי להריץ את המודל מחדש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Arial"/>
                <a:cs typeface="Arial"/>
              </a:rPr>
              <a:t>סיכום</a:t>
            </a:r>
          </a:p>
        </p:txBody>
      </p:sp>
      <p:sp>
        <p:nvSpPr>
          <p:cNvPr id="3" name="badge λ"/>
          <p:cNvSpPr/>
          <p:nvPr/>
        </p:nvSpPr>
        <p:spPr>
          <a:xfrm>
            <a:off x="10835640" y="1600200"/>
            <a:ext cx="777240" cy="7772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  <a:cs typeface="Cambria Math"/>
              </a:rPr>
              <a:t>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784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100" b="0" i="0" lang="he-IL">
                <a:solidFill>
                  <a:srgbClr val="FFFFFF"/>
                </a:solidFill>
                <a:latin typeface="Arial"/>
                <a:cs typeface="Arial"/>
              </a:rPr>
              <a:t>פואסון לספירות, מעריכית לגדלים חיוביים רציפים</a:t>
            </a:r>
          </a:p>
        </p:txBody>
      </p:sp>
      <p:sp>
        <p:nvSpPr>
          <p:cNvPr id="5" name="badge α"/>
          <p:cNvSpPr/>
          <p:nvPr/>
        </p:nvSpPr>
        <p:spPr>
          <a:xfrm>
            <a:off x="10835640" y="2743200"/>
            <a:ext cx="777240" cy="7772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  <a:cs typeface="Cambria Math"/>
              </a:rPr>
              <a:t>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784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100" b="0" i="0" lang="he-IL">
                <a:solidFill>
                  <a:srgbClr val="FFFFFF"/>
                </a:solidFill>
                <a:latin typeface="Arial"/>
                <a:cs typeface="Arial"/>
              </a:rPr>
              <a:t>פרמטרים מוסתרים — מתארים אמונות עליהם באמצעות התפלגויות</a:t>
            </a:r>
          </a:p>
        </p:txBody>
      </p:sp>
      <p:sp>
        <p:nvSpPr>
          <p:cNvPr id="7" name="badge τ"/>
          <p:cNvSpPr/>
          <p:nvPr/>
        </p:nvSpPr>
        <p:spPr>
          <a:xfrm>
            <a:off x="10835640" y="3886200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9784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100" b="0" i="0" lang="he-IL">
                <a:solidFill>
                  <a:srgbClr val="FFFFFF"/>
                </a:solidFill>
                <a:latin typeface="Arial"/>
                <a:cs typeface="Arial"/>
              </a:rPr>
              <a:t>מודל נקודת שינוי: priors, switch ו-observed ב-PyMC</a:t>
            </a:r>
          </a:p>
        </p:txBody>
      </p:sp>
      <p:sp>
        <p:nvSpPr>
          <p:cNvPr id="9" name="badge ∑"/>
          <p:cNvSpPr/>
          <p:nvPr/>
        </p:nvSpPr>
        <p:spPr>
          <a:xfrm>
            <a:off x="10835640" y="5029200"/>
            <a:ext cx="777240" cy="777240"/>
          </a:xfrm>
          <a:prstGeom prst="ellipse">
            <a:avLst/>
          </a:prstGeom>
          <a:solidFill>
            <a:srgbClr val="CFC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9784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100" b="0" i="0" lang="he-IL">
                <a:solidFill>
                  <a:srgbClr val="FFFFFF"/>
                </a:solidFill>
                <a:latin typeface="Arial"/>
                <a:cs typeface="Arial"/>
              </a:rPr>
              <a:t>דגימות מהפוסטריור מאפשרות לענות על כל שאלה — בלי פתרון אנליטי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