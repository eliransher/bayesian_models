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4"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060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שיעור 6: נבנה מודל רגרסיה לינארית בייסיאני ונראה שהוא משחזר פרמטרים ידועים. אחר כך נעבור מבדיקת השערות לאמידה: נאמוד ממוצע של קבוצה אחת (ראדון בבתים) ונשווה בין שתי קבוצות (תרופה מול פלצבו) עם התפלגות t עמידה.</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השיעור בנוי משלושה חלקים. נתחיל ברגרסיה לינארית על נתונים מדומים, כך שאנחנו יודעים את התשובה הנכונה. אחר כך נאמוד ממוצע של קבוצה אחת - ריכוז ראדון בבתים - ונשאל שאלות הסתברותיות ישירות. לבסוף נשווה בין שתי קבוצות בניסוי קליני, עם התפלגות t שעמידה לתצפיות חריגות.</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אנחנו מייצרים נתונים בעצמנו, עם פרמטרים ידועים: חותך 1, מקדמים 1 ו-2.5, ורעש עם סטיית תקן 1. X2 מוכפל ב-0.2 ולכן הפיזור שלו קטן - בגרף הימני רואים שהקשר בין X2 ל-Y פחות בולט. בזכות זה שהתשובה ידועה, נוכל לבדוק אם המודל הבייסיאני משחזר אותה.</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המודל: Y מתפלג נורמלית סביב alpha ועוד beta כפול X, עם רעש σ. ל-alpha ול-beta נותנים prior נורמלי עם סטיית תקן 100 - רחב מאוד ביחס לנתונים, כך שהנתונים יכתיבו את התוצאה. ל-σ נותנים HalfNormal כי היא חייבת להיות חיובית. שימו לב: במחברת mu עטוף ב-pm.Deterministic בלי שם - זה גורם לשגיאה. או שנותנים לו שם, pm.Deterministic('mu', ...), או שמשאירים ביטוי רגיל כמו כאן.</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דגימה מה-prior עם sample_prior_predictive מראה איך נראית ההתפלגות לפני שראינו נתונים. HalfNormal היא חצי ימני של התפלגות נורמלית. עם סטיית תקן 100, רוב המסה בין 0 ל-200 - הרבה מעבר לערך האמיתי 1. זה prior מפוזר: הוא רק אומר שσ חיובית.</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הפוסטריור של כל ארבעת הפרמטרים, עם הערך האמיתי כקו מקווקו. כל הערכים האמיתיים נופלים בתוך מרווחי ה-HDI של 94%. β₂ אמוד עם אי-ודאות גדולה בהרבה - בין 1.61 ל-3.55 - כי ל-X2 פיזור קטן, ולכן יש בנתונים מעט מידע על השיפוע שלו. זה מה שהטבלה של pm.summary מראה במחברת. האם מרווח הוא רחב או צר - תלוי בהקשר של הבעיה.</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בדיקת השערות קלאסית מסתיימת בדחייה או אי-דחייה של השערת האפס - ולא אומרת דבר ישיר על השערת המחקר. היא דורשת בחירות שרירותיות: המבחן, השערת האפס ורמת המובהקות, ולעתים קרובות מפורשת לא נכון. הגישה החלופית היא אמידה: במקום לשאול אם שתי קבוצות שונות, אומדים כמה הן שונות, יחד עם אי-הוודאות - גם אפיסטמית, מחוסר ידע על הפרמטרים, וגם אלאטורית, מהרעש הטבעי במערכת.</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מאגר הראדון של גלמן: מדידות של גז ראדון רדיואקטיבי בבתים במינסוטה. נתמקד במחוז הנפין - 105 בתים. ה-EPA ממליצה לטפל בבית אם הריכוז הוא 4 pCi/L ומעלה. אנחנו עובדים בסקאלת לוג, ולכן הסף הוא log(4)=1.386. שתי שאלות שונות: האם הממוצע של המחוז מעל הסף, ומה ההסתברות שבית בודד, שנבחר באקראי, מעל הסף.</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מודל מלא כולל נראות לנתונים ו-prior לכל נעלם. הנתונים נראים בערך נורמליים, אז הנראות היא נורמלית עם ממוצע μ וסטיית תקן σ. ל-μ נותנים prior נורמלי רחב, כי בסקאלת לוג הממוצע יכול להיות כל מספר. ל-σ נותנים התפלגות אחידה בין 0 ל-10, חסם עליון שבוודאות גבוה מכל ערך סביר. אלה priors מפוזרים - לא מניחים ידע מוקדם.</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לפני שמריצים את המודל על הנתונים, כדאי לבדוק מה המודל חושב שסביר לפני שראה אותם: דוגמים פרמטרים מה-priors ומהם נתונים. כאן ה-priors מפוזרים מאוד - התחזיות משתרעות על עשרות יחידות לוג, בעוד שהנתונים בטווח צר. זה מקובל כשהנתונים רבים, אבל אם הסימולציות היו קיצוניות מאוד ביחס לידע שלנו - זה סימן לבעיה בניסוח המודל.</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דוגמים מהפוסטריור ומציירים את μ, עם קו ייחוס ב-log(4). החלק של ההתפלגות מימין לקו הוא ההסתברות שהממוצע מעל הסף - כ-16% (במחברת: 17.2%; ההבדל הקטן נובע מדגימה). זו תשובה ישירה לשאלה: ההסתברות הפוסטריורית שממוצע הראדון בבתי המחוז מעל 4 pCi/L. אפשר לחשב אותה גם בעצמנו: אחוז הדגימות של μ שגדולות מ-log(4).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התפלגות החיזוי הפוסטריורית: לכל זוג μ, σ מהפוסטריור מגרילים מדידה חדשה z, וכך משקללים גם את אי-הוודאות בפרמטרים וגם את השונות בין בתים. ההסתברות שבית אקראי מעל הסף היא כ-47% - הרבה יותר מ-16% של הממוצע, כי בית בודד מתפזר סביב הממוצע. pm.sample_posterior_predictive נותן את אותה תוצאה.</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בדיקה חשובה: האם המודל מסוגל לייצר נתונים שדומים לנתונים האמיתיים? מייצרים מערכי נתונים מדומים מהפוסטריור ומשווים אותם גרפית לנתונים. הקו הכהה - הנתונים - נמצא בתוך העננה של הסימולציות, ולכן ההנחה הנורמלית סבירה כאן. אפשר גם להשוות סטטיסטיים ספציפיים כמו זנבות או רבעונים.</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דוגמה בדיונית של קרושקה: ניסוי קליני לתרופה שאמורה לשפר אינטליגנציה. 47 משתתפים קיבלו את התרופה ו-42 פלצבו. בהיסטוגרמה רואים כמה ערכים חריגים - 82, 88, 123, 124. מודל נורמלי היה מושפע מהם מאוד, לכן נבחר נראות עמידה יותר.</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התפלגות t עם שלושה פרמטרים: מיקום μ, סקאלה σ ודרגות חופש ν. ככל ש-ν גדל, ההתפלגות מתקרבת לנורמלית; ν קטן נותן זנבות כבדים. בגרף רואים שלהתפלגות t עם ν=2 שיא נמוך יותר וזנבות עבים יותר מאלה של הנורמלית - ולכן ערך חריג לא מושך את הממוצע. ל-ν נותנים prior אקספוננציאלי עם ממוצע 30, שמכסה את כל הטווח - מזנבות כבדים ועד כמעט נורמלי. נניח ש-ν משותף לשתי הקבוצות.</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לכל קבוצה ממוצע וסטיית תקן משלה, ודרגות חופש ν משותפות. ה-priors לממוצעים מרוכזים סביב 100 - ידוע שזה ממוצע ה-IQ באוכלוסייה - עם סטיית תקן 10, רחבה מספיק. לסטיות התקן prior אחיד בין 0 ל-20. ν אקספוננציאלי עם ממוצע 30.</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pm.Deterministic מחשב כמות שהיא פונקציה של הפרמטרים ושומר אותה בכל דגימה. כך מקבלים התפלגות פוסטריורית מלאה של הפרש הממוצעים, וגם של גודל האפקט - ההפרש מחולק בסטיית התקן המאוחדת, שהוא בעצם d של כהן מהשיעור הקודם. גודל האפקט פחות אינטואיטיבי כי הוא לא ביחידות של הנתונים, אבל הוא משלב את כל ארבעת הפרמטרים.</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הפוסטריור של הפרש הממוצעים ושל גודל האפקט, עם קו באפס. ההסתברות הפוסטריורית שה-IQ הממוצע בקבוצת התרופה גבוה מזה של הפלצבו היא כ-99%. אבל ההפרש עצמו קטן - כנקודת IQ אחת בממוצע - וגודל האפקט 0.64 עם מרווח רחב, מ-0.08 ועד 1.18. ν יצא סביב 1.8 - זנבות כבדים מאוד, כלומר הנתונים באמת מכילים חריגים, ומודל נורמלי היה מטעה.</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מה קורה אם מחליפים את ה-prior של ν בהתפלגות אחידה בין 0 ל-30? הפוסטריורים כמעט זהים - גם של ν, גם של הפרש הממוצעים וגם של גודל האפקט. המשמעות: הנתונים מכריעים, וה-prior כמעט לא משפיע. בדיקת רגישות כזו היא הרגל טוב בכל מודל בייסיאני.</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he-IL"/>
              <a:t>לסיכום: ראינו רגרסיה לינארית בייסיאנית שמשחזרת את הפרמטרים האמיתיים עם אי-ודאות. עברנו מבדיקת השערות לאמידה, ושאלנו שאלות הסתברותיות ישירות על ממוצע הראדון. ראינו שחיזוי לבית בודד שונה מאוד מהסקה על הממוצע, ובדקנו את המודל מול הנתונים. לבסוף השווינו שתי קבוצות עם נראות t עמידה, וקיבלנו התפלגות שלמה של ההפרש ושל גודל האפקט.</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1E3F"/>
        </a:solidFill>
        <a:effectLst/>
      </p:bgPr>
    </p:bg>
    <p:spTree>
      <p:nvGrpSpPr>
        <p:cNvPr id="1" name=""/>
        <p:cNvGrpSpPr/>
        <p:nvPr/>
      </p:nvGrpSpPr>
      <p:grpSpPr>
        <a:xfrm>
          <a:off x="0" y="0"/>
          <a:ext cx="0" cy="0"/>
          <a:chOff x="0" y="0"/>
          <a:chExt cx="0" cy="0"/>
        </a:xfrm>
      </p:grpSpPr>
      <p:sp>
        <p:nvSpPr>
          <p:cNvPr id="2" name="badge α"/>
          <p:cNvSpPr/>
          <p:nvPr/>
        </p:nvSpPr>
        <p:spPr>
          <a:xfrm>
            <a:off x="822960" y="5120640"/>
            <a:ext cx="868680" cy="86868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800" b="1" i="0">
                <a:solidFill>
                  <a:srgbClr val="FFFFFF"/>
                </a:solidFill>
                <a:latin typeface="Arial"/>
                <a:cs typeface="Arial"/>
              </a:rPr>
              <a:t>α</a:t>
            </a:r>
          </a:p>
        </p:txBody>
      </p:sp>
      <p:sp>
        <p:nvSpPr>
          <p:cNvPr id="3" name="badge β"/>
          <p:cNvSpPr/>
          <p:nvPr/>
        </p:nvSpPr>
        <p:spPr>
          <a:xfrm>
            <a:off x="1874519" y="5120640"/>
            <a:ext cx="868680" cy="86868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800" b="1" i="0">
                <a:solidFill>
                  <a:srgbClr val="FFFFFF"/>
                </a:solidFill>
                <a:latin typeface="Arial"/>
                <a:cs typeface="Arial"/>
              </a:rPr>
              <a:t>β</a:t>
            </a:r>
          </a:p>
        </p:txBody>
      </p:sp>
      <p:sp>
        <p:nvSpPr>
          <p:cNvPr id="4" name="badge μ"/>
          <p:cNvSpPr/>
          <p:nvPr/>
        </p:nvSpPr>
        <p:spPr>
          <a:xfrm>
            <a:off x="2926079" y="5120640"/>
            <a:ext cx="868680" cy="86868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800" b="1" i="0">
                <a:solidFill>
                  <a:srgbClr val="FFFFFF"/>
                </a:solidFill>
                <a:latin typeface="Arial"/>
                <a:cs typeface="Arial"/>
              </a:rPr>
              <a:t>μ</a:t>
            </a:r>
          </a:p>
        </p:txBody>
      </p:sp>
      <p:sp>
        <p:nvSpPr>
          <p:cNvPr id="5" name="badge ν"/>
          <p:cNvSpPr/>
          <p:nvPr/>
        </p:nvSpPr>
        <p:spPr>
          <a:xfrm>
            <a:off x="3977639" y="5120640"/>
            <a:ext cx="868680" cy="868680"/>
          </a:xfrm>
          <a:prstGeom prst="ellipse">
            <a:avLst/>
          </a:prstGeom>
          <a:solidFill>
            <a:srgbClr val="CFC6D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800" b="1" i="0">
                <a:solidFill>
                  <a:srgbClr val="FFFFFF"/>
                </a:solidFill>
                <a:latin typeface="Arial"/>
                <a:cs typeface="Arial"/>
              </a:rPr>
              <a:t>ν</a:t>
            </a:r>
          </a:p>
        </p:txBody>
      </p:sp>
      <p:sp>
        <p:nvSpPr>
          <p:cNvPr id="6" name="Title"/>
          <p:cNvSpPr txBox="1"/>
          <p:nvPr/>
        </p:nvSpPr>
        <p:spPr>
          <a:xfrm>
            <a:off x="822960" y="1554480"/>
            <a:ext cx="10515600" cy="1280160"/>
          </a:xfrm>
          <a:prstGeom prst="rect">
            <a:avLst/>
          </a:prstGeom>
          <a:noFill/>
        </p:spPr>
        <p:txBody>
          <a:bodyPr wrap="square" lIns="45720" tIns="27432" rIns="45720" bIns="27432" anchor="ctr">
            <a:spAutoFit/>
          </a:bodyPr>
          <a:lstStyle/>
          <a:p>
            <a:pPr algn="r" rtl="1">
              <a:spcAft>
                <a:spcPts val="0"/>
              </a:spcAft>
            </a:pPr>
            <a:r>
              <a:rPr lang="he-IL" sz="4800" b="1" i="0">
                <a:solidFill>
                  <a:srgbClr val="FFFFFF"/>
                </a:solidFill>
                <a:latin typeface="Arial"/>
                <a:cs typeface="Arial"/>
              </a:rPr>
              <a:t>רגרסיה בייסיאנית ואמידה</a:t>
            </a:r>
          </a:p>
        </p:txBody>
      </p:sp>
      <p:sp>
        <p:nvSpPr>
          <p:cNvPr id="7" name="TextBox 6"/>
          <p:cNvSpPr txBox="1"/>
          <p:nvPr/>
        </p:nvSpPr>
        <p:spPr>
          <a:xfrm>
            <a:off x="822960" y="2834640"/>
            <a:ext cx="10515600" cy="1097280"/>
          </a:xfrm>
          <a:prstGeom prst="rect">
            <a:avLst/>
          </a:prstGeom>
          <a:noFill/>
        </p:spPr>
        <p:txBody>
          <a:bodyPr wrap="square" lIns="45720" tIns="27432" rIns="45720" bIns="27432" anchor="t">
            <a:spAutoFit/>
          </a:bodyPr>
          <a:lstStyle/>
          <a:p>
            <a:pPr algn="r" rtl="1">
              <a:spcAft>
                <a:spcPts val="0"/>
              </a:spcAft>
            </a:pPr>
            <a:r>
              <a:rPr lang="he-IL" sz="2200" b="0" i="0">
                <a:solidFill>
                  <a:srgbClr val="CFC6DE"/>
                </a:solidFill>
                <a:latin typeface="Arial"/>
                <a:cs typeface="Arial"/>
              </a:rPr>
              <a:t>מרגרסיה לינארית, דרך ממוצע של קבוצה אחת, ועד השוואה עמידה בין שתי קבוצות</a:t>
            </a:r>
          </a:p>
        </p:txBody>
      </p:sp>
      <p:sp>
        <p:nvSpPr>
          <p:cNvPr id="8" name="TextBox 7"/>
          <p:cNvSpPr txBox="1"/>
          <p:nvPr/>
        </p:nvSpPr>
        <p:spPr>
          <a:xfrm>
            <a:off x="5029200" y="5257800"/>
            <a:ext cx="6309360" cy="640080"/>
          </a:xfrm>
          <a:prstGeom prst="rect">
            <a:avLst/>
          </a:prstGeom>
          <a:noFill/>
        </p:spPr>
        <p:txBody>
          <a:bodyPr wrap="square" lIns="45720" tIns="27432" rIns="45720" bIns="27432" anchor="ctr">
            <a:spAutoFit/>
          </a:bodyPr>
          <a:lstStyle/>
          <a:p>
            <a:pPr algn="r" rtl="1">
              <a:spcAft>
                <a:spcPts val="0"/>
              </a:spcAft>
            </a:pPr>
            <a:r>
              <a:rPr lang="he-IL" sz="1800" b="0" i="0">
                <a:solidFill>
                  <a:srgbClr val="CFC6DE"/>
                </a:solidFill>
                <a:latin typeface="Arial"/>
                <a:cs typeface="Arial"/>
              </a:rPr>
              <a:t>מודלים בייסיאניים · שיעור 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שלושה חלקים בשיעור</a:t>
            </a:r>
          </a:p>
        </p:txBody>
      </p:sp>
      <p:sp>
        <p:nvSpPr>
          <p:cNvPr id="3" name="card"/>
          <p:cNvSpPr/>
          <p:nvPr/>
        </p:nvSpPr>
        <p:spPr>
          <a:xfrm>
            <a:off x="8101583" y="1554480"/>
            <a:ext cx="3538728" cy="3840480"/>
          </a:xfrm>
          <a:prstGeom prst="roundRect">
            <a:avLst>
              <a:gd name="adj" fmla="val 3875"/>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badge 1"/>
          <p:cNvSpPr/>
          <p:nvPr/>
        </p:nvSpPr>
        <p:spPr>
          <a:xfrm>
            <a:off x="10497312" y="1828800"/>
            <a:ext cx="868680" cy="86868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800" b="1" i="0">
                <a:solidFill>
                  <a:srgbClr val="FFFFFF"/>
                </a:solidFill>
                <a:latin typeface="Arial"/>
                <a:cs typeface="Arial"/>
              </a:rPr>
              <a:t>1</a:t>
            </a:r>
          </a:p>
        </p:txBody>
      </p:sp>
      <p:sp>
        <p:nvSpPr>
          <p:cNvPr id="5" name="TextBox 4"/>
          <p:cNvSpPr txBox="1"/>
          <p:nvPr/>
        </p:nvSpPr>
        <p:spPr>
          <a:xfrm>
            <a:off x="8375904" y="2971800"/>
            <a:ext cx="2990088" cy="822960"/>
          </a:xfrm>
          <a:prstGeom prst="rect">
            <a:avLst/>
          </a:prstGeom>
          <a:noFill/>
        </p:spPr>
        <p:txBody>
          <a:bodyPr wrap="square" lIns="45720" tIns="27432" rIns="45720" bIns="27432" anchor="t">
            <a:spAutoFit/>
          </a:bodyPr>
          <a:lstStyle/>
          <a:p>
            <a:pPr algn="r" rtl="1">
              <a:spcAft>
                <a:spcPts val="0"/>
              </a:spcAft>
            </a:pPr>
            <a:r>
              <a:rPr lang="he-IL" sz="2100" b="1" i="0">
                <a:solidFill>
                  <a:srgbClr val="2B1E3F"/>
                </a:solidFill>
                <a:latin typeface="Arial"/>
                <a:cs typeface="Arial"/>
              </a:rPr>
              <a:t>רגרסיה לינארית</a:t>
            </a:r>
          </a:p>
        </p:txBody>
      </p:sp>
      <p:sp>
        <p:nvSpPr>
          <p:cNvPr id="6" name="TextBox 5"/>
          <p:cNvSpPr txBox="1"/>
          <p:nvPr/>
        </p:nvSpPr>
        <p:spPr>
          <a:xfrm>
            <a:off x="8375904" y="3794760"/>
            <a:ext cx="2990088" cy="1463040"/>
          </a:xfrm>
          <a:prstGeom prst="rect">
            <a:avLst/>
          </a:prstGeom>
          <a:noFill/>
        </p:spPr>
        <p:txBody>
          <a:bodyPr wrap="square" lIns="45720" tIns="27432" rIns="45720" bIns="27432" anchor="t">
            <a:spAutoFit/>
          </a:bodyPr>
          <a:lstStyle/>
          <a:p>
            <a:pPr algn="r" rtl="1">
              <a:spcAft>
                <a:spcPts val="0"/>
              </a:spcAft>
            </a:pPr>
            <a:r>
              <a:rPr lang="he-IL" sz="1600" b="0" i="0">
                <a:solidFill>
                  <a:srgbClr val="6B6478"/>
                </a:solidFill>
                <a:latin typeface="Arial"/>
                <a:cs typeface="Arial"/>
              </a:rPr>
              <a:t>נתונים מדומים, פרמטרים אמיתיים ידועים — האם המודל משחזר אותם?</a:t>
            </a:r>
          </a:p>
        </p:txBody>
      </p:sp>
      <p:sp>
        <p:nvSpPr>
          <p:cNvPr id="7" name="card"/>
          <p:cNvSpPr/>
          <p:nvPr/>
        </p:nvSpPr>
        <p:spPr>
          <a:xfrm>
            <a:off x="4325112" y="1554480"/>
            <a:ext cx="3538728" cy="3840480"/>
          </a:xfrm>
          <a:prstGeom prst="roundRect">
            <a:avLst>
              <a:gd name="adj" fmla="val 3875"/>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badge 2"/>
          <p:cNvSpPr/>
          <p:nvPr/>
        </p:nvSpPr>
        <p:spPr>
          <a:xfrm>
            <a:off x="6720840" y="1828800"/>
            <a:ext cx="868680" cy="86868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800" b="1" i="0">
                <a:solidFill>
                  <a:srgbClr val="FFFFFF"/>
                </a:solidFill>
                <a:latin typeface="Arial"/>
                <a:cs typeface="Arial"/>
              </a:rPr>
              <a:t>2</a:t>
            </a:r>
          </a:p>
        </p:txBody>
      </p:sp>
      <p:sp>
        <p:nvSpPr>
          <p:cNvPr id="9" name="TextBox 8"/>
          <p:cNvSpPr txBox="1"/>
          <p:nvPr/>
        </p:nvSpPr>
        <p:spPr>
          <a:xfrm>
            <a:off x="4599431" y="2971800"/>
            <a:ext cx="2990088" cy="822960"/>
          </a:xfrm>
          <a:prstGeom prst="rect">
            <a:avLst/>
          </a:prstGeom>
          <a:noFill/>
        </p:spPr>
        <p:txBody>
          <a:bodyPr wrap="square" lIns="45720" tIns="27432" rIns="45720" bIns="27432" anchor="t">
            <a:spAutoFit/>
          </a:bodyPr>
          <a:lstStyle/>
          <a:p>
            <a:pPr algn="r" rtl="1">
              <a:spcAft>
                <a:spcPts val="0"/>
              </a:spcAft>
            </a:pPr>
            <a:r>
              <a:rPr lang="he-IL" sz="2100" b="1" i="0">
                <a:solidFill>
                  <a:srgbClr val="2B1E3F"/>
                </a:solidFill>
                <a:latin typeface="Arial"/>
                <a:cs typeface="Arial"/>
              </a:rPr>
              <a:t>קבוצה אחת: ראדון</a:t>
            </a:r>
          </a:p>
        </p:txBody>
      </p:sp>
      <p:sp>
        <p:nvSpPr>
          <p:cNvPr id="10" name="TextBox 9"/>
          <p:cNvSpPr txBox="1"/>
          <p:nvPr/>
        </p:nvSpPr>
        <p:spPr>
          <a:xfrm>
            <a:off x="4599431" y="3794760"/>
            <a:ext cx="2990088" cy="1463040"/>
          </a:xfrm>
          <a:prstGeom prst="rect">
            <a:avLst/>
          </a:prstGeom>
          <a:noFill/>
        </p:spPr>
        <p:txBody>
          <a:bodyPr wrap="square" lIns="45720" tIns="27432" rIns="45720" bIns="27432" anchor="t">
            <a:spAutoFit/>
          </a:bodyPr>
          <a:lstStyle/>
          <a:p>
            <a:pPr algn="r" rtl="1">
              <a:spcAft>
                <a:spcPts val="0"/>
              </a:spcAft>
            </a:pPr>
            <a:r>
              <a:rPr lang="he-IL" sz="1600" b="0" i="0">
                <a:solidFill>
                  <a:srgbClr val="6B6478"/>
                </a:solidFill>
                <a:latin typeface="Arial"/>
                <a:cs typeface="Arial"/>
              </a:rPr>
              <a:t>האם ריכוז הראדון הממוצע במחוז הנפין עובר את סף ה-EPA?</a:t>
            </a:r>
          </a:p>
        </p:txBody>
      </p:sp>
      <p:sp>
        <p:nvSpPr>
          <p:cNvPr id="11" name="card"/>
          <p:cNvSpPr/>
          <p:nvPr/>
        </p:nvSpPr>
        <p:spPr>
          <a:xfrm>
            <a:off x="548640" y="1554480"/>
            <a:ext cx="3538728" cy="3840480"/>
          </a:xfrm>
          <a:prstGeom prst="roundRect">
            <a:avLst>
              <a:gd name="adj" fmla="val 3875"/>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badge 3"/>
          <p:cNvSpPr/>
          <p:nvPr/>
        </p:nvSpPr>
        <p:spPr>
          <a:xfrm>
            <a:off x="2944368" y="1828800"/>
            <a:ext cx="868680" cy="86868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800" b="1" i="0">
                <a:solidFill>
                  <a:srgbClr val="FFFFFF"/>
                </a:solidFill>
                <a:latin typeface="Arial"/>
                <a:cs typeface="Arial"/>
              </a:rPr>
              <a:t>3</a:t>
            </a:r>
          </a:p>
        </p:txBody>
      </p:sp>
      <p:sp>
        <p:nvSpPr>
          <p:cNvPr id="13" name="TextBox 12"/>
          <p:cNvSpPr txBox="1"/>
          <p:nvPr/>
        </p:nvSpPr>
        <p:spPr>
          <a:xfrm>
            <a:off x="822959" y="2971800"/>
            <a:ext cx="2990088" cy="822960"/>
          </a:xfrm>
          <a:prstGeom prst="rect">
            <a:avLst/>
          </a:prstGeom>
          <a:noFill/>
        </p:spPr>
        <p:txBody>
          <a:bodyPr wrap="square" lIns="45720" tIns="27432" rIns="45720" bIns="27432" anchor="t">
            <a:spAutoFit/>
          </a:bodyPr>
          <a:lstStyle/>
          <a:p>
            <a:pPr algn="r" rtl="1">
              <a:spcAft>
                <a:spcPts val="0"/>
              </a:spcAft>
            </a:pPr>
            <a:r>
              <a:rPr lang="he-IL" sz="2100" b="1" i="0">
                <a:solidFill>
                  <a:srgbClr val="2B1E3F"/>
                </a:solidFill>
                <a:latin typeface="Arial"/>
                <a:cs typeface="Arial"/>
              </a:rPr>
              <a:t>שתי קבוצות: תרופה מול פלצבו</a:t>
            </a:r>
          </a:p>
        </p:txBody>
      </p:sp>
      <p:sp>
        <p:nvSpPr>
          <p:cNvPr id="14" name="TextBox 13"/>
          <p:cNvSpPr txBox="1"/>
          <p:nvPr/>
        </p:nvSpPr>
        <p:spPr>
          <a:xfrm>
            <a:off x="822959" y="3794760"/>
            <a:ext cx="2990088" cy="1463040"/>
          </a:xfrm>
          <a:prstGeom prst="rect">
            <a:avLst/>
          </a:prstGeom>
          <a:noFill/>
        </p:spPr>
        <p:txBody>
          <a:bodyPr wrap="square" lIns="45720" tIns="27432" rIns="45720" bIns="27432" anchor="t">
            <a:spAutoFit/>
          </a:bodyPr>
          <a:lstStyle/>
          <a:p>
            <a:pPr algn="r" rtl="1">
              <a:spcAft>
                <a:spcPts val="0"/>
              </a:spcAft>
            </a:pPr>
            <a:r>
              <a:rPr lang="he-IL" sz="1600" b="0" i="0">
                <a:solidFill>
                  <a:srgbClr val="6B6478"/>
                </a:solidFill>
                <a:latin typeface="Arial"/>
                <a:cs typeface="Arial"/>
              </a:rPr>
              <a:t>האם תרופה “חכמה” מעלה IQ? מודל t עמיד לחריגים</a:t>
            </a:r>
          </a:p>
        </p:txBody>
      </p:sp>
      <p:sp>
        <p:nvSpPr>
          <p:cNvPr id="15" name="card"/>
          <p:cNvSpPr/>
          <p:nvPr/>
        </p:nvSpPr>
        <p:spPr>
          <a:xfrm>
            <a:off x="548640" y="5623560"/>
            <a:ext cx="11091672" cy="731520"/>
          </a:xfrm>
          <a:prstGeom prst="roundRect">
            <a:avLst>
              <a:gd name="adj" fmla="val 18749"/>
            </a:avLst>
          </a:prstGeom>
          <a:solidFill>
            <a:srgbClr val="E6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5623560"/>
            <a:ext cx="10634472" cy="731520"/>
          </a:xfrm>
          <a:prstGeom prst="rect">
            <a:avLst/>
          </a:prstGeom>
          <a:noFill/>
        </p:spPr>
        <p:txBody>
          <a:bodyPr wrap="square" lIns="45720" tIns="27432" rIns="45720" bIns="27432" anchor="ctr">
            <a:spAutoFit/>
          </a:bodyPr>
          <a:lstStyle/>
          <a:p>
            <a:pPr algn="r" rtl="1">
              <a:spcAft>
                <a:spcPts val="0"/>
              </a:spcAft>
            </a:pPr>
            <a:r>
              <a:rPr lang="he-IL" sz="1700" b="1" i="0">
                <a:solidFill>
                  <a:srgbClr val="7B5EA7"/>
                </a:solidFill>
                <a:latin typeface="Arial"/>
                <a:cs typeface="Arial"/>
              </a:rPr>
              <a:t>החוט המקשר: במקום “מובהק / לא מובהק” — התפלגות פוסטריורית של הכמות שמעניינת אותנו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חלק 1: נתונים מדומים לרגרסיה</a:t>
            </a:r>
          </a:p>
        </p:txBody>
      </p:sp>
      <p:pic>
        <p:nvPicPr>
          <p:cNvPr id="3" name="Picture 2" descr="reg_scatter.png"/>
          <p:cNvPicPr>
            <a:picLocks noChangeAspect="1"/>
          </p:cNvPicPr>
          <p:nvPr/>
        </p:nvPicPr>
        <p:blipFill>
          <a:blip r:embed="rId3"/>
          <a:stretch>
            <a:fillRect/>
          </a:stretch>
        </p:blipFill>
        <p:spPr>
          <a:xfrm>
            <a:off x="772572" y="1371600"/>
            <a:ext cx="6318695" cy="2926080"/>
          </a:xfrm>
          <a:prstGeom prst="rect">
            <a:avLst/>
          </a:prstGeom>
        </p:spPr>
      </p:pic>
      <p:sp>
        <p:nvSpPr>
          <p:cNvPr id="4" name="code block"/>
          <p:cNvSpPr/>
          <p:nvPr/>
        </p:nvSpPr>
        <p:spPr>
          <a:xfrm>
            <a:off x="548640" y="4434840"/>
            <a:ext cx="6766560" cy="1874519"/>
          </a:xfrm>
          <a:prstGeom prst="roundRect">
            <a:avLst>
              <a:gd name="adj" fmla="val 5853"/>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
          <p:cNvSpPr txBox="1"/>
          <p:nvPr/>
        </p:nvSpPr>
        <p:spPr>
          <a:xfrm>
            <a:off x="777240" y="4617720"/>
            <a:ext cx="6309360" cy="1508760"/>
          </a:xfrm>
          <a:prstGeom prst="rect">
            <a:avLst/>
          </a:prstGeom>
          <a:noFill/>
        </p:spPr>
        <p:txBody>
          <a:bodyPr wrap="square">
            <a:spAutoFit/>
          </a:bodyPr>
          <a:lstStyle/>
          <a:p>
            <a:pPr algn="l" rtl="0">
              <a:spcAft>
                <a:spcPts val="0"/>
              </a:spcAft>
            </a:pPr>
            <a:r>
              <a:rPr lang="en-US" sz="1200" b="0" i="0">
                <a:solidFill>
                  <a:srgbClr val="EDE8F5"/>
                </a:solidFill>
                <a:latin typeface="Courier New"/>
                <a:cs typeface="Courier New"/>
              </a:rPr>
              <a:t>alpha, sigma = 1, 1</a:t>
            </a:r>
          </a:p>
          <a:p>
            <a:pPr algn="l" rtl="0">
              <a:spcAft>
                <a:spcPts val="0"/>
              </a:spcAft>
            </a:pPr>
            <a:r>
              <a:rPr lang="en-US" sz="1200" b="0" i="0">
                <a:solidFill>
                  <a:srgbClr val="EDE8F5"/>
                </a:solidFill>
                <a:latin typeface="Courier New"/>
                <a:cs typeface="Courier New"/>
              </a:rPr>
              <a:t>beta = [1, 2.5]</a:t>
            </a:r>
          </a:p>
          <a:p>
            <a:pPr algn="l" rtl="0">
              <a:spcAft>
                <a:spcPts val="0"/>
              </a:spcAft>
            </a:pPr>
            <a:r>
              <a:rPr lang="en-US" sz="1200" b="0" i="0">
                <a:solidFill>
                  <a:srgbClr val="EDE8F5"/>
                </a:solidFill>
                <a:latin typeface="Courier New"/>
                <a:cs typeface="Courier New"/>
              </a:rPr>
              <a:t>X1 = np.random.randn(100)</a:t>
            </a:r>
          </a:p>
          <a:p>
            <a:pPr algn="l" rtl="0">
              <a:spcAft>
                <a:spcPts val="0"/>
              </a:spcAft>
            </a:pPr>
            <a:r>
              <a:rPr lang="en-US" sz="1200" b="0" i="0">
                <a:solidFill>
                  <a:srgbClr val="EDE8F5"/>
                </a:solidFill>
                <a:latin typeface="Courier New"/>
                <a:cs typeface="Courier New"/>
              </a:rPr>
              <a:t>X2 = np.random.randn(100) * 0.2</a:t>
            </a:r>
          </a:p>
          <a:p>
            <a:pPr algn="l" rtl="0">
              <a:spcAft>
                <a:spcPts val="0"/>
              </a:spcAft>
            </a:pPr>
            <a:r>
              <a:rPr lang="en-US" sz="1200" b="0" i="0">
                <a:solidFill>
                  <a:srgbClr val="EDE8F5"/>
                </a:solidFill>
                <a:latin typeface="Courier New"/>
                <a:cs typeface="Courier New"/>
              </a:rPr>
              <a:t>Y = alpha + beta[0]*X1 + beta[1]*X2 \</a:t>
            </a:r>
          </a:p>
          <a:p>
            <a:pPr algn="l" rtl="0">
              <a:spcAft>
                <a:spcPts val="0"/>
              </a:spcAft>
            </a:pPr>
            <a:r>
              <a:rPr lang="en-US" sz="1200" b="0" i="0">
                <a:solidFill>
                  <a:srgbClr val="EDE8F5"/>
                </a:solidFill>
                <a:latin typeface="Courier New"/>
                <a:cs typeface="Courier New"/>
              </a:rPr>
              <a:t>    + np.random.randn(100)*sigma</a:t>
            </a:r>
          </a:p>
        </p:txBody>
      </p:sp>
      <p:sp>
        <p:nvSpPr>
          <p:cNvPr id="6" name="card"/>
          <p:cNvSpPr/>
          <p:nvPr/>
        </p:nvSpPr>
        <p:spPr>
          <a:xfrm>
            <a:off x="10607040" y="1463040"/>
            <a:ext cx="914400" cy="1280160"/>
          </a:xfrm>
          <a:prstGeom prst="roundRect">
            <a:avLst>
              <a:gd name="adj" fmla="val 15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607040" y="1536192"/>
            <a:ext cx="914400" cy="640080"/>
          </a:xfrm>
          <a:prstGeom prst="rect">
            <a:avLst/>
          </a:prstGeom>
          <a:noFill/>
        </p:spPr>
        <p:txBody>
          <a:bodyPr wrap="square" lIns="45720" tIns="27432" rIns="45720" bIns="27432" anchor="ctr">
            <a:spAutoFit/>
          </a:bodyPr>
          <a:lstStyle/>
          <a:p>
            <a:pPr algn="ctr" rtl="1">
              <a:spcAft>
                <a:spcPts val="0"/>
              </a:spcAft>
            </a:pPr>
            <a:r>
              <a:rPr lang="he-IL" sz="2200" b="1" i="0">
                <a:solidFill>
                  <a:srgbClr val="2B1E3F"/>
                </a:solidFill>
                <a:latin typeface="Arial"/>
                <a:cs typeface="Arial"/>
              </a:rPr>
              <a:t>1</a:t>
            </a:r>
          </a:p>
        </p:txBody>
      </p:sp>
      <p:sp>
        <p:nvSpPr>
          <p:cNvPr id="8" name="TextBox 7"/>
          <p:cNvSpPr txBox="1"/>
          <p:nvPr/>
        </p:nvSpPr>
        <p:spPr>
          <a:xfrm>
            <a:off x="10652760" y="2167128"/>
            <a:ext cx="822960" cy="512063"/>
          </a:xfrm>
          <a:prstGeom prst="rect">
            <a:avLst/>
          </a:prstGeom>
          <a:noFill/>
        </p:spPr>
        <p:txBody>
          <a:bodyPr wrap="square" lIns="45720" tIns="27432" rIns="45720" bIns="27432" anchor="t">
            <a:spAutoFit/>
          </a:bodyPr>
          <a:lstStyle/>
          <a:p>
            <a:pPr algn="ctr" rtl="1">
              <a:spcAft>
                <a:spcPts val="0"/>
              </a:spcAft>
            </a:pPr>
            <a:r>
              <a:rPr lang="en-US" sz="1500" b="0" i="0">
                <a:solidFill>
                  <a:srgbClr val="6B6478"/>
                </a:solidFill>
                <a:latin typeface="Arial"/>
                <a:cs typeface="Arial"/>
              </a:rPr>
              <a:t>α</a:t>
            </a:r>
          </a:p>
        </p:txBody>
      </p:sp>
      <p:sp>
        <p:nvSpPr>
          <p:cNvPr id="9" name="card"/>
          <p:cNvSpPr/>
          <p:nvPr/>
        </p:nvSpPr>
        <p:spPr>
          <a:xfrm>
            <a:off x="9628632" y="1463040"/>
            <a:ext cx="914400" cy="1280160"/>
          </a:xfrm>
          <a:prstGeom prst="roundRect">
            <a:avLst>
              <a:gd name="adj" fmla="val 15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28632" y="1536192"/>
            <a:ext cx="914400" cy="640080"/>
          </a:xfrm>
          <a:prstGeom prst="rect">
            <a:avLst/>
          </a:prstGeom>
          <a:noFill/>
        </p:spPr>
        <p:txBody>
          <a:bodyPr wrap="square" lIns="45720" tIns="27432" rIns="45720" bIns="27432" anchor="ctr">
            <a:spAutoFit/>
          </a:bodyPr>
          <a:lstStyle/>
          <a:p>
            <a:pPr algn="ctr" rtl="1">
              <a:spcAft>
                <a:spcPts val="0"/>
              </a:spcAft>
            </a:pPr>
            <a:r>
              <a:rPr lang="he-IL" sz="2200" b="1" i="0">
                <a:solidFill>
                  <a:srgbClr val="17A398"/>
                </a:solidFill>
                <a:latin typeface="Arial"/>
                <a:cs typeface="Arial"/>
              </a:rPr>
              <a:t>1</a:t>
            </a:r>
          </a:p>
        </p:txBody>
      </p:sp>
      <p:sp>
        <p:nvSpPr>
          <p:cNvPr id="11" name="TextBox 10"/>
          <p:cNvSpPr txBox="1"/>
          <p:nvPr/>
        </p:nvSpPr>
        <p:spPr>
          <a:xfrm>
            <a:off x="9674352" y="2167128"/>
            <a:ext cx="822960" cy="512063"/>
          </a:xfrm>
          <a:prstGeom prst="rect">
            <a:avLst/>
          </a:prstGeom>
          <a:noFill/>
        </p:spPr>
        <p:txBody>
          <a:bodyPr wrap="square" lIns="45720" tIns="27432" rIns="45720" bIns="27432" anchor="t">
            <a:spAutoFit/>
          </a:bodyPr>
          <a:lstStyle/>
          <a:p>
            <a:pPr algn="ctr" rtl="1">
              <a:spcAft>
                <a:spcPts val="0"/>
              </a:spcAft>
            </a:pPr>
            <a:r>
              <a:rPr lang="en-US" sz="1500" b="0" i="0">
                <a:solidFill>
                  <a:srgbClr val="6B6478"/>
                </a:solidFill>
                <a:latin typeface="Arial"/>
                <a:cs typeface="Arial"/>
              </a:rPr>
              <a:t>β₁</a:t>
            </a:r>
          </a:p>
        </p:txBody>
      </p:sp>
      <p:sp>
        <p:nvSpPr>
          <p:cNvPr id="12" name="card"/>
          <p:cNvSpPr/>
          <p:nvPr/>
        </p:nvSpPr>
        <p:spPr>
          <a:xfrm>
            <a:off x="8650224" y="1463040"/>
            <a:ext cx="914400" cy="1280160"/>
          </a:xfrm>
          <a:prstGeom prst="roundRect">
            <a:avLst>
              <a:gd name="adj" fmla="val 15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50224" y="1536192"/>
            <a:ext cx="914400" cy="640080"/>
          </a:xfrm>
          <a:prstGeom prst="rect">
            <a:avLst/>
          </a:prstGeom>
          <a:noFill/>
        </p:spPr>
        <p:txBody>
          <a:bodyPr wrap="square" lIns="45720" tIns="27432" rIns="45720" bIns="27432" anchor="ctr">
            <a:spAutoFit/>
          </a:bodyPr>
          <a:lstStyle/>
          <a:p>
            <a:pPr algn="ctr" rtl="1">
              <a:spcAft>
                <a:spcPts val="0"/>
              </a:spcAft>
            </a:pPr>
            <a:r>
              <a:rPr lang="he-IL" sz="2200" b="1" i="0">
                <a:solidFill>
                  <a:srgbClr val="7B5EA7"/>
                </a:solidFill>
                <a:latin typeface="Arial"/>
                <a:cs typeface="Arial"/>
              </a:rPr>
              <a:t>2.5</a:t>
            </a:r>
          </a:p>
        </p:txBody>
      </p:sp>
      <p:sp>
        <p:nvSpPr>
          <p:cNvPr id="14" name="TextBox 13"/>
          <p:cNvSpPr txBox="1"/>
          <p:nvPr/>
        </p:nvSpPr>
        <p:spPr>
          <a:xfrm>
            <a:off x="8695944" y="2167128"/>
            <a:ext cx="822960" cy="512063"/>
          </a:xfrm>
          <a:prstGeom prst="rect">
            <a:avLst/>
          </a:prstGeom>
          <a:noFill/>
        </p:spPr>
        <p:txBody>
          <a:bodyPr wrap="square" lIns="45720" tIns="27432" rIns="45720" bIns="27432" anchor="t">
            <a:spAutoFit/>
          </a:bodyPr>
          <a:lstStyle/>
          <a:p>
            <a:pPr algn="ctr" rtl="1">
              <a:spcAft>
                <a:spcPts val="0"/>
              </a:spcAft>
            </a:pPr>
            <a:r>
              <a:rPr lang="en-US" sz="1500" b="0" i="0">
                <a:solidFill>
                  <a:srgbClr val="6B6478"/>
                </a:solidFill>
                <a:latin typeface="Arial"/>
                <a:cs typeface="Arial"/>
              </a:rPr>
              <a:t>β₂</a:t>
            </a:r>
          </a:p>
        </p:txBody>
      </p:sp>
      <p:sp>
        <p:nvSpPr>
          <p:cNvPr id="15" name="card"/>
          <p:cNvSpPr/>
          <p:nvPr/>
        </p:nvSpPr>
        <p:spPr>
          <a:xfrm>
            <a:off x="7671816" y="1463040"/>
            <a:ext cx="914400" cy="1280160"/>
          </a:xfrm>
          <a:prstGeom prst="roundRect">
            <a:avLst>
              <a:gd name="adj" fmla="val 15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71816" y="1536192"/>
            <a:ext cx="914400" cy="640080"/>
          </a:xfrm>
          <a:prstGeom prst="rect">
            <a:avLst/>
          </a:prstGeom>
          <a:noFill/>
        </p:spPr>
        <p:txBody>
          <a:bodyPr wrap="square" lIns="45720" tIns="27432" rIns="45720" bIns="27432" anchor="ctr">
            <a:spAutoFit/>
          </a:bodyPr>
          <a:lstStyle/>
          <a:p>
            <a:pPr algn="ctr" rtl="1">
              <a:spcAft>
                <a:spcPts val="0"/>
              </a:spcAft>
            </a:pPr>
            <a:r>
              <a:rPr lang="he-IL" sz="2200" b="1" i="0">
                <a:solidFill>
                  <a:srgbClr val="E4572E"/>
                </a:solidFill>
                <a:latin typeface="Arial"/>
                <a:cs typeface="Arial"/>
              </a:rPr>
              <a:t>1</a:t>
            </a:r>
          </a:p>
        </p:txBody>
      </p:sp>
      <p:sp>
        <p:nvSpPr>
          <p:cNvPr id="17" name="TextBox 16"/>
          <p:cNvSpPr txBox="1"/>
          <p:nvPr/>
        </p:nvSpPr>
        <p:spPr>
          <a:xfrm>
            <a:off x="7717536" y="2167128"/>
            <a:ext cx="822960" cy="512063"/>
          </a:xfrm>
          <a:prstGeom prst="rect">
            <a:avLst/>
          </a:prstGeom>
          <a:noFill/>
        </p:spPr>
        <p:txBody>
          <a:bodyPr wrap="square" lIns="45720" tIns="27432" rIns="45720" bIns="27432" anchor="t">
            <a:spAutoFit/>
          </a:bodyPr>
          <a:lstStyle/>
          <a:p>
            <a:pPr algn="ctr" rtl="1">
              <a:spcAft>
                <a:spcPts val="0"/>
              </a:spcAft>
            </a:pPr>
            <a:r>
              <a:rPr lang="en-US" sz="1500" b="0" i="0">
                <a:solidFill>
                  <a:srgbClr val="6B6478"/>
                </a:solidFill>
                <a:latin typeface="Arial"/>
                <a:cs typeface="Arial"/>
              </a:rPr>
              <a:t>σ</a:t>
            </a:r>
          </a:p>
        </p:txBody>
      </p:sp>
      <p:sp>
        <p:nvSpPr>
          <p:cNvPr id="18" name="TextBox 17"/>
          <p:cNvSpPr txBox="1"/>
          <p:nvPr/>
        </p:nvSpPr>
        <p:spPr>
          <a:xfrm>
            <a:off x="7589520" y="3063240"/>
            <a:ext cx="4050791" cy="457200"/>
          </a:xfrm>
          <a:prstGeom prst="rect">
            <a:avLst/>
          </a:prstGeom>
          <a:noFill/>
        </p:spPr>
        <p:txBody>
          <a:bodyPr wrap="square" lIns="45720" tIns="27432" rIns="45720" bIns="27432" anchor="t">
            <a:spAutoFit/>
          </a:bodyPr>
          <a:lstStyle/>
          <a:p>
            <a:pPr algn="r" rtl="1">
              <a:spcAft>
                <a:spcPts val="0"/>
              </a:spcAft>
            </a:pPr>
            <a:r>
              <a:rPr lang="he-IL" sz="1500" b="0" i="0">
                <a:solidFill>
                  <a:srgbClr val="6B6478"/>
                </a:solidFill>
                <a:latin typeface="Arial"/>
                <a:cs typeface="Arial"/>
              </a:rPr>
              <a:t>הערכים האמיתיים — ידועים לנו מראש</a:t>
            </a:r>
          </a:p>
        </p:txBody>
      </p:sp>
      <p:sp>
        <p:nvSpPr>
          <p:cNvPr id="19" name="TextBox 18"/>
          <p:cNvSpPr txBox="1"/>
          <p:nvPr/>
        </p:nvSpPr>
        <p:spPr>
          <a:xfrm>
            <a:off x="7589520" y="3657600"/>
            <a:ext cx="4050791" cy="2560320"/>
          </a:xfrm>
          <a:prstGeom prst="rect">
            <a:avLst/>
          </a:prstGeom>
          <a:noFill/>
        </p:spPr>
        <p:txBody>
          <a:bodyPr wrap="square" lIns="45720" tIns="27432" rIns="45720" bIns="27432" anchor="t">
            <a:spAutoFit/>
          </a:bodyPr>
          <a:lstStyle/>
          <a:p>
            <a:pPr marR="274320" indent="-274320" algn="r" rtl="1">
              <a:spcAft>
                <a:spcPts val="1000"/>
              </a:spcAft>
              <a:buClr>
                <a:srgbClr val="17A398"/>
              </a:buClr>
              <a:buFont typeface="Arial"/>
              <a:buChar char="•"/>
            </a:pPr>
            <a:r>
              <a:rPr lang="he-IL" sz="1600" b="0" i="0">
                <a:solidFill>
                  <a:srgbClr val="2B1E3F"/>
                </a:solidFill>
                <a:latin typeface="Arial"/>
                <a:cs typeface="Arial"/>
              </a:rPr>
              <a:t>100 תצפיות, שני משתנים מסבירים</a:t>
            </a:r>
          </a:p>
          <a:p>
            <a:pPr marR="274320" indent="-274320" algn="r" rtl="1">
              <a:spcAft>
                <a:spcPts val="1000"/>
              </a:spcAft>
              <a:buClr>
                <a:srgbClr val="17A398"/>
              </a:buClr>
              <a:buFont typeface="Arial"/>
              <a:buChar char="•"/>
            </a:pPr>
            <a:r>
              <a:rPr lang="en-US" sz="1600" b="0" i="0">
                <a:solidFill>
                  <a:srgbClr val="2B1E3F"/>
                </a:solidFill>
                <a:latin typeface="Arial"/>
                <a:cs typeface="Arial"/>
              </a:rPr>
              <a:t>‪X1‬</a:t>
            </a:r>
            <a:r>
              <a:rPr lang="he-IL" sz="1600" b="0" i="0">
                <a:solidFill>
                  <a:srgbClr val="2B1E3F"/>
                </a:solidFill>
                <a:latin typeface="Arial"/>
                <a:cs typeface="Arial"/>
              </a:rPr>
              <a:t> — קשר חזק וברור עם Y</a:t>
            </a:r>
          </a:p>
          <a:p>
            <a:pPr marR="274320" indent="-274320" algn="r" rtl="1">
              <a:spcAft>
                <a:spcPts val="1000"/>
              </a:spcAft>
              <a:buClr>
                <a:srgbClr val="17A398"/>
              </a:buClr>
              <a:buFont typeface="Arial"/>
              <a:buChar char="•"/>
            </a:pPr>
            <a:r>
              <a:rPr lang="en-US" sz="1600" b="0" i="0">
                <a:solidFill>
                  <a:srgbClr val="2B1E3F"/>
                </a:solidFill>
                <a:latin typeface="Arial"/>
                <a:cs typeface="Arial"/>
              </a:rPr>
              <a:t>‪X2‬</a:t>
            </a:r>
            <a:r>
              <a:rPr lang="he-IL" sz="1600" b="0" i="0">
                <a:solidFill>
                  <a:srgbClr val="2B1E3F"/>
                </a:solidFill>
                <a:latin typeface="Arial"/>
                <a:cs typeface="Arial"/>
              </a:rPr>
              <a:t> — פיזור קטן פי 5, ולכן הקשר פחות בולט</a:t>
            </a:r>
          </a:p>
          <a:p>
            <a:pPr marR="274320" indent="-274320" algn="r" rtl="1">
              <a:spcAft>
                <a:spcPts val="1000"/>
              </a:spcAft>
              <a:buClr>
                <a:srgbClr val="17A398"/>
              </a:buClr>
              <a:buFont typeface="Arial"/>
              <a:buChar char="•"/>
            </a:pPr>
            <a:r>
              <a:rPr lang="he-IL" sz="1600" b="0" i="0">
                <a:solidFill>
                  <a:srgbClr val="2B1E3F"/>
                </a:solidFill>
                <a:latin typeface="Arial"/>
                <a:cs typeface="Arial"/>
              </a:rPr>
              <a:t>המטרה: לבדוק שהמודל משחזר את הערכים</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המודל: רגרסיה לינארית בייסיאנית</a:t>
            </a:r>
          </a:p>
        </p:txBody>
      </p:sp>
      <p:sp>
        <p:nvSpPr>
          <p:cNvPr id="3" name="card"/>
          <p:cNvSpPr/>
          <p:nvPr/>
        </p:nvSpPr>
        <p:spPr>
          <a:xfrm>
            <a:off x="548640" y="1463040"/>
            <a:ext cx="11091672" cy="1828800"/>
          </a:xfrm>
          <a:prstGeom prst="roundRect">
            <a:avLst>
              <a:gd name="adj" fmla="val 75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eq_reg_like.png"/>
          <p:cNvPicPr>
            <a:picLocks noChangeAspect="1"/>
          </p:cNvPicPr>
          <p:nvPr/>
        </p:nvPicPr>
        <p:blipFill>
          <a:blip r:embed="rId3"/>
          <a:stretch>
            <a:fillRect/>
          </a:stretch>
        </p:blipFill>
        <p:spPr>
          <a:xfrm>
            <a:off x="822960" y="1645920"/>
            <a:ext cx="5860575" cy="566928"/>
          </a:xfrm>
          <a:prstGeom prst="rect">
            <a:avLst/>
          </a:prstGeom>
        </p:spPr>
      </p:pic>
      <p:pic>
        <p:nvPicPr>
          <p:cNvPr id="5" name="Picture 4" descr="eq_reg_prior.png"/>
          <p:cNvPicPr>
            <a:picLocks noChangeAspect="1"/>
          </p:cNvPicPr>
          <p:nvPr/>
        </p:nvPicPr>
        <p:blipFill>
          <a:blip r:embed="rId4"/>
          <a:stretch>
            <a:fillRect/>
          </a:stretch>
        </p:blipFill>
        <p:spPr>
          <a:xfrm>
            <a:off x="822960" y="2468880"/>
            <a:ext cx="6387548" cy="457200"/>
          </a:xfrm>
          <a:prstGeom prst="rect">
            <a:avLst/>
          </a:prstGeom>
        </p:spPr>
      </p:pic>
      <p:sp>
        <p:nvSpPr>
          <p:cNvPr id="6" name="TextBox 5"/>
          <p:cNvSpPr txBox="1"/>
          <p:nvPr/>
        </p:nvSpPr>
        <p:spPr>
          <a:xfrm>
            <a:off x="7589520" y="1600200"/>
            <a:ext cx="3840480" cy="1554480"/>
          </a:xfrm>
          <a:prstGeom prst="rect">
            <a:avLst/>
          </a:prstGeom>
          <a:noFill/>
        </p:spPr>
        <p:txBody>
          <a:bodyPr wrap="square" lIns="45720" tIns="27432" rIns="45720" bIns="27432" anchor="t">
            <a:spAutoFit/>
          </a:bodyPr>
          <a:lstStyle/>
          <a:p>
            <a:pPr marR="274320" indent="-274320" algn="r" rtl="1">
              <a:spcAft>
                <a:spcPts val="1000"/>
              </a:spcAft>
              <a:buClr>
                <a:srgbClr val="17A398"/>
              </a:buClr>
              <a:buFont typeface="Arial"/>
              <a:buChar char="•"/>
            </a:pPr>
            <a:r>
              <a:rPr lang="he-IL" sz="1600" b="0" i="0">
                <a:solidFill>
                  <a:srgbClr val="2B1E3F"/>
                </a:solidFill>
                <a:latin typeface="Arial"/>
                <a:cs typeface="Arial"/>
              </a:rPr>
              <a:t>הנראות: Y נורמלי סביב קו הרגרסיה</a:t>
            </a:r>
          </a:p>
          <a:p>
            <a:pPr marR="274320" indent="-274320" algn="r" rtl="1">
              <a:spcAft>
                <a:spcPts val="1000"/>
              </a:spcAft>
              <a:buClr>
                <a:srgbClr val="17A398"/>
              </a:buClr>
              <a:buFont typeface="Arial"/>
              <a:buChar char="•"/>
            </a:pPr>
            <a:r>
              <a:rPr lang="he-IL" sz="1600" b="0" i="0">
                <a:solidFill>
                  <a:srgbClr val="2B1E3F"/>
                </a:solidFill>
                <a:latin typeface="Arial"/>
                <a:cs typeface="Arial"/>
              </a:rPr>
              <a:t>priors רחבים מאוד — כמעט לא מגבילים</a:t>
            </a:r>
          </a:p>
        </p:txBody>
      </p:sp>
      <p:sp>
        <p:nvSpPr>
          <p:cNvPr id="7" name="code block"/>
          <p:cNvSpPr/>
          <p:nvPr/>
        </p:nvSpPr>
        <p:spPr>
          <a:xfrm>
            <a:off x="548640" y="3520440"/>
            <a:ext cx="6949440" cy="2743200"/>
          </a:xfrm>
          <a:prstGeom prst="roundRect">
            <a:avLst>
              <a:gd name="adj" fmla="val 4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
          <p:cNvSpPr txBox="1"/>
          <p:nvPr/>
        </p:nvSpPr>
        <p:spPr>
          <a:xfrm>
            <a:off x="777240" y="3703320"/>
            <a:ext cx="6492240" cy="2377440"/>
          </a:xfrm>
          <a:prstGeom prst="rect">
            <a:avLst/>
          </a:prstGeom>
          <a:noFill/>
        </p:spPr>
        <p:txBody>
          <a:bodyPr wrap="square">
            <a:spAutoFit/>
          </a:bodyPr>
          <a:lstStyle/>
          <a:p>
            <a:pPr algn="l" rtl="0">
              <a:spcAft>
                <a:spcPts val="0"/>
              </a:spcAft>
            </a:pPr>
            <a:r>
              <a:rPr lang="en-US" sz="1300" b="0" i="0" dirty="0">
                <a:solidFill>
                  <a:srgbClr val="EDE8F5"/>
                </a:solidFill>
                <a:latin typeface="Courier New"/>
                <a:cs typeface="Courier New"/>
              </a:rPr>
              <a:t>with </a:t>
            </a:r>
            <a:r>
              <a:rPr lang="en-US" sz="1300" b="0" i="0" dirty="0" err="1">
                <a:solidFill>
                  <a:srgbClr val="EDE8F5"/>
                </a:solidFill>
                <a:latin typeface="Courier New"/>
                <a:cs typeface="Courier New"/>
              </a:rPr>
              <a:t>pm.Model</a:t>
            </a:r>
            <a:r>
              <a:rPr lang="en-US" sz="1300" b="0" i="0" dirty="0">
                <a:solidFill>
                  <a:srgbClr val="EDE8F5"/>
                </a:solidFill>
                <a:latin typeface="Courier New"/>
                <a:cs typeface="Courier New"/>
              </a:rPr>
              <a:t>() as </a:t>
            </a:r>
            <a:r>
              <a:rPr lang="en-US" sz="1300" b="0" i="0" dirty="0" err="1">
                <a:solidFill>
                  <a:srgbClr val="EDE8F5"/>
                </a:solidFill>
                <a:latin typeface="Courier New"/>
                <a:cs typeface="Courier New"/>
              </a:rPr>
              <a:t>basic_model</a:t>
            </a:r>
            <a:r>
              <a:rPr lang="en-US" sz="1300" b="0" i="0" dirty="0">
                <a:solidFill>
                  <a:srgbClr val="EDE8F5"/>
                </a:solidFill>
                <a:latin typeface="Courier New"/>
                <a:cs typeface="Courier New"/>
              </a:rPr>
              <a:t>:</a:t>
            </a:r>
          </a:p>
          <a:p>
            <a:pPr algn="l" rtl="0">
              <a:spcAft>
                <a:spcPts val="0"/>
              </a:spcAft>
            </a:pPr>
            <a:r>
              <a:rPr lang="en-US" sz="1300" b="0" i="0" dirty="0">
                <a:solidFill>
                  <a:srgbClr val="EDE8F5"/>
                </a:solidFill>
                <a:latin typeface="Courier New"/>
                <a:cs typeface="Courier New"/>
              </a:rPr>
              <a:t>    alpha = </a:t>
            </a:r>
            <a:r>
              <a:rPr lang="en-US" sz="1300" b="0" i="0" dirty="0" err="1">
                <a:solidFill>
                  <a:srgbClr val="EDE8F5"/>
                </a:solidFill>
                <a:latin typeface="Courier New"/>
                <a:cs typeface="Courier New"/>
              </a:rPr>
              <a:t>pm.Normal</a:t>
            </a:r>
            <a:r>
              <a:rPr lang="en-US" sz="1300" b="0" i="0" dirty="0">
                <a:solidFill>
                  <a:srgbClr val="EDE8F5"/>
                </a:solidFill>
                <a:latin typeface="Courier New"/>
                <a:cs typeface="Courier New"/>
              </a:rPr>
              <a:t>('alpha', mu=0, sigma=100)</a:t>
            </a:r>
          </a:p>
          <a:p>
            <a:pPr algn="l" rtl="0">
              <a:spcAft>
                <a:spcPts val="0"/>
              </a:spcAft>
            </a:pPr>
            <a:r>
              <a:rPr lang="en-US" sz="1300" b="0" i="0" dirty="0">
                <a:solidFill>
                  <a:srgbClr val="EDE8F5"/>
                </a:solidFill>
                <a:latin typeface="Courier New"/>
                <a:cs typeface="Courier New"/>
              </a:rPr>
              <a:t>    beta = </a:t>
            </a:r>
            <a:r>
              <a:rPr lang="en-US" sz="1300" b="0" i="0" dirty="0" err="1">
                <a:solidFill>
                  <a:srgbClr val="EDE8F5"/>
                </a:solidFill>
                <a:latin typeface="Courier New"/>
                <a:cs typeface="Courier New"/>
              </a:rPr>
              <a:t>pm.Normal</a:t>
            </a:r>
            <a:r>
              <a:rPr lang="en-US" sz="1300" b="0" i="0" dirty="0">
                <a:solidFill>
                  <a:srgbClr val="EDE8F5"/>
                </a:solidFill>
                <a:latin typeface="Courier New"/>
                <a:cs typeface="Courier New"/>
              </a:rPr>
              <a:t>('beta', mu=0, sigma=100, shape=2)</a:t>
            </a:r>
          </a:p>
          <a:p>
            <a:pPr algn="l" rtl="0">
              <a:spcAft>
                <a:spcPts val="0"/>
              </a:spcAft>
            </a:pPr>
            <a:r>
              <a:rPr lang="en-US" sz="1300" b="0" i="0" dirty="0">
                <a:solidFill>
                  <a:srgbClr val="EDE8F5"/>
                </a:solidFill>
                <a:latin typeface="Courier New"/>
                <a:cs typeface="Courier New"/>
              </a:rPr>
              <a:t>    sigma = </a:t>
            </a:r>
            <a:r>
              <a:rPr lang="en-US" sz="1300" b="0" i="0" dirty="0" err="1">
                <a:solidFill>
                  <a:srgbClr val="EDE8F5"/>
                </a:solidFill>
                <a:latin typeface="Courier New"/>
                <a:cs typeface="Courier New"/>
              </a:rPr>
              <a:t>pm.HalfNormal</a:t>
            </a:r>
            <a:r>
              <a:rPr lang="en-US" sz="1300" b="0" i="0" dirty="0">
                <a:solidFill>
                  <a:srgbClr val="EDE8F5"/>
                </a:solidFill>
                <a:latin typeface="Courier New"/>
                <a:cs typeface="Courier New"/>
              </a:rPr>
              <a:t>('sigma', sigma=100)</a:t>
            </a:r>
          </a:p>
          <a:p>
            <a:pPr algn="l" rtl="0">
              <a:spcAft>
                <a:spcPts val="0"/>
              </a:spcAft>
            </a:pPr>
            <a:r>
              <a:rPr lang="en-US" sz="1300" b="0" i="0" dirty="0">
                <a:solidFill>
                  <a:srgbClr val="EDE8F5"/>
                </a:solidFill>
                <a:latin typeface="Courier New"/>
                <a:cs typeface="Courier New"/>
              </a:rPr>
              <a:t> </a:t>
            </a:r>
          </a:p>
          <a:p>
            <a:pPr algn="l" rtl="0">
              <a:spcAft>
                <a:spcPts val="0"/>
              </a:spcAft>
            </a:pPr>
            <a:r>
              <a:rPr lang="en-US" sz="1300" b="0" i="0" dirty="0">
                <a:solidFill>
                  <a:srgbClr val="EDE8F5"/>
                </a:solidFill>
                <a:latin typeface="Courier New"/>
                <a:cs typeface="Courier New"/>
              </a:rPr>
              <a:t>    mu = alpha + beta[0]*X1 + beta[1]*X2</a:t>
            </a:r>
          </a:p>
          <a:p>
            <a:pPr algn="l" rtl="0">
              <a:spcAft>
                <a:spcPts val="0"/>
              </a:spcAft>
            </a:pPr>
            <a:r>
              <a:rPr lang="en-US" sz="1300" b="0" i="0" dirty="0">
                <a:solidFill>
                  <a:srgbClr val="EDE8F5"/>
                </a:solidFill>
                <a:latin typeface="Courier New"/>
                <a:cs typeface="Courier New"/>
              </a:rPr>
              <a:t>    </a:t>
            </a:r>
            <a:r>
              <a:rPr lang="en-US" sz="1300" b="0" i="0" dirty="0" err="1">
                <a:solidFill>
                  <a:srgbClr val="EDE8F5"/>
                </a:solidFill>
                <a:latin typeface="Courier New"/>
                <a:cs typeface="Courier New"/>
              </a:rPr>
              <a:t>Y_obs</a:t>
            </a:r>
            <a:r>
              <a:rPr lang="en-US" sz="1300" b="0" i="0" dirty="0">
                <a:solidFill>
                  <a:srgbClr val="EDE8F5"/>
                </a:solidFill>
                <a:latin typeface="Courier New"/>
                <a:cs typeface="Courier New"/>
              </a:rPr>
              <a:t> = </a:t>
            </a:r>
            <a:r>
              <a:rPr lang="en-US" sz="1300" b="0" i="0" dirty="0" err="1">
                <a:solidFill>
                  <a:srgbClr val="EDE8F5"/>
                </a:solidFill>
                <a:latin typeface="Courier New"/>
                <a:cs typeface="Courier New"/>
              </a:rPr>
              <a:t>pm.Normal</a:t>
            </a:r>
            <a:r>
              <a:rPr lang="en-US" sz="1300" b="0" i="0" dirty="0">
                <a:solidFill>
                  <a:srgbClr val="EDE8F5"/>
                </a:solidFill>
                <a:latin typeface="Courier New"/>
                <a:cs typeface="Courier New"/>
              </a:rPr>
              <a:t>('</a:t>
            </a:r>
            <a:r>
              <a:rPr lang="en-US" sz="1300" b="0" i="0" dirty="0" err="1">
                <a:solidFill>
                  <a:srgbClr val="EDE8F5"/>
                </a:solidFill>
                <a:latin typeface="Courier New"/>
                <a:cs typeface="Courier New"/>
              </a:rPr>
              <a:t>Y_obs</a:t>
            </a:r>
            <a:r>
              <a:rPr lang="en-US" sz="1300" b="0" i="0" dirty="0">
                <a:solidFill>
                  <a:srgbClr val="EDE8F5"/>
                </a:solidFill>
                <a:latin typeface="Courier New"/>
                <a:cs typeface="Courier New"/>
              </a:rPr>
              <a:t>', mu=mu, sigma=sigma,</a:t>
            </a:r>
          </a:p>
          <a:p>
            <a:pPr algn="l" rtl="0">
              <a:spcAft>
                <a:spcPts val="0"/>
              </a:spcAft>
            </a:pPr>
            <a:r>
              <a:rPr lang="en-US" sz="1300" b="0" i="0" dirty="0">
                <a:solidFill>
                  <a:srgbClr val="EDE8F5"/>
                </a:solidFill>
                <a:latin typeface="Courier New"/>
                <a:cs typeface="Courier New"/>
              </a:rPr>
              <a:t>                      observed=Y)</a:t>
            </a:r>
          </a:p>
          <a:p>
            <a:pPr algn="l" rtl="0">
              <a:spcAft>
                <a:spcPts val="0"/>
              </a:spcAft>
            </a:pPr>
            <a:r>
              <a:rPr lang="en-US" sz="1300" b="0" i="0" dirty="0">
                <a:solidFill>
                  <a:srgbClr val="EDE8F5"/>
                </a:solidFill>
                <a:latin typeface="Courier New"/>
                <a:cs typeface="Courier New"/>
              </a:rPr>
              <a:t>    trace = </a:t>
            </a:r>
            <a:r>
              <a:rPr lang="en-US" sz="1300" b="0" i="0" dirty="0" err="1">
                <a:solidFill>
                  <a:srgbClr val="EDE8F5"/>
                </a:solidFill>
                <a:latin typeface="Courier New"/>
                <a:cs typeface="Courier New"/>
              </a:rPr>
              <a:t>pm.sample</a:t>
            </a:r>
            <a:r>
              <a:rPr lang="en-US" sz="1300" b="0" i="0" dirty="0">
                <a:solidFill>
                  <a:srgbClr val="EDE8F5"/>
                </a:solidFill>
                <a:latin typeface="Courier New"/>
                <a:cs typeface="Courier New"/>
              </a:rPr>
              <a:t>(5000)</a:t>
            </a:r>
          </a:p>
        </p:txBody>
      </p:sp>
      <p:sp>
        <p:nvSpPr>
          <p:cNvPr id="9" name="card"/>
          <p:cNvSpPr/>
          <p:nvPr/>
        </p:nvSpPr>
        <p:spPr>
          <a:xfrm>
            <a:off x="7818120" y="3520440"/>
            <a:ext cx="3822191" cy="822960"/>
          </a:xfrm>
          <a:prstGeom prst="roundRect">
            <a:avLst>
              <a:gd name="adj" fmla="val 16666"/>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key"/>
          <p:cNvSpPr txBox="1"/>
          <p:nvPr/>
        </p:nvSpPr>
        <p:spPr>
          <a:xfrm>
            <a:off x="7955279" y="3575304"/>
            <a:ext cx="3547872" cy="365760"/>
          </a:xfrm>
          <a:prstGeom prst="rect">
            <a:avLst/>
          </a:prstGeom>
          <a:noFill/>
        </p:spPr>
        <p:txBody>
          <a:bodyPr wrap="square" lIns="45720" tIns="27432" rIns="45720" bIns="27432" anchor="t">
            <a:spAutoFit/>
          </a:bodyPr>
          <a:lstStyle/>
          <a:p>
            <a:pPr algn="r" rtl="0">
              <a:spcAft>
                <a:spcPts val="0"/>
              </a:spcAft>
            </a:pPr>
            <a:r>
              <a:rPr lang="en-US" sz="1600" b="1" i="0">
                <a:solidFill>
                  <a:srgbClr val="17A398"/>
                </a:solidFill>
                <a:latin typeface="Arial"/>
                <a:cs typeface="Arial"/>
              </a:rPr>
              <a:t>shape=2</a:t>
            </a:r>
          </a:p>
        </p:txBody>
      </p:sp>
      <p:sp>
        <p:nvSpPr>
          <p:cNvPr id="11" name="TextBox 10"/>
          <p:cNvSpPr txBox="1"/>
          <p:nvPr/>
        </p:nvSpPr>
        <p:spPr>
          <a:xfrm>
            <a:off x="7955279" y="3931920"/>
            <a:ext cx="3547872" cy="270843"/>
          </a:xfrm>
          <a:prstGeom prst="rect">
            <a:avLst/>
          </a:prstGeom>
          <a:noFill/>
        </p:spPr>
        <p:txBody>
          <a:bodyPr wrap="square" lIns="45720" tIns="27432" rIns="45720" bIns="27432" anchor="t">
            <a:spAutoFit/>
          </a:bodyPr>
          <a:lstStyle/>
          <a:p>
            <a:pPr algn="r" rtl="1">
              <a:spcAft>
                <a:spcPts val="0"/>
              </a:spcAft>
            </a:pPr>
            <a:r>
              <a:rPr lang="he-IL" sz="1400" b="0" i="0" dirty="0">
                <a:solidFill>
                  <a:srgbClr val="6B6478"/>
                </a:solidFill>
                <a:latin typeface="Arial"/>
                <a:cs typeface="Arial"/>
              </a:rPr>
              <a:t>וקטור של שני מקדמים — </a:t>
            </a:r>
            <a:r>
              <a:rPr lang="en-US" sz="1400" b="0" i="0" dirty="0">
                <a:solidFill>
                  <a:srgbClr val="6B6478"/>
                </a:solidFill>
                <a:latin typeface="Arial"/>
                <a:cs typeface="Arial"/>
              </a:rPr>
              <a:t>β[0]</a:t>
            </a:r>
            <a:r>
              <a:rPr lang="he-IL" sz="1400" b="0" i="0" dirty="0">
                <a:solidFill>
                  <a:srgbClr val="6B6478"/>
                </a:solidFill>
                <a:latin typeface="Arial"/>
                <a:cs typeface="Arial"/>
              </a:rPr>
              <a:t> ו-</a:t>
            </a:r>
            <a:r>
              <a:rPr lang="en-US" sz="1400" b="0" i="0" dirty="0">
                <a:solidFill>
                  <a:srgbClr val="6B6478"/>
                </a:solidFill>
                <a:latin typeface="Arial"/>
                <a:cs typeface="Arial"/>
              </a:rPr>
              <a:t>β[1]</a:t>
            </a:r>
            <a:endParaRPr lang="he-IL" sz="1400" b="0" i="0" dirty="0">
              <a:solidFill>
                <a:srgbClr val="6B6478"/>
              </a:solidFill>
              <a:latin typeface="Arial"/>
              <a:cs typeface="Arial"/>
            </a:endParaRPr>
          </a:p>
        </p:txBody>
      </p:sp>
      <p:sp>
        <p:nvSpPr>
          <p:cNvPr id="12" name="card"/>
          <p:cNvSpPr/>
          <p:nvPr/>
        </p:nvSpPr>
        <p:spPr>
          <a:xfrm>
            <a:off x="7818120" y="4462272"/>
            <a:ext cx="3822191" cy="822960"/>
          </a:xfrm>
          <a:prstGeom prst="roundRect">
            <a:avLst>
              <a:gd name="adj" fmla="val 16666"/>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key"/>
          <p:cNvSpPr txBox="1"/>
          <p:nvPr/>
        </p:nvSpPr>
        <p:spPr>
          <a:xfrm>
            <a:off x="7955279" y="4517136"/>
            <a:ext cx="3547872" cy="365760"/>
          </a:xfrm>
          <a:prstGeom prst="rect">
            <a:avLst/>
          </a:prstGeom>
          <a:noFill/>
        </p:spPr>
        <p:txBody>
          <a:bodyPr wrap="square" lIns="45720" tIns="27432" rIns="45720" bIns="27432" anchor="t">
            <a:spAutoFit/>
          </a:bodyPr>
          <a:lstStyle/>
          <a:p>
            <a:pPr algn="r" rtl="0">
              <a:spcAft>
                <a:spcPts val="0"/>
              </a:spcAft>
            </a:pPr>
            <a:r>
              <a:rPr lang="en-US" sz="1600" b="1" i="0" dirty="0" err="1">
                <a:solidFill>
                  <a:srgbClr val="7B5EA7"/>
                </a:solidFill>
                <a:latin typeface="Arial"/>
                <a:cs typeface="Arial"/>
              </a:rPr>
              <a:t>HalfNormal</a:t>
            </a:r>
            <a:endParaRPr lang="en-US" sz="1600" b="1" i="0" dirty="0">
              <a:solidFill>
                <a:srgbClr val="7B5EA7"/>
              </a:solidFill>
              <a:latin typeface="Arial"/>
              <a:cs typeface="Arial"/>
            </a:endParaRPr>
          </a:p>
        </p:txBody>
      </p:sp>
      <p:sp>
        <p:nvSpPr>
          <p:cNvPr id="14" name="TextBox 13"/>
          <p:cNvSpPr txBox="1"/>
          <p:nvPr/>
        </p:nvSpPr>
        <p:spPr>
          <a:xfrm>
            <a:off x="7955279" y="4873752"/>
            <a:ext cx="3547872" cy="365760"/>
          </a:xfrm>
          <a:prstGeom prst="rect">
            <a:avLst/>
          </a:prstGeom>
          <a:noFill/>
        </p:spPr>
        <p:txBody>
          <a:bodyPr wrap="square" lIns="45720" tIns="27432" rIns="45720" bIns="27432" anchor="t">
            <a:spAutoFit/>
          </a:bodyPr>
          <a:lstStyle/>
          <a:p>
            <a:pPr algn="r" rtl="1">
              <a:spcAft>
                <a:spcPts val="0"/>
              </a:spcAft>
            </a:pPr>
            <a:r>
              <a:rPr lang="he-IL" sz="1400" b="0" i="0">
                <a:solidFill>
                  <a:srgbClr val="6B6478"/>
                </a:solidFill>
                <a:latin typeface="Arial"/>
                <a:cs typeface="Arial"/>
              </a:rPr>
              <a:t>סטיית תקן חייבת להיות חיובית</a:t>
            </a:r>
          </a:p>
        </p:txBody>
      </p:sp>
      <p:sp>
        <p:nvSpPr>
          <p:cNvPr id="15" name="card"/>
          <p:cNvSpPr/>
          <p:nvPr/>
        </p:nvSpPr>
        <p:spPr>
          <a:xfrm>
            <a:off x="7818120" y="5404104"/>
            <a:ext cx="3822191" cy="822960"/>
          </a:xfrm>
          <a:prstGeom prst="roundRect">
            <a:avLst>
              <a:gd name="adj" fmla="val 16666"/>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key"/>
          <p:cNvSpPr txBox="1"/>
          <p:nvPr/>
        </p:nvSpPr>
        <p:spPr>
          <a:xfrm>
            <a:off x="7955279" y="5458968"/>
            <a:ext cx="3547872" cy="365760"/>
          </a:xfrm>
          <a:prstGeom prst="rect">
            <a:avLst/>
          </a:prstGeom>
          <a:noFill/>
        </p:spPr>
        <p:txBody>
          <a:bodyPr wrap="square" lIns="45720" tIns="27432" rIns="45720" bIns="27432" anchor="t">
            <a:spAutoFit/>
          </a:bodyPr>
          <a:lstStyle/>
          <a:p>
            <a:pPr algn="r" rtl="0">
              <a:spcAft>
                <a:spcPts val="0"/>
              </a:spcAft>
            </a:pPr>
            <a:r>
              <a:rPr lang="en-US" sz="1600" b="1" i="0">
                <a:solidFill>
                  <a:srgbClr val="E4572E"/>
                </a:solidFill>
                <a:latin typeface="Arial"/>
                <a:cs typeface="Arial"/>
              </a:rPr>
              <a:t>observed=Y</a:t>
            </a:r>
          </a:p>
        </p:txBody>
      </p:sp>
      <p:sp>
        <p:nvSpPr>
          <p:cNvPr id="17" name="TextBox 16"/>
          <p:cNvSpPr txBox="1"/>
          <p:nvPr/>
        </p:nvSpPr>
        <p:spPr>
          <a:xfrm>
            <a:off x="7955279" y="5815584"/>
            <a:ext cx="3547872" cy="365760"/>
          </a:xfrm>
          <a:prstGeom prst="rect">
            <a:avLst/>
          </a:prstGeom>
          <a:noFill/>
        </p:spPr>
        <p:txBody>
          <a:bodyPr wrap="square" lIns="45720" tIns="27432" rIns="45720" bIns="27432" anchor="t">
            <a:spAutoFit/>
          </a:bodyPr>
          <a:lstStyle/>
          <a:p>
            <a:pPr algn="r" rtl="1">
              <a:spcAft>
                <a:spcPts val="0"/>
              </a:spcAft>
            </a:pPr>
            <a:r>
              <a:rPr lang="he-IL" sz="1400" b="0" i="0" dirty="0">
                <a:solidFill>
                  <a:srgbClr val="6B6478"/>
                </a:solidFill>
                <a:latin typeface="Arial"/>
                <a:cs typeface="Arial"/>
              </a:rPr>
              <a:t>כאן הנתונים נכנסים למודל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איך נראה prior של </a:t>
            </a:r>
            <a:r>
              <a:rPr lang="en-US" sz="3400" b="1" i="0">
                <a:solidFill>
                  <a:srgbClr val="2B1E3F"/>
                </a:solidFill>
                <a:latin typeface="Arial"/>
                <a:cs typeface="Arial"/>
              </a:rPr>
              <a:t>‪HalfNormal(100)‬</a:t>
            </a:r>
            <a:r>
              <a:rPr lang="he-IL" sz="3400" b="1" i="0">
                <a:solidFill>
                  <a:srgbClr val="2B1E3F"/>
                </a:solidFill>
                <a:latin typeface="Arial"/>
                <a:cs typeface="Arial"/>
              </a:rPr>
              <a:t>?</a:t>
            </a:r>
          </a:p>
        </p:txBody>
      </p:sp>
      <p:pic>
        <p:nvPicPr>
          <p:cNvPr id="3" name="Picture 2" descr="reg_sigma_prior.png"/>
          <p:cNvPicPr>
            <a:picLocks noChangeAspect="1"/>
          </p:cNvPicPr>
          <p:nvPr/>
        </p:nvPicPr>
        <p:blipFill>
          <a:blip r:embed="rId3"/>
          <a:stretch>
            <a:fillRect/>
          </a:stretch>
        </p:blipFill>
        <p:spPr>
          <a:xfrm>
            <a:off x="1009029" y="1371600"/>
            <a:ext cx="5114260" cy="3657600"/>
          </a:xfrm>
          <a:prstGeom prst="rect">
            <a:avLst/>
          </a:prstGeom>
        </p:spPr>
      </p:pic>
      <p:sp>
        <p:nvSpPr>
          <p:cNvPr id="4" name="code block"/>
          <p:cNvSpPr/>
          <p:nvPr/>
        </p:nvSpPr>
        <p:spPr>
          <a:xfrm>
            <a:off x="548640" y="5257800"/>
            <a:ext cx="6035040" cy="1005840"/>
          </a:xfrm>
          <a:prstGeom prst="roundRect">
            <a:avLst>
              <a:gd name="adj" fmla="val 10909"/>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
          <p:cNvSpPr txBox="1"/>
          <p:nvPr/>
        </p:nvSpPr>
        <p:spPr>
          <a:xfrm>
            <a:off x="777240" y="5440680"/>
            <a:ext cx="5577840" cy="640080"/>
          </a:xfrm>
          <a:prstGeom prst="rect">
            <a:avLst/>
          </a:prstGeom>
          <a:noFill/>
        </p:spPr>
        <p:txBody>
          <a:bodyPr wrap="square">
            <a:spAutoFit/>
          </a:bodyPr>
          <a:lstStyle/>
          <a:p>
            <a:pPr algn="l" rtl="0">
              <a:spcAft>
                <a:spcPts val="0"/>
              </a:spcAft>
            </a:pPr>
            <a:r>
              <a:rPr lang="en-US" sz="1300" b="0" i="0">
                <a:solidFill>
                  <a:srgbClr val="EDE8F5"/>
                </a:solidFill>
                <a:latin typeface="Courier New"/>
                <a:cs typeface="Courier New"/>
              </a:rPr>
              <a:t>priors = pm.sample_prior_predictive(samples=200)</a:t>
            </a:r>
          </a:p>
          <a:p>
            <a:pPr algn="l" rtl="0">
              <a:spcAft>
                <a:spcPts val="0"/>
              </a:spcAft>
            </a:pPr>
            <a:r>
              <a:rPr lang="en-US" sz="1300" b="0" i="0">
                <a:solidFill>
                  <a:srgbClr val="EDE8F5"/>
                </a:solidFill>
                <a:latin typeface="Courier New"/>
                <a:cs typeface="Courier New"/>
              </a:rPr>
              <a:t>priors.prior['sigma']</a:t>
            </a:r>
          </a:p>
        </p:txBody>
      </p:sp>
      <p:sp>
        <p:nvSpPr>
          <p:cNvPr id="6" name="card"/>
          <p:cNvSpPr/>
          <p:nvPr/>
        </p:nvSpPr>
        <p:spPr>
          <a:xfrm>
            <a:off x="6903720" y="1463040"/>
            <a:ext cx="4736592" cy="2240280"/>
          </a:xfrm>
          <a:prstGeom prst="roundRect">
            <a:avLst>
              <a:gd name="adj" fmla="val 6122"/>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badge σ"/>
          <p:cNvSpPr/>
          <p:nvPr/>
        </p:nvSpPr>
        <p:spPr>
          <a:xfrm>
            <a:off x="10725912" y="1691640"/>
            <a:ext cx="685800" cy="68580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400" b="1" i="0">
                <a:solidFill>
                  <a:srgbClr val="FFFFFF"/>
                </a:solidFill>
                <a:latin typeface="Arial"/>
                <a:cs typeface="Arial"/>
              </a:rPr>
              <a:t>σ</a:t>
            </a:r>
          </a:p>
        </p:txBody>
      </p:sp>
      <p:sp>
        <p:nvSpPr>
          <p:cNvPr id="8" name="TextBox 7"/>
          <p:cNvSpPr txBox="1"/>
          <p:nvPr/>
        </p:nvSpPr>
        <p:spPr>
          <a:xfrm>
            <a:off x="7178040" y="1691640"/>
            <a:ext cx="3474720" cy="685800"/>
          </a:xfrm>
          <a:prstGeom prst="rect">
            <a:avLst/>
          </a:prstGeom>
          <a:noFill/>
        </p:spPr>
        <p:txBody>
          <a:bodyPr wrap="square" lIns="45720" tIns="27432" rIns="45720" bIns="27432" anchor="ctr">
            <a:spAutoFit/>
          </a:bodyPr>
          <a:lstStyle/>
          <a:p>
            <a:pPr algn="r" rtl="1">
              <a:spcAft>
                <a:spcPts val="0"/>
              </a:spcAft>
            </a:pPr>
            <a:r>
              <a:rPr lang="he-IL" sz="2000" b="1" i="0">
                <a:solidFill>
                  <a:srgbClr val="2B1E3F"/>
                </a:solidFill>
                <a:latin typeface="Arial"/>
                <a:cs typeface="Arial"/>
              </a:rPr>
              <a:t>חצי מהתפלגות נורמלית</a:t>
            </a:r>
          </a:p>
        </p:txBody>
      </p:sp>
      <p:sp>
        <p:nvSpPr>
          <p:cNvPr id="9" name="TextBox 8"/>
          <p:cNvSpPr txBox="1"/>
          <p:nvPr/>
        </p:nvSpPr>
        <p:spPr>
          <a:xfrm>
            <a:off x="7178040" y="2514600"/>
            <a:ext cx="4233672" cy="1097280"/>
          </a:xfrm>
          <a:prstGeom prst="rect">
            <a:avLst/>
          </a:prstGeom>
          <a:noFill/>
        </p:spPr>
        <p:txBody>
          <a:bodyPr wrap="square" lIns="45720" tIns="27432" rIns="45720" bIns="27432" anchor="t">
            <a:spAutoFit/>
          </a:bodyPr>
          <a:lstStyle/>
          <a:p>
            <a:pPr algn="r" rtl="1">
              <a:spcAft>
                <a:spcPts val="0"/>
              </a:spcAft>
            </a:pPr>
            <a:r>
              <a:rPr lang="he-IL" sz="1600" b="0" i="0">
                <a:solidFill>
                  <a:srgbClr val="6B6478"/>
                </a:solidFill>
                <a:latin typeface="Arial"/>
                <a:cs typeface="Arial"/>
              </a:rPr>
              <a:t>לוקחים </a:t>
            </a:r>
            <a:r>
              <a:rPr lang="en-US" sz="1600" b="0" i="0">
                <a:solidFill>
                  <a:srgbClr val="6B6478"/>
                </a:solidFill>
                <a:latin typeface="Arial"/>
                <a:cs typeface="Arial"/>
              </a:rPr>
              <a:t>‪N(0, 100)‬</a:t>
            </a:r>
            <a:r>
              <a:rPr lang="he-IL" sz="1600" b="0" i="0">
                <a:solidFill>
                  <a:srgbClr val="6B6478"/>
                </a:solidFill>
                <a:latin typeface="Arial"/>
                <a:cs typeface="Arial"/>
              </a:rPr>
              <a:t> ומשאירים רק את הצד החיובי — מתאים לסטיית תקן</a:t>
            </a:r>
          </a:p>
        </p:txBody>
      </p:sp>
      <p:sp>
        <p:nvSpPr>
          <p:cNvPr id="10" name="card"/>
          <p:cNvSpPr/>
          <p:nvPr/>
        </p:nvSpPr>
        <p:spPr>
          <a:xfrm>
            <a:off x="6903720" y="3931920"/>
            <a:ext cx="4736592" cy="2331720"/>
          </a:xfrm>
          <a:prstGeom prst="roundRect">
            <a:avLst>
              <a:gd name="adj" fmla="val 5882"/>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badge ?"/>
          <p:cNvSpPr/>
          <p:nvPr/>
        </p:nvSpPr>
        <p:spPr>
          <a:xfrm>
            <a:off x="10725912" y="4160520"/>
            <a:ext cx="685800" cy="68580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400" b="1" i="0">
                <a:solidFill>
                  <a:srgbClr val="FFFFFF"/>
                </a:solidFill>
                <a:latin typeface="Arial"/>
                <a:cs typeface="Arial"/>
              </a:rPr>
              <a:t>?</a:t>
            </a:r>
          </a:p>
        </p:txBody>
      </p:sp>
      <p:sp>
        <p:nvSpPr>
          <p:cNvPr id="12" name="TextBox 11"/>
          <p:cNvSpPr txBox="1"/>
          <p:nvPr/>
        </p:nvSpPr>
        <p:spPr>
          <a:xfrm>
            <a:off x="7178040" y="4160520"/>
            <a:ext cx="3474720" cy="685800"/>
          </a:xfrm>
          <a:prstGeom prst="rect">
            <a:avLst/>
          </a:prstGeom>
          <a:noFill/>
        </p:spPr>
        <p:txBody>
          <a:bodyPr wrap="square" lIns="45720" tIns="27432" rIns="45720" bIns="27432" anchor="ctr">
            <a:spAutoFit/>
          </a:bodyPr>
          <a:lstStyle/>
          <a:p>
            <a:pPr algn="r" rtl="1">
              <a:spcAft>
                <a:spcPts val="0"/>
              </a:spcAft>
            </a:pPr>
            <a:r>
              <a:rPr lang="he-IL" sz="2000" b="1" i="0">
                <a:solidFill>
                  <a:srgbClr val="2B1E3F"/>
                </a:solidFill>
                <a:latin typeface="Arial"/>
                <a:cs typeface="Arial"/>
              </a:rPr>
              <a:t>למה כל כך רחב?</a:t>
            </a:r>
          </a:p>
        </p:txBody>
      </p:sp>
      <p:sp>
        <p:nvSpPr>
          <p:cNvPr id="13" name="TextBox 12"/>
          <p:cNvSpPr txBox="1"/>
          <p:nvPr/>
        </p:nvSpPr>
        <p:spPr>
          <a:xfrm>
            <a:off x="7178040" y="4983480"/>
            <a:ext cx="4233672" cy="1188720"/>
          </a:xfrm>
          <a:prstGeom prst="rect">
            <a:avLst/>
          </a:prstGeom>
          <a:noFill/>
        </p:spPr>
        <p:txBody>
          <a:bodyPr wrap="square" lIns="45720" tIns="27432" rIns="45720" bIns="27432" anchor="t">
            <a:spAutoFit/>
          </a:bodyPr>
          <a:lstStyle/>
          <a:p>
            <a:pPr algn="r" rtl="1">
              <a:spcAft>
                <a:spcPts val="0"/>
              </a:spcAft>
            </a:pPr>
            <a:r>
              <a:rPr lang="he-IL" sz="1600" b="0" i="0">
                <a:solidFill>
                  <a:srgbClr val="6B6478"/>
                </a:solidFill>
                <a:latin typeface="Arial"/>
                <a:cs typeface="Arial"/>
              </a:rPr>
              <a:t>הערך האמיתי הוא 1, וה-prior מאפשר עד מאות — כמעט אין לו השפעה על התוצאה</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התוצאות: הפרמטרים האמיתיים שוחזרו</a:t>
            </a:r>
          </a:p>
        </p:txBody>
      </p:sp>
      <p:pic>
        <p:nvPicPr>
          <p:cNvPr id="3" name="Picture 2" descr="reg_posterior.png"/>
          <p:cNvPicPr>
            <a:picLocks noChangeAspect="1"/>
          </p:cNvPicPr>
          <p:nvPr/>
        </p:nvPicPr>
        <p:blipFill>
          <a:blip r:embed="rId3"/>
          <a:stretch>
            <a:fillRect/>
          </a:stretch>
        </p:blipFill>
        <p:spPr>
          <a:xfrm>
            <a:off x="548640" y="1371600"/>
            <a:ext cx="11091672" cy="2492825"/>
          </a:xfrm>
          <a:prstGeom prst="rect">
            <a:avLst/>
          </a:prstGeom>
        </p:spPr>
      </p:pic>
      <p:sp>
        <p:nvSpPr>
          <p:cNvPr id="4" name="Rectangle 3"/>
          <p:cNvSpPr/>
          <p:nvPr/>
        </p:nvSpPr>
        <p:spPr>
          <a:xfrm>
            <a:off x="9811512" y="3977639"/>
            <a:ext cx="1828800" cy="457200"/>
          </a:xfrm>
          <a:prstGeom prst="rect">
            <a:avLst/>
          </a:prstGeom>
          <a:solidFill>
            <a:srgbClr val="2B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811512" y="3977639"/>
            <a:ext cx="1828800" cy="457200"/>
          </a:xfrm>
          <a:prstGeom prst="rect">
            <a:avLst/>
          </a:prstGeom>
          <a:noFill/>
        </p:spPr>
        <p:txBody>
          <a:bodyPr wrap="square" lIns="45720" tIns="27432" rIns="45720" bIns="27432" anchor="ctr">
            <a:spAutoFit/>
          </a:bodyPr>
          <a:lstStyle/>
          <a:p>
            <a:pPr algn="ctr" rtl="1">
              <a:spcAft>
                <a:spcPts val="0"/>
              </a:spcAft>
            </a:pPr>
            <a:r>
              <a:rPr lang="he-IL" sz="1400" b="1" i="0">
                <a:solidFill>
                  <a:srgbClr val="FFFFFF"/>
                </a:solidFill>
                <a:latin typeface="Arial"/>
                <a:cs typeface="Arial"/>
              </a:rPr>
              <a:t>פרמטר</a:t>
            </a:r>
          </a:p>
        </p:txBody>
      </p:sp>
      <p:sp>
        <p:nvSpPr>
          <p:cNvPr id="6" name="Rectangle 5"/>
          <p:cNvSpPr/>
          <p:nvPr/>
        </p:nvSpPr>
        <p:spPr>
          <a:xfrm>
            <a:off x="7982712" y="3977639"/>
            <a:ext cx="1828800" cy="457200"/>
          </a:xfrm>
          <a:prstGeom prst="rect">
            <a:avLst/>
          </a:prstGeom>
          <a:solidFill>
            <a:srgbClr val="2B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82712" y="3977639"/>
            <a:ext cx="1828800" cy="457200"/>
          </a:xfrm>
          <a:prstGeom prst="rect">
            <a:avLst/>
          </a:prstGeom>
          <a:noFill/>
        </p:spPr>
        <p:txBody>
          <a:bodyPr wrap="square" lIns="45720" tIns="27432" rIns="45720" bIns="27432" anchor="ctr">
            <a:spAutoFit/>
          </a:bodyPr>
          <a:lstStyle/>
          <a:p>
            <a:pPr algn="ctr" rtl="1">
              <a:spcAft>
                <a:spcPts val="0"/>
              </a:spcAft>
            </a:pPr>
            <a:r>
              <a:rPr lang="he-IL" sz="1400" b="1" i="0">
                <a:solidFill>
                  <a:srgbClr val="FFFFFF"/>
                </a:solidFill>
                <a:latin typeface="Arial"/>
                <a:cs typeface="Arial"/>
              </a:rPr>
              <a:t>ממוצע</a:t>
            </a:r>
          </a:p>
        </p:txBody>
      </p:sp>
      <p:sp>
        <p:nvSpPr>
          <p:cNvPr id="8" name="Rectangle 7"/>
          <p:cNvSpPr/>
          <p:nvPr/>
        </p:nvSpPr>
        <p:spPr>
          <a:xfrm>
            <a:off x="5696712" y="3977639"/>
            <a:ext cx="2286000" cy="457200"/>
          </a:xfrm>
          <a:prstGeom prst="rect">
            <a:avLst/>
          </a:prstGeom>
          <a:solidFill>
            <a:srgbClr val="2B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96712" y="3977639"/>
            <a:ext cx="2286000" cy="457200"/>
          </a:xfrm>
          <a:prstGeom prst="rect">
            <a:avLst/>
          </a:prstGeom>
          <a:noFill/>
        </p:spPr>
        <p:txBody>
          <a:bodyPr wrap="square" lIns="45720" tIns="27432" rIns="45720" bIns="27432" anchor="ctr">
            <a:spAutoFit/>
          </a:bodyPr>
          <a:lstStyle/>
          <a:p>
            <a:pPr algn="ctr" rtl="1">
              <a:spcAft>
                <a:spcPts val="0"/>
              </a:spcAft>
            </a:pPr>
            <a:r>
              <a:rPr lang="en-US" sz="1400" b="1" i="0">
                <a:solidFill>
                  <a:srgbClr val="FFFFFF"/>
                </a:solidFill>
                <a:latin typeface="Arial"/>
                <a:cs typeface="Arial"/>
              </a:rPr>
              <a:t>‪HDI 94%‬</a:t>
            </a:r>
          </a:p>
        </p:txBody>
      </p:sp>
      <p:sp>
        <p:nvSpPr>
          <p:cNvPr id="10" name="Rectangle 9"/>
          <p:cNvSpPr/>
          <p:nvPr/>
        </p:nvSpPr>
        <p:spPr>
          <a:xfrm>
            <a:off x="3867912" y="3977639"/>
            <a:ext cx="1828800" cy="457200"/>
          </a:xfrm>
          <a:prstGeom prst="rect">
            <a:avLst/>
          </a:prstGeom>
          <a:solidFill>
            <a:srgbClr val="2B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67912" y="3977639"/>
            <a:ext cx="1828800" cy="457200"/>
          </a:xfrm>
          <a:prstGeom prst="rect">
            <a:avLst/>
          </a:prstGeom>
          <a:noFill/>
        </p:spPr>
        <p:txBody>
          <a:bodyPr wrap="square" lIns="45720" tIns="27432" rIns="45720" bIns="27432" anchor="ctr">
            <a:spAutoFit/>
          </a:bodyPr>
          <a:lstStyle/>
          <a:p>
            <a:pPr algn="ctr" rtl="1">
              <a:spcAft>
                <a:spcPts val="0"/>
              </a:spcAft>
            </a:pPr>
            <a:r>
              <a:rPr lang="he-IL" sz="1400" b="1" i="0">
                <a:solidFill>
                  <a:srgbClr val="FFFFFF"/>
                </a:solidFill>
                <a:latin typeface="Arial"/>
                <a:cs typeface="Arial"/>
              </a:rPr>
              <a:t>ערך אמיתי</a:t>
            </a:r>
          </a:p>
        </p:txBody>
      </p:sp>
      <p:sp>
        <p:nvSpPr>
          <p:cNvPr id="12" name="Rectangle 11"/>
          <p:cNvSpPr/>
          <p:nvPr/>
        </p:nvSpPr>
        <p:spPr>
          <a:xfrm>
            <a:off x="9811512" y="4434840"/>
            <a:ext cx="1828800" cy="457200"/>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811512" y="4434840"/>
            <a:ext cx="1828800" cy="457200"/>
          </a:xfrm>
          <a:prstGeom prst="rect">
            <a:avLst/>
          </a:prstGeom>
          <a:noFill/>
        </p:spPr>
        <p:txBody>
          <a:bodyPr wrap="square" lIns="45720" tIns="27432" rIns="45720" bIns="27432" anchor="ctr">
            <a:spAutoFit/>
          </a:bodyPr>
          <a:lstStyle/>
          <a:p>
            <a:pPr algn="ctr" rtl="0">
              <a:spcAft>
                <a:spcPts val="0"/>
              </a:spcAft>
            </a:pPr>
            <a:r>
              <a:rPr lang="en-US" sz="1400" b="0" i="0">
                <a:solidFill>
                  <a:srgbClr val="2B1E3F"/>
                </a:solidFill>
                <a:latin typeface="Arial"/>
                <a:cs typeface="Arial"/>
              </a:rPr>
              <a:t>α</a:t>
            </a:r>
          </a:p>
        </p:txBody>
      </p:sp>
      <p:sp>
        <p:nvSpPr>
          <p:cNvPr id="14" name="Rectangle 13"/>
          <p:cNvSpPr/>
          <p:nvPr/>
        </p:nvSpPr>
        <p:spPr>
          <a:xfrm>
            <a:off x="7982712" y="4434840"/>
            <a:ext cx="1828800" cy="457200"/>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82712" y="4434840"/>
            <a:ext cx="1828800" cy="457200"/>
          </a:xfrm>
          <a:prstGeom prst="rect">
            <a:avLst/>
          </a:prstGeom>
          <a:noFill/>
        </p:spPr>
        <p:txBody>
          <a:bodyPr wrap="square" lIns="45720" tIns="27432" rIns="45720" bIns="27432" anchor="ctr">
            <a:spAutoFit/>
          </a:bodyPr>
          <a:lstStyle/>
          <a:p>
            <a:pPr algn="ctr" rtl="0">
              <a:spcAft>
                <a:spcPts val="0"/>
              </a:spcAft>
            </a:pPr>
            <a:r>
              <a:rPr lang="en-US" sz="1400" b="0" i="0">
                <a:solidFill>
                  <a:srgbClr val="2B1E3F"/>
                </a:solidFill>
                <a:latin typeface="Arial"/>
                <a:cs typeface="Arial"/>
              </a:rPr>
              <a:t>0.91</a:t>
            </a:r>
          </a:p>
        </p:txBody>
      </p:sp>
      <p:sp>
        <p:nvSpPr>
          <p:cNvPr id="16" name="Rectangle 15"/>
          <p:cNvSpPr/>
          <p:nvPr/>
        </p:nvSpPr>
        <p:spPr>
          <a:xfrm>
            <a:off x="5696712" y="4434840"/>
            <a:ext cx="2286000" cy="457200"/>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96712" y="4434840"/>
            <a:ext cx="2286000" cy="457200"/>
          </a:xfrm>
          <a:prstGeom prst="rect">
            <a:avLst/>
          </a:prstGeom>
          <a:noFill/>
        </p:spPr>
        <p:txBody>
          <a:bodyPr wrap="square" lIns="45720" tIns="27432" rIns="45720" bIns="27432" anchor="ctr">
            <a:spAutoFit/>
          </a:bodyPr>
          <a:lstStyle/>
          <a:p>
            <a:pPr algn="ctr" rtl="0">
              <a:spcAft>
                <a:spcPts val="0"/>
              </a:spcAft>
            </a:pPr>
            <a:r>
              <a:rPr lang="en-US" sz="1400" b="0" i="0">
                <a:solidFill>
                  <a:srgbClr val="2B1E3F"/>
                </a:solidFill>
                <a:latin typeface="Arial"/>
                <a:cs typeface="Arial"/>
              </a:rPr>
              <a:t>0.71 – 1.09</a:t>
            </a:r>
          </a:p>
        </p:txBody>
      </p:sp>
      <p:sp>
        <p:nvSpPr>
          <p:cNvPr id="18" name="Rectangle 17"/>
          <p:cNvSpPr/>
          <p:nvPr/>
        </p:nvSpPr>
        <p:spPr>
          <a:xfrm>
            <a:off x="3867912" y="4434840"/>
            <a:ext cx="1828800" cy="457200"/>
          </a:xfrm>
          <a:prstGeom prst="rect">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67912" y="4434840"/>
            <a:ext cx="1828800" cy="457200"/>
          </a:xfrm>
          <a:prstGeom prst="rect">
            <a:avLst/>
          </a:prstGeom>
          <a:noFill/>
        </p:spPr>
        <p:txBody>
          <a:bodyPr wrap="square" lIns="45720" tIns="27432" rIns="45720" bIns="27432" anchor="ctr">
            <a:spAutoFit/>
          </a:bodyPr>
          <a:lstStyle/>
          <a:p>
            <a:pPr algn="ctr" rtl="0">
              <a:spcAft>
                <a:spcPts val="0"/>
              </a:spcAft>
            </a:pPr>
            <a:r>
              <a:rPr lang="en-US" sz="1400" b="0" i="0">
                <a:solidFill>
                  <a:srgbClr val="2B1E3F"/>
                </a:solidFill>
                <a:latin typeface="Arial"/>
                <a:cs typeface="Arial"/>
              </a:rPr>
              <a:t>1</a:t>
            </a:r>
          </a:p>
        </p:txBody>
      </p:sp>
      <p:sp>
        <p:nvSpPr>
          <p:cNvPr id="20" name="Rectangle 19"/>
          <p:cNvSpPr/>
          <p:nvPr/>
        </p:nvSpPr>
        <p:spPr>
          <a:xfrm>
            <a:off x="9811512" y="4892040"/>
            <a:ext cx="18288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11512" y="4892040"/>
            <a:ext cx="1828800" cy="457200"/>
          </a:xfrm>
          <a:prstGeom prst="rect">
            <a:avLst/>
          </a:prstGeom>
          <a:noFill/>
        </p:spPr>
        <p:txBody>
          <a:bodyPr wrap="square" lIns="45720" tIns="27432" rIns="45720" bIns="27432" anchor="ctr">
            <a:spAutoFit/>
          </a:bodyPr>
          <a:lstStyle/>
          <a:p>
            <a:pPr algn="ctr" rtl="0">
              <a:spcAft>
                <a:spcPts val="0"/>
              </a:spcAft>
            </a:pPr>
            <a:r>
              <a:rPr lang="en-US" sz="1400" b="0" i="0">
                <a:solidFill>
                  <a:srgbClr val="2B1E3F"/>
                </a:solidFill>
                <a:latin typeface="Arial"/>
                <a:cs typeface="Arial"/>
              </a:rPr>
              <a:t>β₁</a:t>
            </a:r>
          </a:p>
        </p:txBody>
      </p:sp>
      <p:sp>
        <p:nvSpPr>
          <p:cNvPr id="22" name="Rectangle 21"/>
          <p:cNvSpPr/>
          <p:nvPr/>
        </p:nvSpPr>
        <p:spPr>
          <a:xfrm>
            <a:off x="7982712" y="4892040"/>
            <a:ext cx="18288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82712" y="4892040"/>
            <a:ext cx="1828800" cy="457200"/>
          </a:xfrm>
          <a:prstGeom prst="rect">
            <a:avLst/>
          </a:prstGeom>
          <a:noFill/>
        </p:spPr>
        <p:txBody>
          <a:bodyPr wrap="square" lIns="45720" tIns="27432" rIns="45720" bIns="27432" anchor="ctr">
            <a:spAutoFit/>
          </a:bodyPr>
          <a:lstStyle/>
          <a:p>
            <a:pPr algn="ctr" rtl="0">
              <a:spcAft>
                <a:spcPts val="0"/>
              </a:spcAft>
            </a:pPr>
            <a:r>
              <a:rPr lang="en-US" sz="1400" b="0" i="0">
                <a:solidFill>
                  <a:srgbClr val="2B1E3F"/>
                </a:solidFill>
                <a:latin typeface="Arial"/>
                <a:cs typeface="Arial"/>
              </a:rPr>
              <a:t>0.95</a:t>
            </a:r>
          </a:p>
        </p:txBody>
      </p:sp>
      <p:sp>
        <p:nvSpPr>
          <p:cNvPr id="24" name="Rectangle 23"/>
          <p:cNvSpPr/>
          <p:nvPr/>
        </p:nvSpPr>
        <p:spPr>
          <a:xfrm>
            <a:off x="5696712" y="4892040"/>
            <a:ext cx="22860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96712" y="4892040"/>
            <a:ext cx="2286000" cy="457200"/>
          </a:xfrm>
          <a:prstGeom prst="rect">
            <a:avLst/>
          </a:prstGeom>
          <a:noFill/>
        </p:spPr>
        <p:txBody>
          <a:bodyPr wrap="square" lIns="45720" tIns="27432" rIns="45720" bIns="27432" anchor="ctr">
            <a:spAutoFit/>
          </a:bodyPr>
          <a:lstStyle/>
          <a:p>
            <a:pPr algn="ctr" rtl="0">
              <a:spcAft>
                <a:spcPts val="0"/>
              </a:spcAft>
            </a:pPr>
            <a:r>
              <a:rPr lang="en-US" sz="1400" b="0" i="0">
                <a:solidFill>
                  <a:srgbClr val="2B1E3F"/>
                </a:solidFill>
                <a:latin typeface="Arial"/>
                <a:cs typeface="Arial"/>
              </a:rPr>
              <a:t>0.79 – 1.12</a:t>
            </a:r>
          </a:p>
        </p:txBody>
      </p:sp>
      <p:sp>
        <p:nvSpPr>
          <p:cNvPr id="26" name="Rectangle 25"/>
          <p:cNvSpPr/>
          <p:nvPr/>
        </p:nvSpPr>
        <p:spPr>
          <a:xfrm>
            <a:off x="3867912" y="4892040"/>
            <a:ext cx="18288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67912" y="4892040"/>
            <a:ext cx="1828800" cy="457200"/>
          </a:xfrm>
          <a:prstGeom prst="rect">
            <a:avLst/>
          </a:prstGeom>
          <a:noFill/>
        </p:spPr>
        <p:txBody>
          <a:bodyPr wrap="square" lIns="45720" tIns="27432" rIns="45720" bIns="27432" anchor="ctr">
            <a:spAutoFit/>
          </a:bodyPr>
          <a:lstStyle/>
          <a:p>
            <a:pPr algn="ctr" rtl="0">
              <a:spcAft>
                <a:spcPts val="0"/>
              </a:spcAft>
            </a:pPr>
            <a:r>
              <a:rPr lang="en-US" sz="1400" b="0" i="0">
                <a:solidFill>
                  <a:srgbClr val="2B1E3F"/>
                </a:solidFill>
                <a:latin typeface="Arial"/>
                <a:cs typeface="Arial"/>
              </a:rPr>
              <a:t>1</a:t>
            </a:r>
          </a:p>
        </p:txBody>
      </p:sp>
      <p:sp>
        <p:nvSpPr>
          <p:cNvPr id="28" name="Rectangle 27"/>
          <p:cNvSpPr/>
          <p:nvPr/>
        </p:nvSpPr>
        <p:spPr>
          <a:xfrm>
            <a:off x="9811512" y="5349240"/>
            <a:ext cx="1828800" cy="457200"/>
          </a:xfrm>
          <a:prstGeom prst="rect">
            <a:avLst/>
          </a:prstGeom>
          <a:solidFill>
            <a:srgbClr val="E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11512" y="5349240"/>
            <a:ext cx="1828800" cy="457200"/>
          </a:xfrm>
          <a:prstGeom prst="rect">
            <a:avLst/>
          </a:prstGeom>
          <a:noFill/>
        </p:spPr>
        <p:txBody>
          <a:bodyPr wrap="square" lIns="45720" tIns="27432" rIns="45720" bIns="27432" anchor="ctr">
            <a:spAutoFit/>
          </a:bodyPr>
          <a:lstStyle/>
          <a:p>
            <a:pPr algn="ctr" rtl="0">
              <a:spcAft>
                <a:spcPts val="0"/>
              </a:spcAft>
            </a:pPr>
            <a:r>
              <a:rPr lang="en-US" sz="1400" b="1" i="0">
                <a:solidFill>
                  <a:srgbClr val="2B1E3F"/>
                </a:solidFill>
                <a:latin typeface="Arial"/>
                <a:cs typeface="Arial"/>
              </a:rPr>
              <a:t>β₂</a:t>
            </a:r>
          </a:p>
        </p:txBody>
      </p:sp>
      <p:sp>
        <p:nvSpPr>
          <p:cNvPr id="30" name="Rectangle 29"/>
          <p:cNvSpPr/>
          <p:nvPr/>
        </p:nvSpPr>
        <p:spPr>
          <a:xfrm>
            <a:off x="7982712" y="5349240"/>
            <a:ext cx="1828800" cy="457200"/>
          </a:xfrm>
          <a:prstGeom prst="rect">
            <a:avLst/>
          </a:prstGeom>
          <a:solidFill>
            <a:srgbClr val="E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982712" y="5349240"/>
            <a:ext cx="1828800" cy="457200"/>
          </a:xfrm>
          <a:prstGeom prst="rect">
            <a:avLst/>
          </a:prstGeom>
          <a:noFill/>
        </p:spPr>
        <p:txBody>
          <a:bodyPr wrap="square" lIns="45720" tIns="27432" rIns="45720" bIns="27432" anchor="ctr">
            <a:spAutoFit/>
          </a:bodyPr>
          <a:lstStyle/>
          <a:p>
            <a:pPr algn="ctr" rtl="0">
              <a:spcAft>
                <a:spcPts val="0"/>
              </a:spcAft>
            </a:pPr>
            <a:r>
              <a:rPr lang="en-US" sz="1400" b="1" i="0">
                <a:solidFill>
                  <a:srgbClr val="2B1E3F"/>
                </a:solidFill>
                <a:latin typeface="Arial"/>
                <a:cs typeface="Arial"/>
              </a:rPr>
              <a:t>2.61</a:t>
            </a:r>
          </a:p>
        </p:txBody>
      </p:sp>
      <p:sp>
        <p:nvSpPr>
          <p:cNvPr id="32" name="Rectangle 31"/>
          <p:cNvSpPr/>
          <p:nvPr/>
        </p:nvSpPr>
        <p:spPr>
          <a:xfrm>
            <a:off x="5696712" y="5349240"/>
            <a:ext cx="2286000" cy="457200"/>
          </a:xfrm>
          <a:prstGeom prst="rect">
            <a:avLst/>
          </a:prstGeom>
          <a:solidFill>
            <a:srgbClr val="E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96712" y="5349240"/>
            <a:ext cx="2286000" cy="457200"/>
          </a:xfrm>
          <a:prstGeom prst="rect">
            <a:avLst/>
          </a:prstGeom>
          <a:noFill/>
        </p:spPr>
        <p:txBody>
          <a:bodyPr wrap="square" lIns="45720" tIns="27432" rIns="45720" bIns="27432" anchor="ctr">
            <a:spAutoFit/>
          </a:bodyPr>
          <a:lstStyle/>
          <a:p>
            <a:pPr algn="ctr" rtl="0">
              <a:spcAft>
                <a:spcPts val="0"/>
              </a:spcAft>
            </a:pPr>
            <a:r>
              <a:rPr lang="en-US" sz="1400" b="1" i="0">
                <a:solidFill>
                  <a:srgbClr val="2B1E3F"/>
                </a:solidFill>
                <a:latin typeface="Arial"/>
                <a:cs typeface="Arial"/>
              </a:rPr>
              <a:t>1.61 – 3.55</a:t>
            </a:r>
          </a:p>
        </p:txBody>
      </p:sp>
      <p:sp>
        <p:nvSpPr>
          <p:cNvPr id="34" name="Rectangle 33"/>
          <p:cNvSpPr/>
          <p:nvPr/>
        </p:nvSpPr>
        <p:spPr>
          <a:xfrm>
            <a:off x="3867912" y="5349240"/>
            <a:ext cx="1828800" cy="457200"/>
          </a:xfrm>
          <a:prstGeom prst="rect">
            <a:avLst/>
          </a:prstGeom>
          <a:solidFill>
            <a:srgbClr val="E3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67912" y="5349240"/>
            <a:ext cx="1828800" cy="457200"/>
          </a:xfrm>
          <a:prstGeom prst="rect">
            <a:avLst/>
          </a:prstGeom>
          <a:noFill/>
        </p:spPr>
        <p:txBody>
          <a:bodyPr wrap="square" lIns="45720" tIns="27432" rIns="45720" bIns="27432" anchor="ctr">
            <a:spAutoFit/>
          </a:bodyPr>
          <a:lstStyle/>
          <a:p>
            <a:pPr algn="ctr" rtl="0">
              <a:spcAft>
                <a:spcPts val="0"/>
              </a:spcAft>
            </a:pPr>
            <a:r>
              <a:rPr lang="en-US" sz="1400" b="1" i="0">
                <a:solidFill>
                  <a:srgbClr val="2B1E3F"/>
                </a:solidFill>
                <a:latin typeface="Arial"/>
                <a:cs typeface="Arial"/>
              </a:rPr>
              <a:t>2.5</a:t>
            </a:r>
          </a:p>
        </p:txBody>
      </p:sp>
      <p:sp>
        <p:nvSpPr>
          <p:cNvPr id="36" name="Rectangle 35"/>
          <p:cNvSpPr/>
          <p:nvPr/>
        </p:nvSpPr>
        <p:spPr>
          <a:xfrm>
            <a:off x="9811512" y="5806440"/>
            <a:ext cx="18288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811512" y="5806440"/>
            <a:ext cx="1828800" cy="457200"/>
          </a:xfrm>
          <a:prstGeom prst="rect">
            <a:avLst/>
          </a:prstGeom>
          <a:noFill/>
        </p:spPr>
        <p:txBody>
          <a:bodyPr wrap="square" lIns="45720" tIns="27432" rIns="45720" bIns="27432" anchor="ctr">
            <a:spAutoFit/>
          </a:bodyPr>
          <a:lstStyle/>
          <a:p>
            <a:pPr algn="ctr" rtl="0">
              <a:spcAft>
                <a:spcPts val="0"/>
              </a:spcAft>
            </a:pPr>
            <a:r>
              <a:rPr lang="en-US" sz="1400" b="0" i="0">
                <a:solidFill>
                  <a:srgbClr val="2B1E3F"/>
                </a:solidFill>
                <a:latin typeface="Arial"/>
                <a:cs typeface="Arial"/>
              </a:rPr>
              <a:t>σ</a:t>
            </a:r>
          </a:p>
        </p:txBody>
      </p:sp>
      <p:sp>
        <p:nvSpPr>
          <p:cNvPr id="38" name="Rectangle 37"/>
          <p:cNvSpPr/>
          <p:nvPr/>
        </p:nvSpPr>
        <p:spPr>
          <a:xfrm>
            <a:off x="7982712" y="5806440"/>
            <a:ext cx="18288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982712" y="5806440"/>
            <a:ext cx="1828800" cy="457200"/>
          </a:xfrm>
          <a:prstGeom prst="rect">
            <a:avLst/>
          </a:prstGeom>
          <a:noFill/>
        </p:spPr>
        <p:txBody>
          <a:bodyPr wrap="square" lIns="45720" tIns="27432" rIns="45720" bIns="27432" anchor="ctr">
            <a:spAutoFit/>
          </a:bodyPr>
          <a:lstStyle/>
          <a:p>
            <a:pPr algn="ctr" rtl="0">
              <a:spcAft>
                <a:spcPts val="0"/>
              </a:spcAft>
            </a:pPr>
            <a:r>
              <a:rPr lang="en-US" sz="1400" b="0" i="0">
                <a:solidFill>
                  <a:srgbClr val="2B1E3F"/>
                </a:solidFill>
                <a:latin typeface="Arial"/>
                <a:cs typeface="Arial"/>
              </a:rPr>
              <a:t>1.00</a:t>
            </a:r>
          </a:p>
        </p:txBody>
      </p:sp>
      <p:sp>
        <p:nvSpPr>
          <p:cNvPr id="40" name="Rectangle 39"/>
          <p:cNvSpPr/>
          <p:nvPr/>
        </p:nvSpPr>
        <p:spPr>
          <a:xfrm>
            <a:off x="5696712" y="5806440"/>
            <a:ext cx="22860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696712" y="5806440"/>
            <a:ext cx="2286000" cy="457200"/>
          </a:xfrm>
          <a:prstGeom prst="rect">
            <a:avLst/>
          </a:prstGeom>
          <a:noFill/>
        </p:spPr>
        <p:txBody>
          <a:bodyPr wrap="square" lIns="45720" tIns="27432" rIns="45720" bIns="27432" anchor="ctr">
            <a:spAutoFit/>
          </a:bodyPr>
          <a:lstStyle/>
          <a:p>
            <a:pPr algn="ctr" rtl="0">
              <a:spcAft>
                <a:spcPts val="0"/>
              </a:spcAft>
            </a:pPr>
            <a:r>
              <a:rPr lang="en-US" sz="1400" b="0" i="0">
                <a:solidFill>
                  <a:srgbClr val="2B1E3F"/>
                </a:solidFill>
                <a:latin typeface="Arial"/>
                <a:cs typeface="Arial"/>
              </a:rPr>
              <a:t>0.86 – 1.13</a:t>
            </a:r>
          </a:p>
        </p:txBody>
      </p:sp>
      <p:sp>
        <p:nvSpPr>
          <p:cNvPr id="42" name="Rectangle 41"/>
          <p:cNvSpPr/>
          <p:nvPr/>
        </p:nvSpPr>
        <p:spPr>
          <a:xfrm>
            <a:off x="3867912" y="5806440"/>
            <a:ext cx="182880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867912" y="5806440"/>
            <a:ext cx="1828800" cy="457200"/>
          </a:xfrm>
          <a:prstGeom prst="rect">
            <a:avLst/>
          </a:prstGeom>
          <a:noFill/>
        </p:spPr>
        <p:txBody>
          <a:bodyPr wrap="square" lIns="45720" tIns="27432" rIns="45720" bIns="27432" anchor="ctr">
            <a:spAutoFit/>
          </a:bodyPr>
          <a:lstStyle/>
          <a:p>
            <a:pPr algn="ctr" rtl="0">
              <a:spcAft>
                <a:spcPts val="0"/>
              </a:spcAft>
            </a:pPr>
            <a:r>
              <a:rPr lang="en-US" sz="1400" b="0" i="0">
                <a:solidFill>
                  <a:srgbClr val="2B1E3F"/>
                </a:solidFill>
                <a:latin typeface="Arial"/>
                <a:cs typeface="Arial"/>
              </a:rPr>
              <a:t>1</a:t>
            </a:r>
          </a:p>
        </p:txBody>
      </p:sp>
      <p:sp>
        <p:nvSpPr>
          <p:cNvPr id="44" name="TextBox 43"/>
          <p:cNvSpPr txBox="1"/>
          <p:nvPr/>
        </p:nvSpPr>
        <p:spPr>
          <a:xfrm>
            <a:off x="548640" y="3977639"/>
            <a:ext cx="3108960" cy="2377440"/>
          </a:xfrm>
          <a:prstGeom prst="rect">
            <a:avLst/>
          </a:prstGeom>
          <a:noFill/>
        </p:spPr>
        <p:txBody>
          <a:bodyPr wrap="square" lIns="45720" tIns="27432" rIns="45720" bIns="27432" anchor="t">
            <a:spAutoFit/>
          </a:bodyPr>
          <a:lstStyle/>
          <a:p>
            <a:pPr marR="274320" indent="-274320" algn="r" rtl="1">
              <a:spcAft>
                <a:spcPts val="1000"/>
              </a:spcAft>
              <a:buClr>
                <a:srgbClr val="17A398"/>
              </a:buClr>
              <a:buFont typeface="Arial"/>
              <a:buChar char="•"/>
            </a:pPr>
            <a:r>
              <a:rPr lang="he-IL" sz="1500" b="0" i="0">
                <a:solidFill>
                  <a:srgbClr val="2B1E3F"/>
                </a:solidFill>
                <a:latin typeface="Arial"/>
                <a:cs typeface="Arial"/>
              </a:rPr>
              <a:t>קו מקווקו = הערך האמיתי</a:t>
            </a:r>
          </a:p>
          <a:p>
            <a:pPr marR="274320" indent="-274320" algn="r" rtl="1">
              <a:spcAft>
                <a:spcPts val="1000"/>
              </a:spcAft>
              <a:buClr>
                <a:srgbClr val="17A398"/>
              </a:buClr>
              <a:buFont typeface="Arial"/>
              <a:buChar char="•"/>
            </a:pPr>
            <a:r>
              <a:rPr lang="he-IL" sz="1500" b="0" i="0">
                <a:solidFill>
                  <a:srgbClr val="2B1E3F"/>
                </a:solidFill>
                <a:latin typeface="Arial"/>
                <a:cs typeface="Arial"/>
              </a:rPr>
              <a:t>כל הערכים בתוך מרווח ה-HDI</a:t>
            </a:r>
          </a:p>
          <a:p>
            <a:pPr marR="274320" indent="-274320" algn="r" rtl="1">
              <a:spcAft>
                <a:spcPts val="1000"/>
              </a:spcAft>
              <a:buClr>
                <a:srgbClr val="17A398"/>
              </a:buClr>
              <a:buFont typeface="Arial"/>
              <a:buChar char="•"/>
            </a:pPr>
            <a:r>
              <a:rPr lang="en-US" sz="1500" b="1" i="0">
                <a:solidFill>
                  <a:srgbClr val="7B5EA7"/>
                </a:solidFill>
                <a:latin typeface="Arial"/>
                <a:cs typeface="Arial"/>
              </a:rPr>
              <a:t>β₂</a:t>
            </a:r>
            <a:r>
              <a:rPr lang="he-IL" sz="1500" b="0" i="0">
                <a:solidFill>
                  <a:srgbClr val="2B1E3F"/>
                </a:solidFill>
                <a:latin typeface="Arial"/>
                <a:cs typeface="Arial"/>
              </a:rPr>
              <a:t> — המרווח הרחב ביותר: </a:t>
            </a:r>
            <a:r>
              <a:rPr lang="en-US" sz="1500" b="0" i="0">
                <a:solidFill>
                  <a:srgbClr val="2B1E3F"/>
                </a:solidFill>
                <a:latin typeface="Arial"/>
                <a:cs typeface="Arial"/>
              </a:rPr>
              <a:t>‪X2‬</a:t>
            </a:r>
            <a:r>
              <a:rPr lang="he-IL" sz="1500" b="0" i="0">
                <a:solidFill>
                  <a:srgbClr val="2B1E3F"/>
                </a:solidFill>
                <a:latin typeface="Arial"/>
                <a:cs typeface="Arial"/>
              </a:rPr>
              <a:t> בעל פיזור קטן</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מבדיקת השערות לאמידה</a:t>
            </a:r>
          </a:p>
        </p:txBody>
      </p:sp>
      <p:sp>
        <p:nvSpPr>
          <p:cNvPr id="3" name="card"/>
          <p:cNvSpPr/>
          <p:nvPr/>
        </p:nvSpPr>
        <p:spPr>
          <a:xfrm>
            <a:off x="6281928" y="1463040"/>
            <a:ext cx="5358384" cy="4023360"/>
          </a:xfrm>
          <a:prstGeom prst="roundRect">
            <a:avLst>
              <a:gd name="adj" fmla="val 3409"/>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badge H₀"/>
          <p:cNvSpPr/>
          <p:nvPr/>
        </p:nvSpPr>
        <p:spPr>
          <a:xfrm>
            <a:off x="10634472" y="1691640"/>
            <a:ext cx="777240" cy="7772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he-IL" sz="2200" b="1" i="0">
                <a:solidFill>
                  <a:srgbClr val="FFFFFF"/>
                </a:solidFill>
                <a:latin typeface="Arial"/>
                <a:cs typeface="Arial"/>
              </a:rPr>
              <a:t>H₀</a:t>
            </a:r>
          </a:p>
        </p:txBody>
      </p:sp>
      <p:sp>
        <p:nvSpPr>
          <p:cNvPr id="5" name="TextBox 4"/>
          <p:cNvSpPr txBox="1"/>
          <p:nvPr/>
        </p:nvSpPr>
        <p:spPr>
          <a:xfrm>
            <a:off x="6556248" y="1737360"/>
            <a:ext cx="3931920" cy="731520"/>
          </a:xfrm>
          <a:prstGeom prst="rect">
            <a:avLst/>
          </a:prstGeom>
          <a:noFill/>
        </p:spPr>
        <p:txBody>
          <a:bodyPr wrap="square" lIns="45720" tIns="27432" rIns="45720" bIns="27432" anchor="ctr">
            <a:spAutoFit/>
          </a:bodyPr>
          <a:lstStyle/>
          <a:p>
            <a:pPr algn="r" rtl="1">
              <a:spcAft>
                <a:spcPts val="0"/>
              </a:spcAft>
            </a:pPr>
            <a:r>
              <a:rPr lang="he-IL" sz="2200" b="1" i="0">
                <a:solidFill>
                  <a:srgbClr val="2B1E3F"/>
                </a:solidFill>
                <a:latin typeface="Arial"/>
                <a:cs typeface="Arial"/>
              </a:rPr>
              <a:t>בדיקת השערות</a:t>
            </a:r>
          </a:p>
        </p:txBody>
      </p:sp>
      <p:sp>
        <p:nvSpPr>
          <p:cNvPr id="6" name="TextBox 5"/>
          <p:cNvSpPr txBox="1"/>
          <p:nvPr/>
        </p:nvSpPr>
        <p:spPr>
          <a:xfrm>
            <a:off x="6556248" y="2743200"/>
            <a:ext cx="4809744" cy="2651760"/>
          </a:xfrm>
          <a:prstGeom prst="rect">
            <a:avLst/>
          </a:prstGeom>
          <a:noFill/>
        </p:spPr>
        <p:txBody>
          <a:bodyPr wrap="square" lIns="45720" tIns="27432" rIns="45720" bIns="27432" anchor="t">
            <a:spAutoFit/>
          </a:bodyPr>
          <a:lstStyle/>
          <a:p>
            <a:pPr marR="274320" indent="-274320" algn="r" rtl="1">
              <a:spcAft>
                <a:spcPts val="1200"/>
              </a:spcAft>
              <a:buClr>
                <a:srgbClr val="E4572E"/>
              </a:buClr>
              <a:buFont typeface="Arial"/>
              <a:buChar char="•"/>
            </a:pPr>
            <a:r>
              <a:rPr lang="he-IL" sz="1600" b="0" i="0">
                <a:solidFill>
                  <a:srgbClr val="2B1E3F"/>
                </a:solidFill>
                <a:latin typeface="Arial"/>
                <a:cs typeface="Arial"/>
              </a:rPr>
              <a:t>שתי תוצאות בלבד: דוחים / לא דוחים את השערת האפס</a:t>
            </a:r>
          </a:p>
          <a:p>
            <a:pPr marR="274320" indent="-274320" algn="r" rtl="1">
              <a:spcAft>
                <a:spcPts val="1200"/>
              </a:spcAft>
              <a:buClr>
                <a:srgbClr val="E4572E"/>
              </a:buClr>
              <a:buFont typeface="Arial"/>
              <a:buChar char="•"/>
            </a:pPr>
            <a:r>
              <a:rPr lang="he-IL" sz="1600" b="0" i="0">
                <a:solidFill>
                  <a:srgbClr val="2B1E3F"/>
                </a:solidFill>
                <a:latin typeface="Arial"/>
                <a:cs typeface="Arial"/>
              </a:rPr>
              <a:t>בחירות סובייקטיביות: איזה מבחן, איזו השערת אפס, איזו רמת מובהקות</a:t>
            </a:r>
          </a:p>
          <a:p>
            <a:pPr marR="274320" indent="-274320" algn="r" rtl="1">
              <a:spcAft>
                <a:spcPts val="1200"/>
              </a:spcAft>
              <a:buClr>
                <a:srgbClr val="E4572E"/>
              </a:buClr>
              <a:buFont typeface="Arial"/>
              <a:buChar char="•"/>
            </a:pPr>
            <a:r>
              <a:rPr lang="he-IL" sz="1600" b="0" i="0">
                <a:solidFill>
                  <a:srgbClr val="2B1E3F"/>
                </a:solidFill>
                <a:latin typeface="Arial"/>
                <a:cs typeface="Arial"/>
              </a:rPr>
              <a:t>לא אומרת דבר ישיר על השערת המחקר — וקל לפרש לא נכון</a:t>
            </a:r>
          </a:p>
        </p:txBody>
      </p:sp>
      <p:sp>
        <p:nvSpPr>
          <p:cNvPr id="7" name="card"/>
          <p:cNvSpPr/>
          <p:nvPr/>
        </p:nvSpPr>
        <p:spPr>
          <a:xfrm>
            <a:off x="548640" y="1463040"/>
            <a:ext cx="5358384" cy="4023360"/>
          </a:xfrm>
          <a:prstGeom prst="roundRect">
            <a:avLst>
              <a:gd name="adj" fmla="val 3409"/>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badge θ"/>
          <p:cNvSpPr/>
          <p:nvPr/>
        </p:nvSpPr>
        <p:spPr>
          <a:xfrm>
            <a:off x="4901183" y="1691640"/>
            <a:ext cx="777240" cy="77724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200" b="1" i="0">
                <a:solidFill>
                  <a:srgbClr val="FFFFFF"/>
                </a:solidFill>
                <a:latin typeface="Arial"/>
                <a:cs typeface="Arial"/>
              </a:rPr>
              <a:t>θ</a:t>
            </a:r>
          </a:p>
        </p:txBody>
      </p:sp>
      <p:sp>
        <p:nvSpPr>
          <p:cNvPr id="9" name="TextBox 8"/>
          <p:cNvSpPr txBox="1"/>
          <p:nvPr/>
        </p:nvSpPr>
        <p:spPr>
          <a:xfrm>
            <a:off x="822959" y="1737360"/>
            <a:ext cx="3931920" cy="731520"/>
          </a:xfrm>
          <a:prstGeom prst="rect">
            <a:avLst/>
          </a:prstGeom>
          <a:noFill/>
        </p:spPr>
        <p:txBody>
          <a:bodyPr wrap="square" lIns="45720" tIns="27432" rIns="45720" bIns="27432" anchor="ctr">
            <a:spAutoFit/>
          </a:bodyPr>
          <a:lstStyle/>
          <a:p>
            <a:pPr algn="r" rtl="1">
              <a:spcAft>
                <a:spcPts val="0"/>
              </a:spcAft>
            </a:pPr>
            <a:r>
              <a:rPr lang="he-IL" sz="2200" b="1" i="0">
                <a:solidFill>
                  <a:srgbClr val="2B1E3F"/>
                </a:solidFill>
                <a:latin typeface="Arial"/>
                <a:cs typeface="Arial"/>
              </a:rPr>
              <a:t>אמידה</a:t>
            </a:r>
          </a:p>
        </p:txBody>
      </p:sp>
      <p:sp>
        <p:nvSpPr>
          <p:cNvPr id="10" name="TextBox 9"/>
          <p:cNvSpPr txBox="1"/>
          <p:nvPr/>
        </p:nvSpPr>
        <p:spPr>
          <a:xfrm>
            <a:off x="822959" y="2743200"/>
            <a:ext cx="4809744" cy="2651760"/>
          </a:xfrm>
          <a:prstGeom prst="rect">
            <a:avLst/>
          </a:prstGeom>
          <a:noFill/>
        </p:spPr>
        <p:txBody>
          <a:bodyPr wrap="square" lIns="45720" tIns="27432" rIns="45720" bIns="27432" anchor="t">
            <a:spAutoFit/>
          </a:bodyPr>
          <a:lstStyle/>
          <a:p>
            <a:pPr marR="274320" indent="-274320" algn="r" rtl="1">
              <a:spcAft>
                <a:spcPts val="1200"/>
              </a:spcAft>
              <a:buClr>
                <a:srgbClr val="17A398"/>
              </a:buClr>
              <a:buFont typeface="Arial"/>
              <a:buChar char="•"/>
            </a:pPr>
            <a:r>
              <a:rPr lang="he-IL" sz="1600" b="0" i="0">
                <a:solidFill>
                  <a:srgbClr val="2B1E3F"/>
                </a:solidFill>
                <a:latin typeface="Arial"/>
                <a:cs typeface="Arial"/>
              </a:rPr>
              <a:t>לא “האם יש הבדל?” אלא “כמה גדול ההבדל?”</a:t>
            </a:r>
          </a:p>
          <a:p>
            <a:pPr marR="274320" indent="-274320" algn="r" rtl="1">
              <a:spcAft>
                <a:spcPts val="1200"/>
              </a:spcAft>
              <a:buClr>
                <a:srgbClr val="17A398"/>
              </a:buClr>
              <a:buFont typeface="Arial"/>
              <a:buChar char="•"/>
            </a:pPr>
            <a:r>
              <a:rPr lang="he-IL" sz="1600" b="0" i="0">
                <a:solidFill>
                  <a:srgbClr val="2B1E3F"/>
                </a:solidFill>
                <a:latin typeface="Arial"/>
                <a:cs typeface="Arial"/>
              </a:rPr>
              <a:t>אי-ודאות אפיסטמית — חוסר ידע על הפרמטרים</a:t>
            </a:r>
          </a:p>
          <a:p>
            <a:pPr marR="274320" indent="-274320" algn="r" rtl="1">
              <a:spcAft>
                <a:spcPts val="1200"/>
              </a:spcAft>
              <a:buClr>
                <a:srgbClr val="17A398"/>
              </a:buClr>
              <a:buFont typeface="Arial"/>
              <a:buChar char="•"/>
            </a:pPr>
            <a:r>
              <a:rPr lang="he-IL" sz="1600" b="0" i="0">
                <a:solidFill>
                  <a:srgbClr val="2B1E3F"/>
                </a:solidFill>
                <a:latin typeface="Arial"/>
                <a:cs typeface="Arial"/>
              </a:rPr>
              <a:t>אי-ודאות אלאטורית — הרעש הטבעי של המערכת</a:t>
            </a:r>
          </a:p>
        </p:txBody>
      </p:sp>
      <p:sp>
        <p:nvSpPr>
          <p:cNvPr id="11" name="card"/>
          <p:cNvSpPr/>
          <p:nvPr/>
        </p:nvSpPr>
        <p:spPr>
          <a:xfrm>
            <a:off x="548640" y="5669280"/>
            <a:ext cx="11091672" cy="640080"/>
          </a:xfrm>
          <a:prstGeom prst="roundRect">
            <a:avLst>
              <a:gd name="adj" fmla="val 21428"/>
            </a:avLst>
          </a:prstGeom>
          <a:solidFill>
            <a:srgbClr val="E6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5669280"/>
            <a:ext cx="10634472" cy="640080"/>
          </a:xfrm>
          <a:prstGeom prst="rect">
            <a:avLst/>
          </a:prstGeom>
          <a:noFill/>
        </p:spPr>
        <p:txBody>
          <a:bodyPr wrap="square" lIns="45720" tIns="27432" rIns="45720" bIns="27432" anchor="ctr">
            <a:spAutoFit/>
          </a:bodyPr>
          <a:lstStyle/>
          <a:p>
            <a:pPr algn="r" rtl="1">
              <a:spcAft>
                <a:spcPts val="0"/>
              </a:spcAft>
            </a:pPr>
            <a:r>
              <a:rPr lang="he-IL" sz="1600" b="1" i="0">
                <a:solidFill>
                  <a:srgbClr val="7B5EA7"/>
                </a:solidFill>
                <a:latin typeface="Arial"/>
                <a:cs typeface="Arial"/>
              </a:rPr>
              <a:t>בהמשך השיעור: נאמוד את הכמות שמעניינת אותנו — ונשאל עליה שאלות הסתברותיות ישירות</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חלק 2: ראדון במחוז הנפין</a:t>
            </a:r>
          </a:p>
        </p:txBody>
      </p:sp>
      <p:pic>
        <p:nvPicPr>
          <p:cNvPr id="3" name="Picture 2" descr="radon_hist.png"/>
          <p:cNvPicPr>
            <a:picLocks noChangeAspect="1"/>
          </p:cNvPicPr>
          <p:nvPr/>
        </p:nvPicPr>
        <p:blipFill>
          <a:blip r:embed="rId3"/>
          <a:stretch>
            <a:fillRect/>
          </a:stretch>
        </p:blipFill>
        <p:spPr>
          <a:xfrm>
            <a:off x="548640" y="1463040"/>
            <a:ext cx="6766560" cy="3833669"/>
          </a:xfrm>
          <a:prstGeom prst="rect">
            <a:avLst/>
          </a:prstGeom>
        </p:spPr>
      </p:pic>
      <p:sp>
        <p:nvSpPr>
          <p:cNvPr id="4" name="card"/>
          <p:cNvSpPr/>
          <p:nvPr/>
        </p:nvSpPr>
        <p:spPr>
          <a:xfrm>
            <a:off x="10561320" y="1463040"/>
            <a:ext cx="1078992" cy="1280160"/>
          </a:xfrm>
          <a:prstGeom prst="roundRect">
            <a:avLst>
              <a:gd name="adj" fmla="val 12711"/>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61320" y="1536192"/>
            <a:ext cx="1078992" cy="640080"/>
          </a:xfrm>
          <a:prstGeom prst="rect">
            <a:avLst/>
          </a:prstGeom>
          <a:noFill/>
        </p:spPr>
        <p:txBody>
          <a:bodyPr wrap="square" lIns="45720" tIns="27432" rIns="45720" bIns="27432" anchor="ctr">
            <a:spAutoFit/>
          </a:bodyPr>
          <a:lstStyle/>
          <a:p>
            <a:pPr algn="ctr" rtl="1">
              <a:spcAft>
                <a:spcPts val="0"/>
              </a:spcAft>
            </a:pPr>
            <a:r>
              <a:rPr lang="he-IL" sz="2400" b="1" i="0">
                <a:solidFill>
                  <a:srgbClr val="17A398"/>
                </a:solidFill>
                <a:latin typeface="Arial"/>
                <a:cs typeface="Arial"/>
              </a:rPr>
              <a:t>105</a:t>
            </a:r>
          </a:p>
        </p:txBody>
      </p:sp>
      <p:sp>
        <p:nvSpPr>
          <p:cNvPr id="6" name="TextBox 5"/>
          <p:cNvSpPr txBox="1"/>
          <p:nvPr/>
        </p:nvSpPr>
        <p:spPr>
          <a:xfrm>
            <a:off x="10607040" y="2167128"/>
            <a:ext cx="987551" cy="512063"/>
          </a:xfrm>
          <a:prstGeom prst="rect">
            <a:avLst/>
          </a:prstGeom>
          <a:noFill/>
        </p:spPr>
        <p:txBody>
          <a:bodyPr wrap="square" lIns="45720" tIns="27432" rIns="45720" bIns="27432" anchor="t">
            <a:spAutoFit/>
          </a:bodyPr>
          <a:lstStyle/>
          <a:p>
            <a:pPr algn="ctr" rtl="1">
              <a:spcAft>
                <a:spcPts val="0"/>
              </a:spcAft>
            </a:pPr>
            <a:r>
              <a:rPr lang="he-IL" sz="1300" b="0" i="0">
                <a:solidFill>
                  <a:srgbClr val="6B6478"/>
                </a:solidFill>
                <a:latin typeface="Arial"/>
                <a:cs typeface="Arial"/>
              </a:rPr>
              <a:t>בתים</a:t>
            </a:r>
          </a:p>
        </p:txBody>
      </p:sp>
      <p:sp>
        <p:nvSpPr>
          <p:cNvPr id="7" name="card"/>
          <p:cNvSpPr/>
          <p:nvPr/>
        </p:nvSpPr>
        <p:spPr>
          <a:xfrm>
            <a:off x="9390888" y="1463040"/>
            <a:ext cx="1078992" cy="1280160"/>
          </a:xfrm>
          <a:prstGeom prst="roundRect">
            <a:avLst>
              <a:gd name="adj" fmla="val 12711"/>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90888" y="1536192"/>
            <a:ext cx="1078992" cy="640080"/>
          </a:xfrm>
          <a:prstGeom prst="rect">
            <a:avLst/>
          </a:prstGeom>
          <a:noFill/>
        </p:spPr>
        <p:txBody>
          <a:bodyPr wrap="square" lIns="45720" tIns="27432" rIns="45720" bIns="27432" anchor="ctr">
            <a:spAutoFit/>
          </a:bodyPr>
          <a:lstStyle/>
          <a:p>
            <a:pPr algn="ctr" rtl="1">
              <a:spcAft>
                <a:spcPts val="0"/>
              </a:spcAft>
            </a:pPr>
            <a:r>
              <a:rPr lang="he-IL" sz="2400" b="1" i="0">
                <a:solidFill>
                  <a:srgbClr val="E4572E"/>
                </a:solidFill>
                <a:latin typeface="Arial"/>
                <a:cs typeface="Arial"/>
              </a:rPr>
              <a:t>4</a:t>
            </a:r>
          </a:p>
        </p:txBody>
      </p:sp>
      <p:sp>
        <p:nvSpPr>
          <p:cNvPr id="9" name="TextBox 8"/>
          <p:cNvSpPr txBox="1"/>
          <p:nvPr/>
        </p:nvSpPr>
        <p:spPr>
          <a:xfrm>
            <a:off x="9436608" y="2167128"/>
            <a:ext cx="987551" cy="512063"/>
          </a:xfrm>
          <a:prstGeom prst="rect">
            <a:avLst/>
          </a:prstGeom>
          <a:noFill/>
        </p:spPr>
        <p:txBody>
          <a:bodyPr wrap="square" lIns="45720" tIns="27432" rIns="45720" bIns="27432" anchor="t">
            <a:spAutoFit/>
          </a:bodyPr>
          <a:lstStyle/>
          <a:p>
            <a:pPr algn="ctr" rtl="1">
              <a:spcAft>
                <a:spcPts val="0"/>
              </a:spcAft>
            </a:pPr>
            <a:r>
              <a:rPr lang="he-IL" sz="1200" b="0" i="0">
                <a:solidFill>
                  <a:srgbClr val="6B6478"/>
                </a:solidFill>
                <a:latin typeface="Arial"/>
                <a:cs typeface="Arial"/>
              </a:rPr>
              <a:t>סף ה-EPA</a:t>
            </a:r>
          </a:p>
        </p:txBody>
      </p:sp>
      <p:sp>
        <p:nvSpPr>
          <p:cNvPr id="10" name="card"/>
          <p:cNvSpPr/>
          <p:nvPr/>
        </p:nvSpPr>
        <p:spPr>
          <a:xfrm>
            <a:off x="8220456" y="1463040"/>
            <a:ext cx="1078992" cy="1280160"/>
          </a:xfrm>
          <a:prstGeom prst="roundRect">
            <a:avLst>
              <a:gd name="adj" fmla="val 12711"/>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0456" y="1536192"/>
            <a:ext cx="1078992" cy="640080"/>
          </a:xfrm>
          <a:prstGeom prst="rect">
            <a:avLst/>
          </a:prstGeom>
          <a:noFill/>
        </p:spPr>
        <p:txBody>
          <a:bodyPr wrap="square" lIns="45720" tIns="27432" rIns="45720" bIns="27432" anchor="ctr">
            <a:spAutoFit/>
          </a:bodyPr>
          <a:lstStyle/>
          <a:p>
            <a:pPr algn="ctr" rtl="1">
              <a:spcAft>
                <a:spcPts val="0"/>
              </a:spcAft>
            </a:pPr>
            <a:r>
              <a:rPr lang="he-IL" sz="2400" b="1" i="0">
                <a:solidFill>
                  <a:srgbClr val="7B5EA7"/>
                </a:solidFill>
                <a:latin typeface="Arial"/>
                <a:cs typeface="Arial"/>
              </a:rPr>
              <a:t>47%</a:t>
            </a:r>
          </a:p>
        </p:txBody>
      </p:sp>
      <p:sp>
        <p:nvSpPr>
          <p:cNvPr id="12" name="TextBox 11"/>
          <p:cNvSpPr txBox="1"/>
          <p:nvPr/>
        </p:nvSpPr>
        <p:spPr>
          <a:xfrm>
            <a:off x="8266176" y="2167128"/>
            <a:ext cx="987551" cy="512063"/>
          </a:xfrm>
          <a:prstGeom prst="rect">
            <a:avLst/>
          </a:prstGeom>
          <a:noFill/>
        </p:spPr>
        <p:txBody>
          <a:bodyPr wrap="square" lIns="45720" tIns="27432" rIns="45720" bIns="27432" anchor="t">
            <a:spAutoFit/>
          </a:bodyPr>
          <a:lstStyle/>
          <a:p>
            <a:pPr algn="ctr" rtl="1">
              <a:spcAft>
                <a:spcPts val="0"/>
              </a:spcAft>
            </a:pPr>
            <a:r>
              <a:rPr lang="he-IL" sz="1200" b="0" i="0">
                <a:solidFill>
                  <a:srgbClr val="6B6478"/>
                </a:solidFill>
                <a:latin typeface="Arial"/>
                <a:cs typeface="Arial"/>
              </a:rPr>
              <a:t>מעל הסף</a:t>
            </a:r>
          </a:p>
        </p:txBody>
      </p:sp>
      <p:sp>
        <p:nvSpPr>
          <p:cNvPr id="13" name="TextBox 12"/>
          <p:cNvSpPr txBox="1"/>
          <p:nvPr/>
        </p:nvSpPr>
        <p:spPr>
          <a:xfrm>
            <a:off x="7589520" y="3063240"/>
            <a:ext cx="4050791" cy="3200400"/>
          </a:xfrm>
          <a:prstGeom prst="rect">
            <a:avLst/>
          </a:prstGeom>
          <a:noFill/>
        </p:spPr>
        <p:txBody>
          <a:bodyPr wrap="square" lIns="45720" tIns="27432" rIns="45720" bIns="27432" anchor="t">
            <a:spAutoFit/>
          </a:bodyPr>
          <a:lstStyle/>
          <a:p>
            <a:pPr marR="274320" indent="-274320" algn="r" rtl="1">
              <a:spcAft>
                <a:spcPts val="1000"/>
              </a:spcAft>
              <a:buClr>
                <a:srgbClr val="17A398"/>
              </a:buClr>
              <a:buFont typeface="Arial"/>
              <a:buChar char="•"/>
            </a:pPr>
            <a:r>
              <a:rPr lang="he-IL" sz="1600" b="0" i="0">
                <a:solidFill>
                  <a:srgbClr val="2B1E3F"/>
                </a:solidFill>
                <a:latin typeface="Arial"/>
                <a:cs typeface="Arial"/>
              </a:rPr>
              <a:t>ראדון — הגורם המוביל לסרטן ריאות אצל לא-מעשנים</a:t>
            </a:r>
          </a:p>
          <a:p>
            <a:pPr marR="274320" indent="-274320" algn="r" rtl="1">
              <a:spcAft>
                <a:spcPts val="1000"/>
              </a:spcAft>
              <a:buClr>
                <a:srgbClr val="17A398"/>
              </a:buClr>
              <a:buFont typeface="Arial"/>
              <a:buChar char="•"/>
            </a:pPr>
            <a:r>
              <a:rPr lang="he-IL" sz="1600" b="0" i="0">
                <a:solidFill>
                  <a:srgbClr val="2B1E3F"/>
                </a:solidFill>
                <a:latin typeface="Arial"/>
                <a:cs typeface="Arial"/>
              </a:rPr>
              <a:t>עובדים בסקאלת לוג: </a:t>
            </a:r>
            <a:r>
              <a:rPr lang="en-US" sz="1600" b="0" i="0">
                <a:solidFill>
                  <a:srgbClr val="2B1E3F"/>
                </a:solidFill>
                <a:latin typeface="Arial"/>
                <a:cs typeface="Arial"/>
              </a:rPr>
              <a:t>‪log(4) = 1.386‬</a:t>
            </a:r>
          </a:p>
          <a:p>
            <a:pPr marR="274320" indent="-274320" algn="r" rtl="1">
              <a:spcAft>
                <a:spcPts val="1000"/>
              </a:spcAft>
              <a:buClr>
                <a:srgbClr val="17A398"/>
              </a:buClr>
              <a:buFont typeface="Arial"/>
              <a:buChar char="•"/>
            </a:pPr>
            <a:r>
              <a:rPr lang="he-IL" sz="1600" b="1" i="0">
                <a:solidFill>
                  <a:srgbClr val="7B5EA7"/>
                </a:solidFill>
                <a:latin typeface="Arial"/>
                <a:cs typeface="Arial"/>
              </a:rPr>
              <a:t>שאלה 1:</a:t>
            </a:r>
            <a:r>
              <a:rPr lang="he-IL" sz="1600" b="0" i="0">
                <a:solidFill>
                  <a:srgbClr val="2B1E3F"/>
                </a:solidFill>
                <a:latin typeface="Arial"/>
                <a:cs typeface="Arial"/>
              </a:rPr>
              <a:t> האם הממוצע במחוז מעל 4?</a:t>
            </a:r>
          </a:p>
          <a:p>
            <a:pPr marR="274320" indent="-274320" algn="r" rtl="1">
              <a:spcAft>
                <a:spcPts val="1000"/>
              </a:spcAft>
              <a:buClr>
                <a:srgbClr val="17A398"/>
              </a:buClr>
              <a:buFont typeface="Arial"/>
              <a:buChar char="•"/>
            </a:pPr>
            <a:r>
              <a:rPr lang="he-IL" sz="1600" b="1" i="0">
                <a:solidFill>
                  <a:srgbClr val="7B5EA7"/>
                </a:solidFill>
                <a:latin typeface="Arial"/>
                <a:cs typeface="Arial"/>
              </a:rPr>
              <a:t>שאלה 2:</a:t>
            </a:r>
            <a:r>
              <a:rPr lang="he-IL" sz="1600" b="0" i="0">
                <a:solidFill>
                  <a:srgbClr val="2B1E3F"/>
                </a:solidFill>
                <a:latin typeface="Arial"/>
                <a:cs typeface="Arial"/>
              </a:rPr>
              <a:t> מה הסיכוי שבית אקראי מעל 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המודל: נראות נורמלית ושני priors</a:t>
            </a:r>
          </a:p>
        </p:txBody>
      </p:sp>
      <p:sp>
        <p:nvSpPr>
          <p:cNvPr id="3" name="card"/>
          <p:cNvSpPr/>
          <p:nvPr/>
        </p:nvSpPr>
        <p:spPr>
          <a:xfrm>
            <a:off x="548640" y="1463040"/>
            <a:ext cx="11091672" cy="1828800"/>
          </a:xfrm>
          <a:prstGeom prst="roundRect">
            <a:avLst>
              <a:gd name="adj" fmla="val 75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eq_radon_like.png"/>
          <p:cNvPicPr>
            <a:picLocks noChangeAspect="1"/>
          </p:cNvPicPr>
          <p:nvPr/>
        </p:nvPicPr>
        <p:blipFill>
          <a:blip r:embed="rId3"/>
          <a:stretch>
            <a:fillRect/>
          </a:stretch>
        </p:blipFill>
        <p:spPr>
          <a:xfrm>
            <a:off x="822960" y="1645920"/>
            <a:ext cx="2515715" cy="548640"/>
          </a:xfrm>
          <a:prstGeom prst="rect">
            <a:avLst/>
          </a:prstGeom>
        </p:spPr>
      </p:pic>
      <p:pic>
        <p:nvPicPr>
          <p:cNvPr id="5" name="Picture 4" descr="eq_radon_prior.png"/>
          <p:cNvPicPr>
            <a:picLocks noChangeAspect="1"/>
          </p:cNvPicPr>
          <p:nvPr/>
        </p:nvPicPr>
        <p:blipFill>
          <a:blip r:embed="rId4"/>
          <a:stretch>
            <a:fillRect/>
          </a:stretch>
        </p:blipFill>
        <p:spPr>
          <a:xfrm>
            <a:off x="822960" y="2468880"/>
            <a:ext cx="4422913" cy="457200"/>
          </a:xfrm>
          <a:prstGeom prst="rect">
            <a:avLst/>
          </a:prstGeom>
        </p:spPr>
      </p:pic>
      <p:sp>
        <p:nvSpPr>
          <p:cNvPr id="6" name="TextBox 5"/>
          <p:cNvSpPr txBox="1"/>
          <p:nvPr/>
        </p:nvSpPr>
        <p:spPr>
          <a:xfrm>
            <a:off x="6675120" y="1600200"/>
            <a:ext cx="4754880" cy="1554480"/>
          </a:xfrm>
          <a:prstGeom prst="rect">
            <a:avLst/>
          </a:prstGeom>
          <a:noFill/>
        </p:spPr>
        <p:txBody>
          <a:bodyPr wrap="square" lIns="45720" tIns="27432" rIns="45720" bIns="27432" anchor="t">
            <a:spAutoFit/>
          </a:bodyPr>
          <a:lstStyle/>
          <a:p>
            <a:pPr marR="274320" indent="-274320" algn="r" rtl="1">
              <a:spcAft>
                <a:spcPts val="1000"/>
              </a:spcAft>
              <a:buClr>
                <a:srgbClr val="17A398"/>
              </a:buClr>
              <a:buFont typeface="Arial"/>
              <a:buChar char="•"/>
            </a:pPr>
            <a:r>
              <a:rPr lang="he-IL" sz="1600" b="0" i="0">
                <a:solidFill>
                  <a:srgbClr val="2B1E3F"/>
                </a:solidFill>
                <a:latin typeface="Arial"/>
                <a:cs typeface="Arial"/>
              </a:rPr>
              <a:t>הנתונים נראים בערך נורמליים — נתחיל מכאן</a:t>
            </a:r>
          </a:p>
          <a:p>
            <a:pPr marR="274320" indent="-274320" algn="r" rtl="1">
              <a:spcAft>
                <a:spcPts val="1000"/>
              </a:spcAft>
              <a:buClr>
                <a:srgbClr val="17A398"/>
              </a:buClr>
              <a:buFont typeface="Arial"/>
              <a:buChar char="•"/>
            </a:pPr>
            <a:r>
              <a:rPr lang="he-IL" sz="1600" b="0" i="0">
                <a:solidFill>
                  <a:srgbClr val="2B1E3F"/>
                </a:solidFill>
                <a:latin typeface="Arial"/>
                <a:cs typeface="Arial"/>
              </a:rPr>
              <a:t>שני נעלמים: הממוצע </a:t>
            </a:r>
            <a:r>
              <a:rPr lang="en-US" sz="1600" b="0" i="0">
                <a:solidFill>
                  <a:srgbClr val="2B1E3F"/>
                </a:solidFill>
                <a:latin typeface="Arial"/>
                <a:cs typeface="Arial"/>
              </a:rPr>
              <a:t>μ</a:t>
            </a:r>
            <a:r>
              <a:rPr lang="he-IL" sz="1600" b="0" i="0">
                <a:solidFill>
                  <a:srgbClr val="2B1E3F"/>
                </a:solidFill>
                <a:latin typeface="Arial"/>
                <a:cs typeface="Arial"/>
              </a:rPr>
              <a:t> וסטיית התקן </a:t>
            </a:r>
            <a:r>
              <a:rPr lang="en-US" sz="1600" b="0" i="0">
                <a:solidFill>
                  <a:srgbClr val="2B1E3F"/>
                </a:solidFill>
                <a:latin typeface="Arial"/>
                <a:cs typeface="Arial"/>
              </a:rPr>
              <a:t>σ</a:t>
            </a:r>
          </a:p>
        </p:txBody>
      </p:sp>
      <p:sp>
        <p:nvSpPr>
          <p:cNvPr id="7" name="code block"/>
          <p:cNvSpPr/>
          <p:nvPr/>
        </p:nvSpPr>
        <p:spPr>
          <a:xfrm>
            <a:off x="548640" y="3520440"/>
            <a:ext cx="6949440" cy="2743200"/>
          </a:xfrm>
          <a:prstGeom prst="roundRect">
            <a:avLst>
              <a:gd name="adj" fmla="val 400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
          <p:cNvSpPr txBox="1"/>
          <p:nvPr/>
        </p:nvSpPr>
        <p:spPr>
          <a:xfrm>
            <a:off x="777240" y="3703320"/>
            <a:ext cx="6492240" cy="2377440"/>
          </a:xfrm>
          <a:prstGeom prst="rect">
            <a:avLst/>
          </a:prstGeom>
          <a:noFill/>
        </p:spPr>
        <p:txBody>
          <a:bodyPr wrap="square">
            <a:spAutoFit/>
          </a:bodyPr>
          <a:lstStyle/>
          <a:p>
            <a:pPr algn="l" rtl="0">
              <a:spcAft>
                <a:spcPts val="0"/>
              </a:spcAft>
            </a:pPr>
            <a:r>
              <a:rPr lang="en-US" sz="1400" b="0" i="0">
                <a:solidFill>
                  <a:srgbClr val="EDE8F5"/>
                </a:solidFill>
                <a:latin typeface="Courier New"/>
                <a:cs typeface="Courier New"/>
              </a:rPr>
              <a:t>with pm.Model() as radon_model:</a:t>
            </a:r>
          </a:p>
          <a:p>
            <a:pPr algn="l" rtl="0">
              <a:spcAft>
                <a:spcPts val="0"/>
              </a:spcAft>
            </a:pPr>
            <a:r>
              <a:rPr lang="en-US" sz="1400" b="0" i="0">
                <a:solidFill>
                  <a:srgbClr val="EDE8F5"/>
                </a:solidFill>
                <a:latin typeface="Courier New"/>
                <a:cs typeface="Courier New"/>
              </a:rPr>
              <a:t>    μ = pm.Normal('μ', mu=0, sigma=10)</a:t>
            </a:r>
          </a:p>
          <a:p>
            <a:pPr algn="l" rtl="0">
              <a:spcAft>
                <a:spcPts val="0"/>
              </a:spcAft>
            </a:pPr>
            <a:r>
              <a:rPr lang="en-US" sz="1400" b="0" i="0">
                <a:solidFill>
                  <a:srgbClr val="EDE8F5"/>
                </a:solidFill>
                <a:latin typeface="Courier New"/>
                <a:cs typeface="Courier New"/>
              </a:rPr>
              <a:t>    σ = pm.Uniform('σ', 0, 10)</a:t>
            </a:r>
          </a:p>
          <a:p>
            <a:pPr algn="l" rtl="0">
              <a:spcAft>
                <a:spcPts val="0"/>
              </a:spcAft>
            </a:pPr>
            <a:r>
              <a:rPr lang="en-US" sz="1400" b="0" i="0">
                <a:solidFill>
                  <a:srgbClr val="EDE8F5"/>
                </a:solidFill>
                <a:latin typeface="Courier New"/>
                <a:cs typeface="Courier New"/>
              </a:rPr>
              <a:t> </a:t>
            </a:r>
          </a:p>
          <a:p>
            <a:pPr algn="l" rtl="0">
              <a:spcAft>
                <a:spcPts val="0"/>
              </a:spcAft>
            </a:pPr>
            <a:r>
              <a:rPr lang="en-US" sz="1400" b="0" i="0">
                <a:solidFill>
                  <a:srgbClr val="EDE8F5"/>
                </a:solidFill>
                <a:latin typeface="Courier New"/>
                <a:cs typeface="Courier New"/>
              </a:rPr>
              <a:t>    dist = pm.Normal('dist', mu=μ, sigma=σ,</a:t>
            </a:r>
          </a:p>
          <a:p>
            <a:pPr algn="l" rtl="0">
              <a:spcAft>
                <a:spcPts val="0"/>
              </a:spcAft>
            </a:pPr>
            <a:r>
              <a:rPr lang="en-US" sz="1400" b="0" i="0">
                <a:solidFill>
                  <a:srgbClr val="EDE8F5"/>
                </a:solidFill>
                <a:latin typeface="Courier New"/>
                <a:cs typeface="Courier New"/>
              </a:rPr>
              <a:t>                     observed=hennepin_radon)</a:t>
            </a:r>
          </a:p>
        </p:txBody>
      </p:sp>
      <p:sp>
        <p:nvSpPr>
          <p:cNvPr id="9" name="card"/>
          <p:cNvSpPr/>
          <p:nvPr/>
        </p:nvSpPr>
        <p:spPr>
          <a:xfrm>
            <a:off x="7818120" y="3520440"/>
            <a:ext cx="3822191" cy="1280160"/>
          </a:xfrm>
          <a:prstGeom prst="roundRect">
            <a:avLst>
              <a:gd name="adj" fmla="val 10714"/>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badge μ"/>
          <p:cNvSpPr/>
          <p:nvPr/>
        </p:nvSpPr>
        <p:spPr>
          <a:xfrm>
            <a:off x="10817352" y="3703320"/>
            <a:ext cx="640080" cy="64008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200" b="1" i="0">
                <a:solidFill>
                  <a:srgbClr val="FFFFFF"/>
                </a:solidFill>
                <a:latin typeface="Arial"/>
                <a:cs typeface="Arial"/>
              </a:rPr>
              <a:t>μ</a:t>
            </a:r>
          </a:p>
        </p:txBody>
      </p:sp>
      <p:sp>
        <p:nvSpPr>
          <p:cNvPr id="11" name="TextBox 10"/>
          <p:cNvSpPr txBox="1"/>
          <p:nvPr/>
        </p:nvSpPr>
        <p:spPr>
          <a:xfrm>
            <a:off x="8001000" y="3657600"/>
            <a:ext cx="2743200" cy="411480"/>
          </a:xfrm>
          <a:prstGeom prst="rect">
            <a:avLst/>
          </a:prstGeom>
          <a:noFill/>
        </p:spPr>
        <p:txBody>
          <a:bodyPr wrap="square" lIns="45720" tIns="27432" rIns="45720" bIns="27432" anchor="t">
            <a:spAutoFit/>
          </a:bodyPr>
          <a:lstStyle/>
          <a:p>
            <a:pPr algn="r" rtl="1">
              <a:spcAft>
                <a:spcPts val="0"/>
              </a:spcAft>
            </a:pPr>
            <a:r>
              <a:rPr lang="he-IL" sz="1600" b="1" i="0">
                <a:solidFill>
                  <a:srgbClr val="2B1E3F"/>
                </a:solidFill>
                <a:latin typeface="Arial"/>
                <a:cs typeface="Arial"/>
              </a:rPr>
              <a:t>prior מפוזר לממוצע</a:t>
            </a:r>
          </a:p>
        </p:txBody>
      </p:sp>
      <p:sp>
        <p:nvSpPr>
          <p:cNvPr id="12" name="TextBox 11"/>
          <p:cNvSpPr txBox="1"/>
          <p:nvPr/>
        </p:nvSpPr>
        <p:spPr>
          <a:xfrm>
            <a:off x="8001000" y="4087368"/>
            <a:ext cx="2743200" cy="685800"/>
          </a:xfrm>
          <a:prstGeom prst="rect">
            <a:avLst/>
          </a:prstGeom>
          <a:noFill/>
        </p:spPr>
        <p:txBody>
          <a:bodyPr wrap="square" lIns="45720" tIns="27432" rIns="45720" bIns="27432" anchor="t">
            <a:spAutoFit/>
          </a:bodyPr>
          <a:lstStyle/>
          <a:p>
            <a:pPr algn="r" rtl="1">
              <a:spcAft>
                <a:spcPts val="0"/>
              </a:spcAft>
            </a:pPr>
            <a:r>
              <a:rPr lang="he-IL" sz="1300" b="0" i="0" dirty="0">
                <a:solidFill>
                  <a:srgbClr val="6B6478"/>
                </a:solidFill>
                <a:latin typeface="Arial"/>
                <a:cs typeface="Arial"/>
              </a:rPr>
              <a:t>נורמלי רחב — הממוצע בלוג יכול להיות כל מספר ממשי</a:t>
            </a:r>
          </a:p>
        </p:txBody>
      </p:sp>
      <p:sp>
        <p:nvSpPr>
          <p:cNvPr id="13" name="card"/>
          <p:cNvSpPr/>
          <p:nvPr/>
        </p:nvSpPr>
        <p:spPr>
          <a:xfrm>
            <a:off x="7818120" y="4937760"/>
            <a:ext cx="3822191" cy="1280160"/>
          </a:xfrm>
          <a:prstGeom prst="roundRect">
            <a:avLst>
              <a:gd name="adj" fmla="val 10714"/>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badge σ"/>
          <p:cNvSpPr/>
          <p:nvPr/>
        </p:nvSpPr>
        <p:spPr>
          <a:xfrm>
            <a:off x="10817352" y="5120640"/>
            <a:ext cx="640080" cy="64008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200" b="1" i="0">
                <a:solidFill>
                  <a:srgbClr val="FFFFFF"/>
                </a:solidFill>
                <a:latin typeface="Arial"/>
                <a:cs typeface="Arial"/>
              </a:rPr>
              <a:t>σ</a:t>
            </a:r>
          </a:p>
        </p:txBody>
      </p:sp>
      <p:sp>
        <p:nvSpPr>
          <p:cNvPr id="15" name="TextBox 14"/>
          <p:cNvSpPr txBox="1"/>
          <p:nvPr/>
        </p:nvSpPr>
        <p:spPr>
          <a:xfrm>
            <a:off x="8001000" y="5074920"/>
            <a:ext cx="2743200" cy="411480"/>
          </a:xfrm>
          <a:prstGeom prst="rect">
            <a:avLst/>
          </a:prstGeom>
          <a:noFill/>
        </p:spPr>
        <p:txBody>
          <a:bodyPr wrap="square" lIns="45720" tIns="27432" rIns="45720" bIns="27432" anchor="t">
            <a:spAutoFit/>
          </a:bodyPr>
          <a:lstStyle/>
          <a:p>
            <a:pPr algn="r" rtl="1">
              <a:spcAft>
                <a:spcPts val="0"/>
              </a:spcAft>
            </a:pPr>
            <a:r>
              <a:rPr lang="he-IL" sz="1600" b="1" i="0">
                <a:solidFill>
                  <a:srgbClr val="2B1E3F"/>
                </a:solidFill>
                <a:latin typeface="Arial"/>
                <a:cs typeface="Arial"/>
              </a:rPr>
              <a:t>prior אחיד לסטיית התקן</a:t>
            </a:r>
          </a:p>
        </p:txBody>
      </p:sp>
      <p:sp>
        <p:nvSpPr>
          <p:cNvPr id="16" name="TextBox 15"/>
          <p:cNvSpPr txBox="1"/>
          <p:nvPr/>
        </p:nvSpPr>
        <p:spPr>
          <a:xfrm>
            <a:off x="8001000" y="5504688"/>
            <a:ext cx="2743200" cy="685800"/>
          </a:xfrm>
          <a:prstGeom prst="rect">
            <a:avLst/>
          </a:prstGeom>
          <a:noFill/>
        </p:spPr>
        <p:txBody>
          <a:bodyPr wrap="square" lIns="45720" tIns="27432" rIns="45720" bIns="27432" anchor="t">
            <a:spAutoFit/>
          </a:bodyPr>
          <a:lstStyle/>
          <a:p>
            <a:pPr algn="r" rtl="1">
              <a:spcAft>
                <a:spcPts val="0"/>
              </a:spcAft>
            </a:pPr>
            <a:r>
              <a:rPr lang="he-IL" sz="1300" b="0" i="0">
                <a:solidFill>
                  <a:srgbClr val="6B6478"/>
                </a:solidFill>
                <a:latin typeface="Arial"/>
                <a:cs typeface="Arial"/>
              </a:rPr>
              <a:t>חיובית, וחסומה ב-10 — הרבה מעל כל ערך סביר</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בדיקת prior predictive</a:t>
            </a:r>
          </a:p>
        </p:txBody>
      </p:sp>
      <p:pic>
        <p:nvPicPr>
          <p:cNvPr id="3" name="Picture 2" descr="radon_prior_pred.png"/>
          <p:cNvPicPr>
            <a:picLocks noChangeAspect="1"/>
          </p:cNvPicPr>
          <p:nvPr/>
        </p:nvPicPr>
        <p:blipFill>
          <a:blip r:embed="rId3"/>
          <a:stretch>
            <a:fillRect/>
          </a:stretch>
        </p:blipFill>
        <p:spPr>
          <a:xfrm>
            <a:off x="548640" y="1463040"/>
            <a:ext cx="7315200" cy="3326739"/>
          </a:xfrm>
          <a:prstGeom prst="rect">
            <a:avLst/>
          </a:prstGeom>
        </p:spPr>
      </p:pic>
      <p:sp>
        <p:nvSpPr>
          <p:cNvPr id="4" name="code block"/>
          <p:cNvSpPr/>
          <p:nvPr/>
        </p:nvSpPr>
        <p:spPr>
          <a:xfrm>
            <a:off x="548640" y="4937760"/>
            <a:ext cx="7315200" cy="1325880"/>
          </a:xfrm>
          <a:prstGeom prst="roundRect">
            <a:avLst>
              <a:gd name="adj" fmla="val 8275"/>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
          <p:cNvSpPr txBox="1"/>
          <p:nvPr/>
        </p:nvSpPr>
        <p:spPr>
          <a:xfrm>
            <a:off x="777240" y="5120640"/>
            <a:ext cx="6858000" cy="960119"/>
          </a:xfrm>
          <a:prstGeom prst="rect">
            <a:avLst/>
          </a:prstGeom>
          <a:noFill/>
        </p:spPr>
        <p:txBody>
          <a:bodyPr wrap="square">
            <a:spAutoFit/>
          </a:bodyPr>
          <a:lstStyle/>
          <a:p>
            <a:pPr algn="l" rtl="0">
              <a:spcAft>
                <a:spcPts val="0"/>
              </a:spcAft>
            </a:pPr>
            <a:r>
              <a:rPr lang="en-US" sz="1300" b="0" i="0">
                <a:solidFill>
                  <a:srgbClr val="EDE8F5"/>
                </a:solidFill>
                <a:latin typeface="Courier New"/>
                <a:cs typeface="Courier New"/>
              </a:rPr>
              <a:t>with radon_model:</a:t>
            </a:r>
          </a:p>
          <a:p>
            <a:pPr algn="l" rtl="0">
              <a:spcAft>
                <a:spcPts val="0"/>
              </a:spcAft>
            </a:pPr>
            <a:r>
              <a:rPr lang="en-US" sz="1300" b="0" i="0">
                <a:solidFill>
                  <a:srgbClr val="EDE8F5"/>
                </a:solidFill>
                <a:latin typeface="Courier New"/>
                <a:cs typeface="Courier New"/>
              </a:rPr>
              <a:t>    dist1 = pm.Normal('dist1', mu=μ, sigma=σ)</a:t>
            </a:r>
          </a:p>
          <a:p>
            <a:pPr algn="l" rtl="0">
              <a:spcAft>
                <a:spcPts val="0"/>
              </a:spcAft>
            </a:pPr>
            <a:r>
              <a:rPr lang="en-US" sz="1300" b="0" i="0">
                <a:solidFill>
                  <a:srgbClr val="EDE8F5"/>
                </a:solidFill>
                <a:latin typeface="Courier New"/>
                <a:cs typeface="Courier New"/>
              </a:rPr>
              <a:t>    prior_sample = pm.sample_prior_predictive(1000)</a:t>
            </a:r>
          </a:p>
        </p:txBody>
      </p:sp>
      <p:sp>
        <p:nvSpPr>
          <p:cNvPr id="6" name="TextBox 5"/>
          <p:cNvSpPr txBox="1"/>
          <p:nvPr/>
        </p:nvSpPr>
        <p:spPr>
          <a:xfrm>
            <a:off x="8183879" y="1554480"/>
            <a:ext cx="3456432" cy="4663440"/>
          </a:xfrm>
          <a:prstGeom prst="rect">
            <a:avLst/>
          </a:prstGeom>
          <a:noFill/>
        </p:spPr>
        <p:txBody>
          <a:bodyPr wrap="square" lIns="45720" tIns="27432" rIns="45720" bIns="27432" anchor="t">
            <a:spAutoFit/>
          </a:bodyPr>
          <a:lstStyle/>
          <a:p>
            <a:pPr marR="274320" indent="-274320" algn="r" rtl="1">
              <a:spcAft>
                <a:spcPts val="1200"/>
              </a:spcAft>
              <a:buClr>
                <a:srgbClr val="17A398"/>
              </a:buClr>
              <a:buFont typeface="Arial"/>
              <a:buChar char="•"/>
            </a:pPr>
            <a:r>
              <a:rPr lang="he-IL" sz="1600" b="0" i="0">
                <a:solidFill>
                  <a:srgbClr val="2B1E3F"/>
                </a:solidFill>
                <a:latin typeface="Arial"/>
                <a:cs typeface="Arial"/>
              </a:rPr>
              <a:t>דוגמים נתונים מהמודל — </a:t>
            </a:r>
            <a:r>
              <a:rPr lang="he-IL" sz="1600" b="1" i="0">
                <a:solidFill>
                  <a:srgbClr val="7B5EA7"/>
                </a:solidFill>
                <a:latin typeface="Arial"/>
                <a:cs typeface="Arial"/>
              </a:rPr>
              <a:t>לפני</a:t>
            </a:r>
            <a:r>
              <a:rPr lang="he-IL" sz="1600" b="0" i="0">
                <a:solidFill>
                  <a:srgbClr val="2B1E3F"/>
                </a:solidFill>
                <a:latin typeface="Arial"/>
                <a:cs typeface="Arial"/>
              </a:rPr>
              <a:t> שראה את הנתונים</a:t>
            </a:r>
          </a:p>
          <a:p>
            <a:pPr marR="274320" indent="-274320" algn="r" rtl="1">
              <a:spcAft>
                <a:spcPts val="1200"/>
              </a:spcAft>
              <a:buClr>
                <a:srgbClr val="17A398"/>
              </a:buClr>
              <a:buFont typeface="Arial"/>
              <a:buChar char="•"/>
            </a:pPr>
            <a:r>
              <a:rPr lang="he-IL" sz="1600" b="0" i="0">
                <a:solidFill>
                  <a:srgbClr val="2B1E3F"/>
                </a:solidFill>
                <a:latin typeface="Arial"/>
                <a:cs typeface="Arial"/>
              </a:rPr>
              <a:t>ה-priors מייצרים ערכים בטווח של עשרות יחידות לוג</a:t>
            </a:r>
          </a:p>
          <a:p>
            <a:pPr marR="274320" indent="-274320" algn="r" rtl="1">
              <a:spcAft>
                <a:spcPts val="1200"/>
              </a:spcAft>
              <a:buClr>
                <a:srgbClr val="17A398"/>
              </a:buClr>
              <a:buFont typeface="Arial"/>
              <a:buChar char="•"/>
            </a:pPr>
            <a:r>
              <a:rPr lang="he-IL" sz="1600" b="0" i="0">
                <a:solidFill>
                  <a:srgbClr val="2B1E3F"/>
                </a:solidFill>
                <a:latin typeface="Arial"/>
                <a:cs typeface="Arial"/>
              </a:rPr>
              <a:t>הנתונים האמיתיים — בערך בין </a:t>
            </a:r>
            <a:r>
              <a:rPr lang="en-US" sz="1600" b="0" i="0">
                <a:solidFill>
                  <a:srgbClr val="2B1E3F"/>
                </a:solidFill>
                <a:latin typeface="Arial"/>
                <a:cs typeface="Arial"/>
              </a:rPr>
              <a:t>‪-2‬</a:t>
            </a:r>
            <a:r>
              <a:rPr lang="he-IL" sz="1600" b="0" i="0">
                <a:solidFill>
                  <a:srgbClr val="2B1E3F"/>
                </a:solidFill>
                <a:latin typeface="Arial"/>
                <a:cs typeface="Arial"/>
              </a:rPr>
              <a:t> ל-4</a:t>
            </a:r>
          </a:p>
          <a:p>
            <a:pPr marR="274320" indent="-274320" algn="r" rtl="1">
              <a:spcAft>
                <a:spcPts val="1200"/>
              </a:spcAft>
              <a:buClr>
                <a:srgbClr val="17A398"/>
              </a:buClr>
              <a:buFont typeface="Arial"/>
              <a:buChar char="•"/>
            </a:pPr>
            <a:r>
              <a:rPr lang="he-IL" sz="1600" b="0" i="0">
                <a:solidFill>
                  <a:srgbClr val="2B1E3F"/>
                </a:solidFill>
                <a:latin typeface="Arial"/>
                <a:cs typeface="Arial"/>
              </a:rPr>
              <a:t>סימולציות קיצוניות מדי ביחס לידע התחום הן סימן לבעיה במודל</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הפוסטריור של </a:t>
            </a:r>
            <a:r>
              <a:rPr lang="en-US" sz="3400" b="1" i="0">
                <a:solidFill>
                  <a:srgbClr val="2B1E3F"/>
                </a:solidFill>
                <a:latin typeface="Arial"/>
                <a:cs typeface="Arial"/>
              </a:rPr>
              <a:t>μ</a:t>
            </a:r>
            <a:r>
              <a:rPr lang="he-IL" sz="3400" b="1" i="0">
                <a:solidFill>
                  <a:srgbClr val="2B1E3F"/>
                </a:solidFill>
                <a:latin typeface="Arial"/>
                <a:cs typeface="Arial"/>
              </a:rPr>
              <a:t>: האם הממוצע מעל 4?</a:t>
            </a:r>
          </a:p>
        </p:txBody>
      </p:sp>
      <p:pic>
        <p:nvPicPr>
          <p:cNvPr id="3" name="Picture 2" descr="radon_mu_post.png"/>
          <p:cNvPicPr>
            <a:picLocks noChangeAspect="1"/>
          </p:cNvPicPr>
          <p:nvPr/>
        </p:nvPicPr>
        <p:blipFill>
          <a:blip r:embed="rId3"/>
          <a:stretch>
            <a:fillRect/>
          </a:stretch>
        </p:blipFill>
        <p:spPr>
          <a:xfrm>
            <a:off x="548640" y="1463040"/>
            <a:ext cx="6766560" cy="4355557"/>
          </a:xfrm>
          <a:prstGeom prst="rect">
            <a:avLst/>
          </a:prstGeom>
        </p:spPr>
      </p:pic>
      <p:sp>
        <p:nvSpPr>
          <p:cNvPr id="4" name="card"/>
          <p:cNvSpPr/>
          <p:nvPr/>
        </p:nvSpPr>
        <p:spPr>
          <a:xfrm>
            <a:off x="7589520" y="1463040"/>
            <a:ext cx="4050791" cy="2011680"/>
          </a:xfrm>
          <a:prstGeom prst="roundRect">
            <a:avLst>
              <a:gd name="adj" fmla="val 6818"/>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589520" y="1554480"/>
            <a:ext cx="4050791" cy="1097280"/>
          </a:xfrm>
          <a:prstGeom prst="rect">
            <a:avLst/>
          </a:prstGeom>
          <a:noFill/>
        </p:spPr>
        <p:txBody>
          <a:bodyPr wrap="square" lIns="45720" tIns="27432" rIns="45720" bIns="27432" anchor="ctr">
            <a:spAutoFit/>
          </a:bodyPr>
          <a:lstStyle/>
          <a:p>
            <a:pPr algn="ctr" rtl="1">
              <a:spcAft>
                <a:spcPts val="0"/>
              </a:spcAft>
            </a:pPr>
            <a:r>
              <a:rPr lang="he-IL" sz="5400" b="1" i="0">
                <a:solidFill>
                  <a:srgbClr val="E4572E"/>
                </a:solidFill>
                <a:latin typeface="Arial"/>
                <a:cs typeface="Arial"/>
              </a:rPr>
              <a:t>16%</a:t>
            </a:r>
          </a:p>
        </p:txBody>
      </p:sp>
      <p:sp>
        <p:nvSpPr>
          <p:cNvPr id="6" name="TextBox 5"/>
          <p:cNvSpPr txBox="1"/>
          <p:nvPr/>
        </p:nvSpPr>
        <p:spPr>
          <a:xfrm>
            <a:off x="7772400" y="2651760"/>
            <a:ext cx="3685032" cy="731520"/>
          </a:xfrm>
          <a:prstGeom prst="rect">
            <a:avLst/>
          </a:prstGeom>
          <a:noFill/>
        </p:spPr>
        <p:txBody>
          <a:bodyPr wrap="square" lIns="45720" tIns="27432" rIns="45720" bIns="27432" anchor="t">
            <a:spAutoFit/>
          </a:bodyPr>
          <a:lstStyle/>
          <a:p>
            <a:pPr algn="ctr" rtl="1">
              <a:spcAft>
                <a:spcPts val="0"/>
              </a:spcAft>
            </a:pPr>
            <a:r>
              <a:rPr lang="he-IL" sz="1500" b="0" i="0">
                <a:solidFill>
                  <a:srgbClr val="6B6478"/>
                </a:solidFill>
                <a:latin typeface="Arial"/>
                <a:cs typeface="Arial"/>
              </a:rPr>
              <a:t>ההסתברות שהממוצע במחוז מעל 4 pCi/L</a:t>
            </a:r>
          </a:p>
        </p:txBody>
      </p:sp>
      <p:sp>
        <p:nvSpPr>
          <p:cNvPr id="7" name="TextBox 6"/>
          <p:cNvSpPr txBox="1"/>
          <p:nvPr/>
        </p:nvSpPr>
        <p:spPr>
          <a:xfrm>
            <a:off x="7589520" y="3703320"/>
            <a:ext cx="4050791" cy="1280160"/>
          </a:xfrm>
          <a:prstGeom prst="rect">
            <a:avLst/>
          </a:prstGeom>
          <a:noFill/>
        </p:spPr>
        <p:txBody>
          <a:bodyPr wrap="square" lIns="45720" tIns="27432" rIns="45720" bIns="27432" anchor="t">
            <a:spAutoFit/>
          </a:bodyPr>
          <a:lstStyle/>
          <a:p>
            <a:pPr marR="274320" indent="-274320" algn="r" rtl="1">
              <a:spcAft>
                <a:spcPts val="1000"/>
              </a:spcAft>
              <a:buClr>
                <a:srgbClr val="17A398"/>
              </a:buClr>
              <a:buFont typeface="Arial"/>
              <a:buChar char="•"/>
            </a:pPr>
            <a:r>
              <a:rPr lang="en-US" sz="1600" b="0" i="0">
                <a:solidFill>
                  <a:srgbClr val="2B1E3F"/>
                </a:solidFill>
                <a:latin typeface="Arial"/>
                <a:cs typeface="Arial"/>
              </a:rPr>
              <a:t>‪HDI 94%‬</a:t>
            </a:r>
            <a:r>
              <a:rPr lang="he-IL" sz="1600" b="0" i="0">
                <a:solidFill>
                  <a:srgbClr val="2B1E3F"/>
                </a:solidFill>
                <a:latin typeface="Arial"/>
                <a:cs typeface="Arial"/>
              </a:rPr>
              <a:t> של </a:t>
            </a:r>
            <a:r>
              <a:rPr lang="en-US" sz="1600" b="0" i="0">
                <a:solidFill>
                  <a:srgbClr val="2B1E3F"/>
                </a:solidFill>
                <a:latin typeface="Arial"/>
                <a:cs typeface="Arial"/>
              </a:rPr>
              <a:t>μ</a:t>
            </a:r>
            <a:r>
              <a:rPr lang="he-IL" sz="1600" b="0" i="0">
                <a:solidFill>
                  <a:srgbClr val="2B1E3F"/>
                </a:solidFill>
                <a:latin typeface="Arial"/>
                <a:cs typeface="Arial"/>
              </a:rPr>
              <a:t>: </a:t>
            </a:r>
            <a:r>
              <a:rPr lang="en-US" sz="1600" b="0" i="0">
                <a:solidFill>
                  <a:srgbClr val="2B1E3F"/>
                </a:solidFill>
                <a:latin typeface="Arial"/>
                <a:cs typeface="Arial"/>
              </a:rPr>
              <a:t>‪1.20 – 1.45‬</a:t>
            </a:r>
          </a:p>
          <a:p>
            <a:pPr marR="274320" indent="-274320" algn="r" rtl="1">
              <a:spcAft>
                <a:spcPts val="1000"/>
              </a:spcAft>
              <a:buClr>
                <a:srgbClr val="17A398"/>
              </a:buClr>
              <a:buFont typeface="Arial"/>
              <a:buChar char="•"/>
            </a:pPr>
            <a:r>
              <a:rPr lang="he-IL" sz="1600" b="0" i="0">
                <a:solidFill>
                  <a:srgbClr val="2B1E3F"/>
                </a:solidFill>
                <a:latin typeface="Arial"/>
                <a:cs typeface="Arial"/>
              </a:rPr>
              <a:t>תשובה ישירה לשאלה — בלי p-value</a:t>
            </a:r>
          </a:p>
        </p:txBody>
      </p:sp>
      <p:sp>
        <p:nvSpPr>
          <p:cNvPr id="8" name="code block"/>
          <p:cNvSpPr/>
          <p:nvPr/>
        </p:nvSpPr>
        <p:spPr>
          <a:xfrm>
            <a:off x="7589520" y="5029200"/>
            <a:ext cx="4050791" cy="1234440"/>
          </a:xfrm>
          <a:prstGeom prst="roundRect">
            <a:avLst>
              <a:gd name="adj" fmla="val 8888"/>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ode"/>
          <p:cNvSpPr txBox="1"/>
          <p:nvPr/>
        </p:nvSpPr>
        <p:spPr>
          <a:xfrm>
            <a:off x="7818120" y="5212080"/>
            <a:ext cx="3593591" cy="868680"/>
          </a:xfrm>
          <a:prstGeom prst="rect">
            <a:avLst/>
          </a:prstGeom>
          <a:noFill/>
        </p:spPr>
        <p:txBody>
          <a:bodyPr wrap="square">
            <a:spAutoFit/>
          </a:bodyPr>
          <a:lstStyle/>
          <a:p>
            <a:pPr algn="l" rtl="0">
              <a:spcAft>
                <a:spcPts val="0"/>
              </a:spcAft>
            </a:pPr>
            <a:r>
              <a:rPr lang="en-US" sz="1300" b="0" i="0">
                <a:solidFill>
                  <a:srgbClr val="EDE8F5"/>
                </a:solidFill>
                <a:latin typeface="Courier New"/>
                <a:cs typeface="Courier New"/>
              </a:rPr>
              <a:t>az.plot_posterior(samples,</a:t>
            </a:r>
          </a:p>
          <a:p>
            <a:pPr algn="l" rtl="0">
              <a:spcAft>
                <a:spcPts val="0"/>
              </a:spcAft>
            </a:pPr>
            <a:r>
              <a:rPr lang="en-US" sz="1300" b="0" i="0">
                <a:solidFill>
                  <a:srgbClr val="EDE8F5"/>
                </a:solidFill>
                <a:latin typeface="Courier New"/>
                <a:cs typeface="Courier New"/>
              </a:rPr>
              <a:t>  var_names=['μ'],</a:t>
            </a:r>
          </a:p>
          <a:p>
            <a:pPr algn="l" rtl="0">
              <a:spcAft>
                <a:spcPts val="0"/>
              </a:spcAft>
            </a:pPr>
            <a:r>
              <a:rPr lang="en-US" sz="1300" b="0" i="0">
                <a:solidFill>
                  <a:srgbClr val="EDE8F5"/>
                </a:solidFill>
                <a:latin typeface="Courier New"/>
                <a:cs typeface="Courier New"/>
              </a:rPr>
              <a:t>  ref_val=np.log(4))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חיזוי: מה הסיכוי שבית חדש מעל 4?</a:t>
            </a:r>
          </a:p>
        </p:txBody>
      </p:sp>
      <p:sp>
        <p:nvSpPr>
          <p:cNvPr id="3" name="card"/>
          <p:cNvSpPr/>
          <p:nvPr/>
        </p:nvSpPr>
        <p:spPr>
          <a:xfrm>
            <a:off x="548640" y="1463040"/>
            <a:ext cx="6766560" cy="1143000"/>
          </a:xfrm>
          <a:prstGeom prst="roundRect">
            <a:avLst>
              <a:gd name="adj" fmla="val 12000"/>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eq_ppd.png"/>
          <p:cNvPicPr>
            <a:picLocks noChangeAspect="1"/>
          </p:cNvPicPr>
          <p:nvPr/>
        </p:nvPicPr>
        <p:blipFill>
          <a:blip r:embed="rId3"/>
          <a:stretch>
            <a:fillRect/>
          </a:stretch>
        </p:blipFill>
        <p:spPr>
          <a:xfrm>
            <a:off x="822960" y="1627632"/>
            <a:ext cx="3496399" cy="777240"/>
          </a:xfrm>
          <a:prstGeom prst="rect">
            <a:avLst/>
          </a:prstGeom>
        </p:spPr>
      </p:pic>
      <p:pic>
        <p:nvPicPr>
          <p:cNvPr id="5" name="Picture 4" descr="radon_pred_new.png"/>
          <p:cNvPicPr>
            <a:picLocks noChangeAspect="1"/>
          </p:cNvPicPr>
          <p:nvPr/>
        </p:nvPicPr>
        <p:blipFill>
          <a:blip r:embed="rId4"/>
          <a:stretch>
            <a:fillRect/>
          </a:stretch>
        </p:blipFill>
        <p:spPr>
          <a:xfrm>
            <a:off x="548640" y="2788920"/>
            <a:ext cx="5428339" cy="3474720"/>
          </a:xfrm>
          <a:prstGeom prst="rect">
            <a:avLst/>
          </a:prstGeom>
        </p:spPr>
      </p:pic>
      <p:sp>
        <p:nvSpPr>
          <p:cNvPr id="6" name="card"/>
          <p:cNvSpPr/>
          <p:nvPr/>
        </p:nvSpPr>
        <p:spPr>
          <a:xfrm>
            <a:off x="9692640" y="1463040"/>
            <a:ext cx="1947672" cy="1737360"/>
          </a:xfrm>
          <a:prstGeom prst="roundRect">
            <a:avLst>
              <a:gd name="adj" fmla="val 7894"/>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92640" y="1536192"/>
            <a:ext cx="1947672" cy="868680"/>
          </a:xfrm>
          <a:prstGeom prst="rect">
            <a:avLst/>
          </a:prstGeom>
          <a:noFill/>
        </p:spPr>
        <p:txBody>
          <a:bodyPr wrap="square" lIns="45720" tIns="27432" rIns="45720" bIns="27432" anchor="ctr">
            <a:spAutoFit/>
          </a:bodyPr>
          <a:lstStyle/>
          <a:p>
            <a:pPr algn="ctr" rtl="1">
              <a:spcAft>
                <a:spcPts val="0"/>
              </a:spcAft>
            </a:pPr>
            <a:r>
              <a:rPr lang="he-IL" sz="3600" b="1" i="0">
                <a:solidFill>
                  <a:srgbClr val="17A398"/>
                </a:solidFill>
                <a:latin typeface="Arial"/>
                <a:cs typeface="Arial"/>
              </a:rPr>
              <a:t>16%</a:t>
            </a:r>
          </a:p>
        </p:txBody>
      </p:sp>
      <p:sp>
        <p:nvSpPr>
          <p:cNvPr id="8" name="TextBox 7"/>
          <p:cNvSpPr txBox="1"/>
          <p:nvPr/>
        </p:nvSpPr>
        <p:spPr>
          <a:xfrm>
            <a:off x="9738360" y="2418588"/>
            <a:ext cx="1856231" cy="694944"/>
          </a:xfrm>
          <a:prstGeom prst="rect">
            <a:avLst/>
          </a:prstGeom>
          <a:noFill/>
        </p:spPr>
        <p:txBody>
          <a:bodyPr wrap="square" lIns="45720" tIns="27432" rIns="45720" bIns="27432" anchor="t">
            <a:spAutoFit/>
          </a:bodyPr>
          <a:lstStyle/>
          <a:p>
            <a:pPr algn="ctr" rtl="1">
              <a:spcAft>
                <a:spcPts val="0"/>
              </a:spcAft>
            </a:pPr>
            <a:r>
              <a:rPr lang="he-IL" sz="1300" b="0" i="0">
                <a:solidFill>
                  <a:srgbClr val="6B6478"/>
                </a:solidFill>
                <a:latin typeface="Arial"/>
                <a:cs typeface="Arial"/>
              </a:rPr>
              <a:t>הממוצע במחוז מעל 4</a:t>
            </a:r>
          </a:p>
        </p:txBody>
      </p:sp>
      <p:sp>
        <p:nvSpPr>
          <p:cNvPr id="9" name="card"/>
          <p:cNvSpPr/>
          <p:nvPr/>
        </p:nvSpPr>
        <p:spPr>
          <a:xfrm>
            <a:off x="7589520" y="1463040"/>
            <a:ext cx="1947672" cy="1737360"/>
          </a:xfrm>
          <a:prstGeom prst="roundRect">
            <a:avLst>
              <a:gd name="adj" fmla="val 7894"/>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89520" y="1536192"/>
            <a:ext cx="1947672" cy="868680"/>
          </a:xfrm>
          <a:prstGeom prst="rect">
            <a:avLst/>
          </a:prstGeom>
          <a:noFill/>
        </p:spPr>
        <p:txBody>
          <a:bodyPr wrap="square" lIns="45720" tIns="27432" rIns="45720" bIns="27432" anchor="ctr">
            <a:spAutoFit/>
          </a:bodyPr>
          <a:lstStyle/>
          <a:p>
            <a:pPr algn="ctr" rtl="1">
              <a:spcAft>
                <a:spcPts val="0"/>
              </a:spcAft>
            </a:pPr>
            <a:r>
              <a:rPr lang="he-IL" sz="3600" b="1" i="0">
                <a:solidFill>
                  <a:srgbClr val="E4572E"/>
                </a:solidFill>
                <a:latin typeface="Arial"/>
                <a:cs typeface="Arial"/>
              </a:rPr>
              <a:t>47%</a:t>
            </a:r>
          </a:p>
        </p:txBody>
      </p:sp>
      <p:sp>
        <p:nvSpPr>
          <p:cNvPr id="11" name="TextBox 10"/>
          <p:cNvSpPr txBox="1"/>
          <p:nvPr/>
        </p:nvSpPr>
        <p:spPr>
          <a:xfrm>
            <a:off x="7635240" y="2418588"/>
            <a:ext cx="1856231" cy="694944"/>
          </a:xfrm>
          <a:prstGeom prst="rect">
            <a:avLst/>
          </a:prstGeom>
          <a:noFill/>
        </p:spPr>
        <p:txBody>
          <a:bodyPr wrap="square" lIns="45720" tIns="27432" rIns="45720" bIns="27432" anchor="t">
            <a:spAutoFit/>
          </a:bodyPr>
          <a:lstStyle/>
          <a:p>
            <a:pPr algn="ctr" rtl="1">
              <a:spcAft>
                <a:spcPts val="0"/>
              </a:spcAft>
            </a:pPr>
            <a:r>
              <a:rPr lang="he-IL" sz="1300" b="0" i="0">
                <a:solidFill>
                  <a:srgbClr val="6B6478"/>
                </a:solidFill>
                <a:latin typeface="Arial"/>
                <a:cs typeface="Arial"/>
              </a:rPr>
              <a:t>בית בודד מעל 4</a:t>
            </a:r>
          </a:p>
        </p:txBody>
      </p:sp>
      <p:sp>
        <p:nvSpPr>
          <p:cNvPr id="12" name="code block"/>
          <p:cNvSpPr/>
          <p:nvPr/>
        </p:nvSpPr>
        <p:spPr>
          <a:xfrm>
            <a:off x="7589520" y="3429000"/>
            <a:ext cx="4050791" cy="1234440"/>
          </a:xfrm>
          <a:prstGeom prst="roundRect">
            <a:avLst>
              <a:gd name="adj" fmla="val 8888"/>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ode"/>
          <p:cNvSpPr txBox="1"/>
          <p:nvPr/>
        </p:nvSpPr>
        <p:spPr>
          <a:xfrm>
            <a:off x="7818120" y="3611880"/>
            <a:ext cx="3593591" cy="868680"/>
          </a:xfrm>
          <a:prstGeom prst="rect">
            <a:avLst/>
          </a:prstGeom>
          <a:noFill/>
        </p:spPr>
        <p:txBody>
          <a:bodyPr wrap="square">
            <a:spAutoFit/>
          </a:bodyPr>
          <a:lstStyle/>
          <a:p>
            <a:pPr algn="l" rtl="0">
              <a:spcAft>
                <a:spcPts val="0"/>
              </a:spcAft>
            </a:pPr>
            <a:r>
              <a:rPr lang="en-US" sz="1200" b="0" i="0">
                <a:solidFill>
                  <a:srgbClr val="EDE8F5"/>
                </a:solidFill>
                <a:latin typeface="Courier New"/>
                <a:cs typeface="Courier New"/>
              </a:rPr>
              <a:t>z = np.random.normal(mus, sigmas)</a:t>
            </a:r>
          </a:p>
          <a:p>
            <a:pPr algn="l" rtl="0">
              <a:spcAft>
                <a:spcPts val="0"/>
              </a:spcAft>
            </a:pPr>
            <a:r>
              <a:rPr lang="en-US" sz="1200" b="0" i="0">
                <a:solidFill>
                  <a:srgbClr val="EDE8F5"/>
                </a:solidFill>
                <a:latin typeface="Courier New"/>
                <a:cs typeface="Courier New"/>
              </a:rPr>
              <a:t>(z &gt; np.log(4)).mean()</a:t>
            </a:r>
          </a:p>
        </p:txBody>
      </p:sp>
      <p:sp>
        <p:nvSpPr>
          <p:cNvPr id="14" name="TextBox 13"/>
          <p:cNvSpPr txBox="1"/>
          <p:nvPr/>
        </p:nvSpPr>
        <p:spPr>
          <a:xfrm>
            <a:off x="7589520" y="4846320"/>
            <a:ext cx="4050791" cy="1417320"/>
          </a:xfrm>
          <a:prstGeom prst="rect">
            <a:avLst/>
          </a:prstGeom>
          <a:noFill/>
        </p:spPr>
        <p:txBody>
          <a:bodyPr wrap="square" lIns="45720" tIns="27432" rIns="45720" bIns="27432" anchor="t">
            <a:spAutoFit/>
          </a:bodyPr>
          <a:lstStyle/>
          <a:p>
            <a:pPr marR="274320" indent="-274320" algn="r" rtl="1">
              <a:spcAft>
                <a:spcPts val="800"/>
              </a:spcAft>
              <a:buClr>
                <a:srgbClr val="17A398"/>
              </a:buClr>
              <a:buFont typeface="Arial"/>
              <a:buChar char="•"/>
            </a:pPr>
            <a:r>
              <a:rPr lang="he-IL" sz="1500" b="0" i="0">
                <a:solidFill>
                  <a:srgbClr val="2B1E3F"/>
                </a:solidFill>
                <a:latin typeface="Arial"/>
                <a:cs typeface="Arial"/>
              </a:rPr>
              <a:t>לכל דגימה של </a:t>
            </a:r>
            <a:r>
              <a:rPr lang="en-US" sz="1500" b="0" i="0">
                <a:solidFill>
                  <a:srgbClr val="2B1E3F"/>
                </a:solidFill>
                <a:latin typeface="Arial"/>
                <a:cs typeface="Arial"/>
              </a:rPr>
              <a:t>μ</a:t>
            </a:r>
            <a:r>
              <a:rPr lang="he-IL" sz="1500" b="0" i="0">
                <a:solidFill>
                  <a:srgbClr val="2B1E3F"/>
                </a:solidFill>
                <a:latin typeface="Arial"/>
                <a:cs typeface="Arial"/>
              </a:rPr>
              <a:t> ו-</a:t>
            </a:r>
            <a:r>
              <a:rPr lang="en-US" sz="1500" b="0" i="0">
                <a:solidFill>
                  <a:srgbClr val="2B1E3F"/>
                </a:solidFill>
                <a:latin typeface="Arial"/>
                <a:cs typeface="Arial"/>
              </a:rPr>
              <a:t>σ</a:t>
            </a:r>
            <a:r>
              <a:rPr lang="he-IL" sz="1500" b="0" i="0">
                <a:solidFill>
                  <a:srgbClr val="2B1E3F"/>
                </a:solidFill>
                <a:latin typeface="Arial"/>
                <a:cs typeface="Arial"/>
              </a:rPr>
              <a:t> — מגרילים בית חדש z</a:t>
            </a:r>
          </a:p>
          <a:p>
            <a:pPr marR="274320" indent="-274320" algn="r" rtl="1">
              <a:spcAft>
                <a:spcPts val="800"/>
              </a:spcAft>
              <a:buClr>
                <a:srgbClr val="17A398"/>
              </a:buClr>
              <a:buFont typeface="Arial"/>
              <a:buChar char="•"/>
            </a:pPr>
            <a:r>
              <a:rPr lang="he-IL" sz="1500" b="0" i="0">
                <a:solidFill>
                  <a:srgbClr val="2B1E3F"/>
                </a:solidFill>
                <a:latin typeface="Arial"/>
                <a:cs typeface="Arial"/>
              </a:rPr>
              <a:t>בית בודד משתנה הרבה יותר מהממוצע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בדיקת המודל: posterior predictive check</a:t>
            </a:r>
          </a:p>
        </p:txBody>
      </p:sp>
      <p:pic>
        <p:nvPicPr>
          <p:cNvPr id="3" name="Picture 2" descr="radon_ppc.png"/>
          <p:cNvPicPr>
            <a:picLocks noChangeAspect="1"/>
          </p:cNvPicPr>
          <p:nvPr/>
        </p:nvPicPr>
        <p:blipFill>
          <a:blip r:embed="rId3"/>
          <a:stretch>
            <a:fillRect/>
          </a:stretch>
        </p:blipFill>
        <p:spPr>
          <a:xfrm>
            <a:off x="548640" y="1463040"/>
            <a:ext cx="7315200" cy="3824204"/>
          </a:xfrm>
          <a:prstGeom prst="rect">
            <a:avLst/>
          </a:prstGeom>
        </p:spPr>
      </p:pic>
      <p:sp>
        <p:nvSpPr>
          <p:cNvPr id="4" name="code block"/>
          <p:cNvSpPr/>
          <p:nvPr/>
        </p:nvSpPr>
        <p:spPr>
          <a:xfrm>
            <a:off x="548640" y="5029200"/>
            <a:ext cx="7315200" cy="1234440"/>
          </a:xfrm>
          <a:prstGeom prst="roundRect">
            <a:avLst>
              <a:gd name="adj" fmla="val 8888"/>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
          <p:cNvSpPr txBox="1"/>
          <p:nvPr/>
        </p:nvSpPr>
        <p:spPr>
          <a:xfrm>
            <a:off x="777240" y="5212080"/>
            <a:ext cx="6858000" cy="868680"/>
          </a:xfrm>
          <a:prstGeom prst="rect">
            <a:avLst/>
          </a:prstGeom>
          <a:noFill/>
        </p:spPr>
        <p:txBody>
          <a:bodyPr wrap="square">
            <a:spAutoFit/>
          </a:bodyPr>
          <a:lstStyle/>
          <a:p>
            <a:pPr algn="l" rtl="0">
              <a:spcAft>
                <a:spcPts val="0"/>
              </a:spcAft>
            </a:pPr>
            <a:r>
              <a:rPr lang="en-US" sz="1200" b="0" i="0">
                <a:solidFill>
                  <a:srgbClr val="EDE8F5"/>
                </a:solidFill>
                <a:latin typeface="Courier New"/>
                <a:cs typeface="Courier New"/>
              </a:rPr>
              <a:t>pm.sample_posterior_predictive(samples, extend_inferencedata=True)</a:t>
            </a:r>
          </a:p>
          <a:p>
            <a:pPr algn="l" rtl="0">
              <a:spcAft>
                <a:spcPts val="0"/>
              </a:spcAft>
            </a:pPr>
            <a:r>
              <a:rPr lang="en-US" sz="1200" b="0" i="0">
                <a:solidFill>
                  <a:srgbClr val="EDE8F5"/>
                </a:solidFill>
                <a:latin typeface="Courier New"/>
                <a:cs typeface="Courier New"/>
              </a:rPr>
              <a:t>az.plot_ppc(samples, num_pp_samples=1000)</a:t>
            </a:r>
          </a:p>
        </p:txBody>
      </p:sp>
      <p:sp>
        <p:nvSpPr>
          <p:cNvPr id="6" name="TextBox 5"/>
          <p:cNvSpPr txBox="1"/>
          <p:nvPr/>
        </p:nvSpPr>
        <p:spPr>
          <a:xfrm>
            <a:off x="8183879" y="1554480"/>
            <a:ext cx="3456432" cy="4663440"/>
          </a:xfrm>
          <a:prstGeom prst="rect">
            <a:avLst/>
          </a:prstGeom>
          <a:noFill/>
        </p:spPr>
        <p:txBody>
          <a:bodyPr wrap="square" lIns="45720" tIns="27432" rIns="45720" bIns="27432" anchor="t">
            <a:spAutoFit/>
          </a:bodyPr>
          <a:lstStyle/>
          <a:p>
            <a:pPr marR="274320" indent="-274320" algn="r" rtl="1">
              <a:spcAft>
                <a:spcPts val="1200"/>
              </a:spcAft>
              <a:buClr>
                <a:srgbClr val="17A398"/>
              </a:buClr>
              <a:buFont typeface="Arial"/>
              <a:buChar char="•"/>
            </a:pPr>
            <a:r>
              <a:rPr lang="he-IL" sz="1600" b="0" i="0">
                <a:solidFill>
                  <a:srgbClr val="2B1E3F"/>
                </a:solidFill>
                <a:latin typeface="Arial"/>
                <a:cs typeface="Arial"/>
              </a:rPr>
              <a:t>איך יודעים שהמודל טוב?</a:t>
            </a:r>
          </a:p>
          <a:p>
            <a:pPr marR="274320" indent="-274320" algn="r" rtl="1">
              <a:spcAft>
                <a:spcPts val="1200"/>
              </a:spcAft>
              <a:buClr>
                <a:srgbClr val="17A398"/>
              </a:buClr>
              <a:buFont typeface="Arial"/>
              <a:buChar char="•"/>
            </a:pPr>
            <a:r>
              <a:rPr lang="he-IL" sz="1600" b="0" i="0">
                <a:solidFill>
                  <a:srgbClr val="2B1E3F"/>
                </a:solidFill>
                <a:latin typeface="Arial"/>
                <a:cs typeface="Arial"/>
              </a:rPr>
              <a:t>כל קו תכלת — מערך נתונים מדומה מהפוסטריור</a:t>
            </a:r>
          </a:p>
          <a:p>
            <a:pPr marR="274320" indent="-274320" algn="r" rtl="1">
              <a:spcAft>
                <a:spcPts val="1200"/>
              </a:spcAft>
              <a:buClr>
                <a:srgbClr val="17A398"/>
              </a:buClr>
              <a:buFont typeface="Arial"/>
              <a:buChar char="•"/>
            </a:pPr>
            <a:r>
              <a:rPr lang="he-IL" sz="1600" b="0" i="0">
                <a:solidFill>
                  <a:srgbClr val="2B1E3F"/>
                </a:solidFill>
                <a:latin typeface="Arial"/>
                <a:cs typeface="Arial"/>
              </a:rPr>
              <a:t>הקו הכהה — הנתונים האמיתיים</a:t>
            </a:r>
          </a:p>
          <a:p>
            <a:pPr marR="274320" indent="-274320" algn="r" rtl="1">
              <a:spcAft>
                <a:spcPts val="1200"/>
              </a:spcAft>
              <a:buClr>
                <a:srgbClr val="17A398"/>
              </a:buClr>
              <a:buFont typeface="Arial"/>
              <a:buChar char="•"/>
            </a:pPr>
            <a:r>
              <a:rPr lang="he-IL" sz="1600" b="0" i="0">
                <a:solidFill>
                  <a:srgbClr val="2B1E3F"/>
                </a:solidFill>
                <a:latin typeface="Arial"/>
                <a:cs typeface="Arial"/>
              </a:rPr>
              <a:t>הנתונים בתוך העננה: ההנחה הנורמלית סבירה</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חלק 3: תרופה “חכמה” מול פלצבו</a:t>
            </a:r>
          </a:p>
        </p:txBody>
      </p:sp>
      <p:pic>
        <p:nvPicPr>
          <p:cNvPr id="3" name="Picture 2" descr="drug_hist.png"/>
          <p:cNvPicPr>
            <a:picLocks noChangeAspect="1"/>
          </p:cNvPicPr>
          <p:nvPr/>
        </p:nvPicPr>
        <p:blipFill>
          <a:blip r:embed="rId3"/>
          <a:stretch>
            <a:fillRect/>
          </a:stretch>
        </p:blipFill>
        <p:spPr>
          <a:xfrm>
            <a:off x="548640" y="1463040"/>
            <a:ext cx="6766560" cy="3500789"/>
          </a:xfrm>
          <a:prstGeom prst="rect">
            <a:avLst/>
          </a:prstGeom>
        </p:spPr>
      </p:pic>
      <p:sp>
        <p:nvSpPr>
          <p:cNvPr id="4" name="card"/>
          <p:cNvSpPr/>
          <p:nvPr/>
        </p:nvSpPr>
        <p:spPr>
          <a:xfrm>
            <a:off x="10195560" y="1463040"/>
            <a:ext cx="1444752" cy="1280160"/>
          </a:xfrm>
          <a:prstGeom prst="roundRect">
            <a:avLst>
              <a:gd name="adj" fmla="val 10714"/>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195560" y="1536192"/>
            <a:ext cx="1444752" cy="640080"/>
          </a:xfrm>
          <a:prstGeom prst="rect">
            <a:avLst/>
          </a:prstGeom>
          <a:noFill/>
        </p:spPr>
        <p:txBody>
          <a:bodyPr wrap="square" lIns="45720" tIns="27432" rIns="45720" bIns="27432" anchor="ctr">
            <a:spAutoFit/>
          </a:bodyPr>
          <a:lstStyle/>
          <a:p>
            <a:pPr algn="ctr" rtl="1">
              <a:spcAft>
                <a:spcPts val="0"/>
              </a:spcAft>
            </a:pPr>
            <a:r>
              <a:rPr lang="he-IL" sz="2400" b="1" i="0">
                <a:solidFill>
                  <a:srgbClr val="17A398"/>
                </a:solidFill>
                <a:latin typeface="Arial"/>
                <a:cs typeface="Arial"/>
              </a:rPr>
              <a:t>47</a:t>
            </a:r>
          </a:p>
        </p:txBody>
      </p:sp>
      <p:sp>
        <p:nvSpPr>
          <p:cNvPr id="6" name="TextBox 5"/>
          <p:cNvSpPr txBox="1"/>
          <p:nvPr/>
        </p:nvSpPr>
        <p:spPr>
          <a:xfrm>
            <a:off x="10241280" y="2167128"/>
            <a:ext cx="1353312" cy="512063"/>
          </a:xfrm>
          <a:prstGeom prst="rect">
            <a:avLst/>
          </a:prstGeom>
          <a:noFill/>
        </p:spPr>
        <p:txBody>
          <a:bodyPr wrap="square" lIns="45720" tIns="27432" rIns="45720" bIns="27432" anchor="t">
            <a:spAutoFit/>
          </a:bodyPr>
          <a:lstStyle/>
          <a:p>
            <a:pPr algn="ctr" rtl="1">
              <a:spcAft>
                <a:spcPts val="0"/>
              </a:spcAft>
            </a:pPr>
            <a:r>
              <a:rPr lang="he-IL" sz="1300" b="0" i="0">
                <a:solidFill>
                  <a:srgbClr val="6B6478"/>
                </a:solidFill>
                <a:latin typeface="Arial"/>
                <a:cs typeface="Arial"/>
              </a:rPr>
              <a:t>קבוצת תרופה</a:t>
            </a:r>
          </a:p>
        </p:txBody>
      </p:sp>
      <p:sp>
        <p:nvSpPr>
          <p:cNvPr id="7" name="card"/>
          <p:cNvSpPr/>
          <p:nvPr/>
        </p:nvSpPr>
        <p:spPr>
          <a:xfrm>
            <a:off x="8659368" y="1463040"/>
            <a:ext cx="1444752" cy="1280160"/>
          </a:xfrm>
          <a:prstGeom prst="roundRect">
            <a:avLst>
              <a:gd name="adj" fmla="val 10714"/>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59368" y="1536192"/>
            <a:ext cx="1444752" cy="640080"/>
          </a:xfrm>
          <a:prstGeom prst="rect">
            <a:avLst/>
          </a:prstGeom>
          <a:noFill/>
        </p:spPr>
        <p:txBody>
          <a:bodyPr wrap="square" lIns="45720" tIns="27432" rIns="45720" bIns="27432" anchor="ctr">
            <a:spAutoFit/>
          </a:bodyPr>
          <a:lstStyle/>
          <a:p>
            <a:pPr algn="ctr" rtl="1">
              <a:spcAft>
                <a:spcPts val="0"/>
              </a:spcAft>
            </a:pPr>
            <a:r>
              <a:rPr lang="he-IL" sz="2400" b="1" i="0">
                <a:solidFill>
                  <a:srgbClr val="7B5EA7"/>
                </a:solidFill>
                <a:latin typeface="Arial"/>
                <a:cs typeface="Arial"/>
              </a:rPr>
              <a:t>42</a:t>
            </a:r>
          </a:p>
        </p:txBody>
      </p:sp>
      <p:sp>
        <p:nvSpPr>
          <p:cNvPr id="9" name="TextBox 8"/>
          <p:cNvSpPr txBox="1"/>
          <p:nvPr/>
        </p:nvSpPr>
        <p:spPr>
          <a:xfrm>
            <a:off x="8705088" y="2167128"/>
            <a:ext cx="1353312" cy="512063"/>
          </a:xfrm>
          <a:prstGeom prst="rect">
            <a:avLst/>
          </a:prstGeom>
          <a:noFill/>
        </p:spPr>
        <p:txBody>
          <a:bodyPr wrap="square" lIns="45720" tIns="27432" rIns="45720" bIns="27432" anchor="t">
            <a:spAutoFit/>
          </a:bodyPr>
          <a:lstStyle/>
          <a:p>
            <a:pPr algn="ctr" rtl="1">
              <a:spcAft>
                <a:spcPts val="0"/>
              </a:spcAft>
            </a:pPr>
            <a:r>
              <a:rPr lang="he-IL" sz="1300" b="0" i="0">
                <a:solidFill>
                  <a:srgbClr val="6B6478"/>
                </a:solidFill>
                <a:latin typeface="Arial"/>
                <a:cs typeface="Arial"/>
              </a:rPr>
              <a:t>קבוצת פלצבו</a:t>
            </a:r>
          </a:p>
        </p:txBody>
      </p:sp>
      <p:sp>
        <p:nvSpPr>
          <p:cNvPr id="10" name="TextBox 9"/>
          <p:cNvSpPr txBox="1"/>
          <p:nvPr/>
        </p:nvSpPr>
        <p:spPr>
          <a:xfrm>
            <a:off x="7589520" y="3063240"/>
            <a:ext cx="4050791" cy="3200400"/>
          </a:xfrm>
          <a:prstGeom prst="rect">
            <a:avLst/>
          </a:prstGeom>
          <a:noFill/>
        </p:spPr>
        <p:txBody>
          <a:bodyPr wrap="square" lIns="45720" tIns="27432" rIns="45720" bIns="27432" anchor="t">
            <a:spAutoFit/>
          </a:bodyPr>
          <a:lstStyle/>
          <a:p>
            <a:pPr marR="274320" indent="-274320" algn="r" rtl="1">
              <a:spcAft>
                <a:spcPts val="1000"/>
              </a:spcAft>
              <a:buClr>
                <a:srgbClr val="17A398"/>
              </a:buClr>
              <a:buFont typeface="Arial"/>
              <a:buChar char="•"/>
            </a:pPr>
            <a:r>
              <a:rPr lang="he-IL" sz="1600" b="0" i="0">
                <a:solidFill>
                  <a:srgbClr val="2B1E3F"/>
                </a:solidFill>
                <a:latin typeface="Arial"/>
                <a:cs typeface="Arial"/>
              </a:rPr>
              <a:t>דוגמה בדיונית מ-Kruschke (2012)</a:t>
            </a:r>
          </a:p>
          <a:p>
            <a:pPr marR="274320" indent="-274320" algn="r" rtl="1">
              <a:spcAft>
                <a:spcPts val="1000"/>
              </a:spcAft>
              <a:buClr>
                <a:srgbClr val="17A398"/>
              </a:buClr>
              <a:buFont typeface="Arial"/>
              <a:buChar char="•"/>
            </a:pPr>
            <a:r>
              <a:rPr lang="he-IL" sz="1600" b="0" i="0">
                <a:solidFill>
                  <a:srgbClr val="2B1E3F"/>
                </a:solidFill>
                <a:latin typeface="Arial"/>
                <a:cs typeface="Arial"/>
              </a:rPr>
              <a:t>המדד: ציון IQ בכל קבוצה</a:t>
            </a:r>
          </a:p>
          <a:p>
            <a:pPr marR="274320" indent="-274320" algn="r" rtl="1">
              <a:spcAft>
                <a:spcPts val="1000"/>
              </a:spcAft>
              <a:buClr>
                <a:srgbClr val="17A398"/>
              </a:buClr>
              <a:buFont typeface="Arial"/>
              <a:buChar char="•"/>
            </a:pPr>
            <a:r>
              <a:rPr lang="he-IL" sz="1600" b="1" i="0">
                <a:solidFill>
                  <a:srgbClr val="E4572E"/>
                </a:solidFill>
                <a:latin typeface="Arial"/>
                <a:cs typeface="Arial"/>
              </a:rPr>
              <a:t>תצפיות חריגות</a:t>
            </a:r>
            <a:r>
              <a:rPr lang="he-IL" sz="1600" b="0" i="0">
                <a:solidFill>
                  <a:srgbClr val="2B1E3F"/>
                </a:solidFill>
                <a:latin typeface="Arial"/>
                <a:cs typeface="Arial"/>
              </a:rPr>
              <a:t> (חצים) — משפיעות מאוד על ממוצע ועל סטיית תקן</a:t>
            </a:r>
          </a:p>
          <a:p>
            <a:pPr marR="274320" indent="-274320" algn="r" rtl="1">
              <a:spcAft>
                <a:spcPts val="1000"/>
              </a:spcAft>
              <a:buClr>
                <a:srgbClr val="17A398"/>
              </a:buClr>
              <a:buFont typeface="Arial"/>
              <a:buChar char="•"/>
            </a:pPr>
            <a:r>
              <a:rPr lang="he-IL" sz="1600" b="0" i="0">
                <a:solidFill>
                  <a:srgbClr val="2B1E3F"/>
                </a:solidFill>
                <a:latin typeface="Arial"/>
                <a:cs typeface="Arial"/>
              </a:rPr>
              <a:t>צריך נראות שלא נבהלת מהן</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התפלגות t: עמידות לתצפיות חריגות</a:t>
            </a:r>
          </a:p>
        </p:txBody>
      </p:sp>
      <p:pic>
        <p:nvPicPr>
          <p:cNvPr id="3" name="Picture 2" descr="drug_t_tails.png"/>
          <p:cNvPicPr>
            <a:picLocks noChangeAspect="1"/>
          </p:cNvPicPr>
          <p:nvPr/>
        </p:nvPicPr>
        <p:blipFill>
          <a:blip r:embed="rId3"/>
          <a:stretch>
            <a:fillRect/>
          </a:stretch>
        </p:blipFill>
        <p:spPr>
          <a:xfrm>
            <a:off x="548640" y="1371600"/>
            <a:ext cx="7863840" cy="3434888"/>
          </a:xfrm>
          <a:prstGeom prst="rect">
            <a:avLst/>
          </a:prstGeom>
        </p:spPr>
      </p:pic>
      <p:sp>
        <p:nvSpPr>
          <p:cNvPr id="4" name="card"/>
          <p:cNvSpPr/>
          <p:nvPr/>
        </p:nvSpPr>
        <p:spPr>
          <a:xfrm>
            <a:off x="8686800" y="1463040"/>
            <a:ext cx="2953512" cy="1051560"/>
          </a:xfrm>
          <a:prstGeom prst="roundRect">
            <a:avLst>
              <a:gd name="adj" fmla="val 13043"/>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badge μ"/>
          <p:cNvSpPr/>
          <p:nvPr/>
        </p:nvSpPr>
        <p:spPr>
          <a:xfrm>
            <a:off x="10972800" y="1664208"/>
            <a:ext cx="594360" cy="59436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b="1" i="0">
                <a:solidFill>
                  <a:srgbClr val="FFFFFF"/>
                </a:solidFill>
                <a:latin typeface="Arial"/>
                <a:cs typeface="Arial"/>
              </a:rPr>
              <a:t>μ</a:t>
            </a:r>
          </a:p>
        </p:txBody>
      </p:sp>
      <p:sp>
        <p:nvSpPr>
          <p:cNvPr id="6" name="TextBox 5"/>
          <p:cNvSpPr txBox="1"/>
          <p:nvPr/>
        </p:nvSpPr>
        <p:spPr>
          <a:xfrm>
            <a:off x="8823960" y="1554480"/>
            <a:ext cx="2103120" cy="365760"/>
          </a:xfrm>
          <a:prstGeom prst="rect">
            <a:avLst/>
          </a:prstGeom>
          <a:noFill/>
        </p:spPr>
        <p:txBody>
          <a:bodyPr wrap="square" lIns="45720" tIns="27432" rIns="45720" bIns="27432" anchor="t">
            <a:spAutoFit/>
          </a:bodyPr>
          <a:lstStyle/>
          <a:p>
            <a:pPr algn="r" rtl="1">
              <a:spcAft>
                <a:spcPts val="0"/>
              </a:spcAft>
            </a:pPr>
            <a:r>
              <a:rPr lang="he-IL" sz="1600" b="1" i="0">
                <a:solidFill>
                  <a:srgbClr val="2B1E3F"/>
                </a:solidFill>
                <a:latin typeface="Arial"/>
                <a:cs typeface="Arial"/>
              </a:rPr>
              <a:t>מיקום</a:t>
            </a:r>
          </a:p>
        </p:txBody>
      </p:sp>
      <p:sp>
        <p:nvSpPr>
          <p:cNvPr id="7" name="TextBox 6"/>
          <p:cNvSpPr txBox="1"/>
          <p:nvPr/>
        </p:nvSpPr>
        <p:spPr>
          <a:xfrm>
            <a:off x="8823960" y="1920240"/>
            <a:ext cx="2103120" cy="566928"/>
          </a:xfrm>
          <a:prstGeom prst="rect">
            <a:avLst/>
          </a:prstGeom>
          <a:noFill/>
        </p:spPr>
        <p:txBody>
          <a:bodyPr wrap="square" lIns="45720" tIns="27432" rIns="45720" bIns="27432" anchor="t">
            <a:spAutoFit/>
          </a:bodyPr>
          <a:lstStyle/>
          <a:p>
            <a:pPr algn="r" rtl="1">
              <a:spcAft>
                <a:spcPts val="0"/>
              </a:spcAft>
            </a:pPr>
            <a:r>
              <a:rPr lang="he-IL" sz="1200" b="0" i="0">
                <a:solidFill>
                  <a:srgbClr val="6B6478"/>
                </a:solidFill>
                <a:latin typeface="Arial"/>
                <a:cs typeface="Arial"/>
              </a:rPr>
              <a:t>מרכז ההתפלגות</a:t>
            </a:r>
          </a:p>
        </p:txBody>
      </p:sp>
      <p:sp>
        <p:nvSpPr>
          <p:cNvPr id="8" name="card"/>
          <p:cNvSpPr/>
          <p:nvPr/>
        </p:nvSpPr>
        <p:spPr>
          <a:xfrm>
            <a:off x="8686800" y="2651760"/>
            <a:ext cx="2953512" cy="1051560"/>
          </a:xfrm>
          <a:prstGeom prst="roundRect">
            <a:avLst>
              <a:gd name="adj" fmla="val 13043"/>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badge σ"/>
          <p:cNvSpPr/>
          <p:nvPr/>
        </p:nvSpPr>
        <p:spPr>
          <a:xfrm>
            <a:off x="10972800" y="2852928"/>
            <a:ext cx="594360" cy="59436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b="1" i="0">
                <a:solidFill>
                  <a:srgbClr val="FFFFFF"/>
                </a:solidFill>
                <a:latin typeface="Arial"/>
                <a:cs typeface="Arial"/>
              </a:rPr>
              <a:t>σ</a:t>
            </a:r>
          </a:p>
        </p:txBody>
      </p:sp>
      <p:sp>
        <p:nvSpPr>
          <p:cNvPr id="10" name="TextBox 9"/>
          <p:cNvSpPr txBox="1"/>
          <p:nvPr/>
        </p:nvSpPr>
        <p:spPr>
          <a:xfrm>
            <a:off x="8823960" y="2743200"/>
            <a:ext cx="2103120" cy="365760"/>
          </a:xfrm>
          <a:prstGeom prst="rect">
            <a:avLst/>
          </a:prstGeom>
          <a:noFill/>
        </p:spPr>
        <p:txBody>
          <a:bodyPr wrap="square" lIns="45720" tIns="27432" rIns="45720" bIns="27432" anchor="t">
            <a:spAutoFit/>
          </a:bodyPr>
          <a:lstStyle/>
          <a:p>
            <a:pPr algn="r" rtl="1">
              <a:spcAft>
                <a:spcPts val="0"/>
              </a:spcAft>
            </a:pPr>
            <a:r>
              <a:rPr lang="he-IL" sz="1600" b="1" i="0">
                <a:solidFill>
                  <a:srgbClr val="2B1E3F"/>
                </a:solidFill>
                <a:latin typeface="Arial"/>
                <a:cs typeface="Arial"/>
              </a:rPr>
              <a:t>סקאלה</a:t>
            </a:r>
          </a:p>
        </p:txBody>
      </p:sp>
      <p:sp>
        <p:nvSpPr>
          <p:cNvPr id="11" name="TextBox 10"/>
          <p:cNvSpPr txBox="1"/>
          <p:nvPr/>
        </p:nvSpPr>
        <p:spPr>
          <a:xfrm>
            <a:off x="8823960" y="3108960"/>
            <a:ext cx="2103120" cy="566928"/>
          </a:xfrm>
          <a:prstGeom prst="rect">
            <a:avLst/>
          </a:prstGeom>
          <a:noFill/>
        </p:spPr>
        <p:txBody>
          <a:bodyPr wrap="square" lIns="45720" tIns="27432" rIns="45720" bIns="27432" anchor="t">
            <a:spAutoFit/>
          </a:bodyPr>
          <a:lstStyle/>
          <a:p>
            <a:pPr algn="r" rtl="1">
              <a:spcAft>
                <a:spcPts val="0"/>
              </a:spcAft>
            </a:pPr>
            <a:r>
              <a:rPr lang="he-IL" sz="1200" b="0" i="0">
                <a:solidFill>
                  <a:srgbClr val="6B6478"/>
                </a:solidFill>
                <a:latin typeface="Arial"/>
                <a:cs typeface="Arial"/>
              </a:rPr>
              <a:t>רוחב ההתפלגות</a:t>
            </a:r>
          </a:p>
        </p:txBody>
      </p:sp>
      <p:sp>
        <p:nvSpPr>
          <p:cNvPr id="12" name="card"/>
          <p:cNvSpPr/>
          <p:nvPr/>
        </p:nvSpPr>
        <p:spPr>
          <a:xfrm>
            <a:off x="8686800" y="3840480"/>
            <a:ext cx="2953512" cy="1051560"/>
          </a:xfrm>
          <a:prstGeom prst="roundRect">
            <a:avLst>
              <a:gd name="adj" fmla="val 13043"/>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badge ν"/>
          <p:cNvSpPr/>
          <p:nvPr/>
        </p:nvSpPr>
        <p:spPr>
          <a:xfrm>
            <a:off x="10972800" y="4041648"/>
            <a:ext cx="594360" cy="59436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000" b="1" i="0">
                <a:solidFill>
                  <a:srgbClr val="FFFFFF"/>
                </a:solidFill>
                <a:latin typeface="Arial"/>
                <a:cs typeface="Arial"/>
              </a:rPr>
              <a:t>ν</a:t>
            </a:r>
          </a:p>
        </p:txBody>
      </p:sp>
      <p:sp>
        <p:nvSpPr>
          <p:cNvPr id="14" name="TextBox 13"/>
          <p:cNvSpPr txBox="1"/>
          <p:nvPr/>
        </p:nvSpPr>
        <p:spPr>
          <a:xfrm>
            <a:off x="8823960" y="3931920"/>
            <a:ext cx="2103120" cy="365760"/>
          </a:xfrm>
          <a:prstGeom prst="rect">
            <a:avLst/>
          </a:prstGeom>
          <a:noFill/>
        </p:spPr>
        <p:txBody>
          <a:bodyPr wrap="square" lIns="45720" tIns="27432" rIns="45720" bIns="27432" anchor="t">
            <a:spAutoFit/>
          </a:bodyPr>
          <a:lstStyle/>
          <a:p>
            <a:pPr algn="r" rtl="1">
              <a:spcAft>
                <a:spcPts val="0"/>
              </a:spcAft>
            </a:pPr>
            <a:r>
              <a:rPr lang="he-IL" sz="1600" b="1" i="0">
                <a:solidFill>
                  <a:srgbClr val="2B1E3F"/>
                </a:solidFill>
                <a:latin typeface="Arial"/>
                <a:cs typeface="Arial"/>
              </a:rPr>
              <a:t>דרגות חופש</a:t>
            </a:r>
          </a:p>
        </p:txBody>
      </p:sp>
      <p:sp>
        <p:nvSpPr>
          <p:cNvPr id="15" name="TextBox 14"/>
          <p:cNvSpPr txBox="1"/>
          <p:nvPr/>
        </p:nvSpPr>
        <p:spPr>
          <a:xfrm>
            <a:off x="8823960" y="4297680"/>
            <a:ext cx="2103120" cy="566928"/>
          </a:xfrm>
          <a:prstGeom prst="rect">
            <a:avLst/>
          </a:prstGeom>
          <a:noFill/>
        </p:spPr>
        <p:txBody>
          <a:bodyPr wrap="square" lIns="45720" tIns="27432" rIns="45720" bIns="27432" anchor="t">
            <a:spAutoFit/>
          </a:bodyPr>
          <a:lstStyle/>
          <a:p>
            <a:pPr algn="r" rtl="1">
              <a:spcAft>
                <a:spcPts val="0"/>
              </a:spcAft>
            </a:pPr>
            <a:r>
              <a:rPr lang="en-US" sz="1200" b="0" i="0">
                <a:solidFill>
                  <a:srgbClr val="6B6478"/>
                </a:solidFill>
                <a:latin typeface="Arial"/>
                <a:cs typeface="Arial"/>
              </a:rPr>
              <a:t>ν</a:t>
            </a:r>
            <a:r>
              <a:rPr lang="he-IL" sz="1200" b="0" i="0">
                <a:solidFill>
                  <a:srgbClr val="6B6478"/>
                </a:solidFill>
                <a:latin typeface="Arial"/>
                <a:cs typeface="Arial"/>
              </a:rPr>
              <a:t> קטן — זנבות כבדים; </a:t>
            </a:r>
            <a:r>
              <a:rPr lang="en-US" sz="1200" b="0" i="0">
                <a:solidFill>
                  <a:srgbClr val="6B6478"/>
                </a:solidFill>
                <a:latin typeface="Arial"/>
                <a:cs typeface="Arial"/>
              </a:rPr>
              <a:t>ν</a:t>
            </a:r>
            <a:r>
              <a:rPr lang="he-IL" sz="1200" b="0" i="0">
                <a:solidFill>
                  <a:srgbClr val="6B6478"/>
                </a:solidFill>
                <a:latin typeface="Arial"/>
                <a:cs typeface="Arial"/>
              </a:rPr>
              <a:t> גדול — כמעט נורמלי</a:t>
            </a:r>
          </a:p>
        </p:txBody>
      </p:sp>
      <p:sp>
        <p:nvSpPr>
          <p:cNvPr id="16" name="card"/>
          <p:cNvSpPr/>
          <p:nvPr/>
        </p:nvSpPr>
        <p:spPr>
          <a:xfrm>
            <a:off x="548640" y="5074920"/>
            <a:ext cx="11091672" cy="1188720"/>
          </a:xfrm>
          <a:prstGeom prst="roundRect">
            <a:avLst>
              <a:gd name="adj" fmla="val 11538"/>
            </a:avLst>
          </a:prstGeom>
          <a:solidFill>
            <a:srgbClr val="E6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5120640"/>
            <a:ext cx="10634472" cy="1097280"/>
          </a:xfrm>
          <a:prstGeom prst="rect">
            <a:avLst/>
          </a:prstGeom>
          <a:noFill/>
        </p:spPr>
        <p:txBody>
          <a:bodyPr wrap="square" lIns="45720" tIns="27432" rIns="45720" bIns="27432" anchor="t">
            <a:spAutoFit/>
          </a:bodyPr>
          <a:lstStyle/>
          <a:p>
            <a:pPr marR="274320" indent="-274320" algn="r" rtl="1">
              <a:spcAft>
                <a:spcPts val="600"/>
              </a:spcAft>
              <a:buClr>
                <a:srgbClr val="7B5EA7"/>
              </a:buClr>
              <a:buFont typeface="Arial"/>
              <a:buChar char="•"/>
            </a:pPr>
            <a:r>
              <a:rPr lang="he-IL" sz="1600" b="0" i="0">
                <a:solidFill>
                  <a:srgbClr val="2B1E3F"/>
                </a:solidFill>
                <a:latin typeface="Arial"/>
                <a:cs typeface="Arial"/>
              </a:rPr>
              <a:t>בזנבות כבדים, ערך חריג הוא “צפוי” — ולכן לא מושך את הממוצע אליו</a:t>
            </a:r>
          </a:p>
          <a:p>
            <a:pPr marR="274320" indent="-274320" algn="r" rtl="1">
              <a:spcAft>
                <a:spcPts val="600"/>
              </a:spcAft>
              <a:buClr>
                <a:srgbClr val="7B5EA7"/>
              </a:buClr>
              <a:buFont typeface="Arial"/>
              <a:buChar char="•"/>
            </a:pPr>
            <a:r>
              <a:rPr lang="he-IL" sz="1600" b="0" i="0">
                <a:solidFill>
                  <a:srgbClr val="2B1E3F"/>
                </a:solidFill>
                <a:latin typeface="Arial"/>
                <a:cs typeface="Arial"/>
              </a:rPr>
              <a:t>prior ל-</a:t>
            </a:r>
            <a:r>
              <a:rPr lang="en-US" sz="1600" b="0" i="0">
                <a:solidFill>
                  <a:srgbClr val="2B1E3F"/>
                </a:solidFill>
                <a:latin typeface="Arial"/>
                <a:cs typeface="Arial"/>
              </a:rPr>
              <a:t>ν</a:t>
            </a:r>
            <a:r>
              <a:rPr lang="he-IL" sz="1600" b="0" i="0">
                <a:solidFill>
                  <a:srgbClr val="2B1E3F"/>
                </a:solidFill>
                <a:latin typeface="Arial"/>
                <a:cs typeface="Arial"/>
              </a:rPr>
              <a:t>: אקספוננציאלי עם ממוצע 30 — מכסה גם זנבות כבדים וגם כמעט-נורמלי</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המודל: שתי קבוצות, </a:t>
            </a:r>
            <a:r>
              <a:rPr lang="en-US" sz="3400" b="1" i="0">
                <a:solidFill>
                  <a:srgbClr val="2B1E3F"/>
                </a:solidFill>
                <a:latin typeface="Arial"/>
                <a:cs typeface="Arial"/>
              </a:rPr>
              <a:t>ν</a:t>
            </a:r>
            <a:r>
              <a:rPr lang="he-IL" sz="3400" b="1" i="0">
                <a:solidFill>
                  <a:srgbClr val="2B1E3F"/>
                </a:solidFill>
                <a:latin typeface="Arial"/>
                <a:cs typeface="Arial"/>
              </a:rPr>
              <a:t> משותף</a:t>
            </a:r>
          </a:p>
        </p:txBody>
      </p:sp>
      <p:sp>
        <p:nvSpPr>
          <p:cNvPr id="3" name="card"/>
          <p:cNvSpPr/>
          <p:nvPr/>
        </p:nvSpPr>
        <p:spPr>
          <a:xfrm>
            <a:off x="548640" y="1463040"/>
            <a:ext cx="11091672" cy="1600200"/>
          </a:xfrm>
          <a:prstGeom prst="roundRect">
            <a:avLst>
              <a:gd name="adj" fmla="val 8571"/>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eq_drug_like.png"/>
          <p:cNvPicPr>
            <a:picLocks noChangeAspect="1"/>
          </p:cNvPicPr>
          <p:nvPr/>
        </p:nvPicPr>
        <p:blipFill>
          <a:blip r:embed="rId3"/>
          <a:stretch>
            <a:fillRect/>
          </a:stretch>
        </p:blipFill>
        <p:spPr>
          <a:xfrm>
            <a:off x="822960" y="1600200"/>
            <a:ext cx="7261412" cy="548640"/>
          </a:xfrm>
          <a:prstGeom prst="rect">
            <a:avLst/>
          </a:prstGeom>
        </p:spPr>
      </p:pic>
      <p:pic>
        <p:nvPicPr>
          <p:cNvPr id="5" name="Picture 4" descr="eq_drug_prior.png"/>
          <p:cNvPicPr>
            <a:picLocks noChangeAspect="1"/>
          </p:cNvPicPr>
          <p:nvPr/>
        </p:nvPicPr>
        <p:blipFill>
          <a:blip r:embed="rId4"/>
          <a:stretch>
            <a:fillRect/>
          </a:stretch>
        </p:blipFill>
        <p:spPr>
          <a:xfrm>
            <a:off x="822960" y="2331720"/>
            <a:ext cx="7878985" cy="475488"/>
          </a:xfrm>
          <a:prstGeom prst="rect">
            <a:avLst/>
          </a:prstGeom>
        </p:spPr>
      </p:pic>
      <p:sp>
        <p:nvSpPr>
          <p:cNvPr id="6" name="code block"/>
          <p:cNvSpPr/>
          <p:nvPr/>
        </p:nvSpPr>
        <p:spPr>
          <a:xfrm>
            <a:off x="548640" y="3291840"/>
            <a:ext cx="7132320" cy="2971800"/>
          </a:xfrm>
          <a:prstGeom prst="roundRect">
            <a:avLst>
              <a:gd name="adj" fmla="val 3692"/>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de"/>
          <p:cNvSpPr txBox="1"/>
          <p:nvPr/>
        </p:nvSpPr>
        <p:spPr>
          <a:xfrm>
            <a:off x="777240" y="3474720"/>
            <a:ext cx="6675120" cy="2606040"/>
          </a:xfrm>
          <a:prstGeom prst="rect">
            <a:avLst/>
          </a:prstGeom>
          <a:noFill/>
        </p:spPr>
        <p:txBody>
          <a:bodyPr wrap="square">
            <a:spAutoFit/>
          </a:bodyPr>
          <a:lstStyle/>
          <a:p>
            <a:pPr algn="l" rtl="0">
              <a:spcAft>
                <a:spcPts val="0"/>
              </a:spcAft>
            </a:pPr>
            <a:r>
              <a:rPr lang="en-US" sz="1200" b="0" i="0">
                <a:solidFill>
                  <a:srgbClr val="EDE8F5"/>
                </a:solidFill>
                <a:latin typeface="Courier New"/>
                <a:cs typeface="Courier New"/>
              </a:rPr>
              <a:t>with pm.Model() as drug_model:</a:t>
            </a:r>
          </a:p>
          <a:p>
            <a:pPr algn="l" rtl="0">
              <a:spcAft>
                <a:spcPts val="0"/>
              </a:spcAft>
            </a:pPr>
            <a:r>
              <a:rPr lang="en-US" sz="1200" b="0" i="0">
                <a:solidFill>
                  <a:srgbClr val="EDE8F5"/>
                </a:solidFill>
                <a:latin typeface="Courier New"/>
                <a:cs typeface="Courier New"/>
              </a:rPr>
              <a:t>    μ_0 = pm.Normal('μ_0', 100, sigma=10)</a:t>
            </a:r>
          </a:p>
          <a:p>
            <a:pPr algn="l" rtl="0">
              <a:spcAft>
                <a:spcPts val="0"/>
              </a:spcAft>
            </a:pPr>
            <a:r>
              <a:rPr lang="en-US" sz="1200" b="0" i="0">
                <a:solidFill>
                  <a:srgbClr val="EDE8F5"/>
                </a:solidFill>
                <a:latin typeface="Courier New"/>
                <a:cs typeface="Courier New"/>
              </a:rPr>
              <a:t>    μ_1 = pm.Normal('μ_1', 100, sigma=10)</a:t>
            </a:r>
          </a:p>
          <a:p>
            <a:pPr algn="l" rtl="0">
              <a:spcAft>
                <a:spcPts val="0"/>
              </a:spcAft>
            </a:pPr>
            <a:r>
              <a:rPr lang="en-US" sz="1200" b="0" i="0">
                <a:solidFill>
                  <a:srgbClr val="EDE8F5"/>
                </a:solidFill>
                <a:latin typeface="Courier New"/>
                <a:cs typeface="Courier New"/>
              </a:rPr>
              <a:t>    σ_0 = pm.Uniform('σ_0', lower=0, upper=20)</a:t>
            </a:r>
          </a:p>
          <a:p>
            <a:pPr algn="l" rtl="0">
              <a:spcAft>
                <a:spcPts val="0"/>
              </a:spcAft>
            </a:pPr>
            <a:r>
              <a:rPr lang="en-US" sz="1200" b="0" i="0">
                <a:solidFill>
                  <a:srgbClr val="EDE8F5"/>
                </a:solidFill>
                <a:latin typeface="Courier New"/>
                <a:cs typeface="Courier New"/>
              </a:rPr>
              <a:t>    σ_1 = pm.Uniform('σ_1', lower=0, upper=20)</a:t>
            </a:r>
          </a:p>
          <a:p>
            <a:pPr algn="l" rtl="0">
              <a:spcAft>
                <a:spcPts val="0"/>
              </a:spcAft>
            </a:pPr>
            <a:r>
              <a:rPr lang="en-US" sz="1200" b="0" i="0">
                <a:solidFill>
                  <a:srgbClr val="EDE8F5"/>
                </a:solidFill>
                <a:latin typeface="Courier New"/>
                <a:cs typeface="Courier New"/>
              </a:rPr>
              <a:t>    ν = pm.Exponential('ν', 1/30.)</a:t>
            </a:r>
          </a:p>
          <a:p>
            <a:pPr algn="l" rtl="0">
              <a:spcAft>
                <a:spcPts val="0"/>
              </a:spcAft>
            </a:pPr>
            <a:r>
              <a:rPr lang="en-US" sz="1200" b="0" i="0">
                <a:solidFill>
                  <a:srgbClr val="EDE8F5"/>
                </a:solidFill>
                <a:latin typeface="Courier New"/>
                <a:cs typeface="Courier New"/>
              </a:rPr>
              <a:t> </a:t>
            </a:r>
          </a:p>
          <a:p>
            <a:pPr algn="l" rtl="0">
              <a:spcAft>
                <a:spcPts val="0"/>
              </a:spcAft>
            </a:pPr>
            <a:r>
              <a:rPr lang="en-US" sz="1200" b="0" i="0">
                <a:solidFill>
                  <a:srgbClr val="EDE8F5"/>
                </a:solidFill>
                <a:latin typeface="Courier New"/>
                <a:cs typeface="Courier New"/>
              </a:rPr>
              <a:t>    pm.StudentT('drug_like', nu=ν, mu=μ_1, sigma=σ_1,</a:t>
            </a:r>
          </a:p>
          <a:p>
            <a:pPr algn="l" rtl="0">
              <a:spcAft>
                <a:spcPts val="0"/>
              </a:spcAft>
            </a:pPr>
            <a:r>
              <a:rPr lang="en-US" sz="1200" b="0" i="0">
                <a:solidFill>
                  <a:srgbClr val="EDE8F5"/>
                </a:solidFill>
                <a:latin typeface="Courier New"/>
                <a:cs typeface="Courier New"/>
              </a:rPr>
              <a:t>                observed=drug.iq)</a:t>
            </a:r>
          </a:p>
          <a:p>
            <a:pPr algn="l" rtl="0">
              <a:spcAft>
                <a:spcPts val="0"/>
              </a:spcAft>
            </a:pPr>
            <a:r>
              <a:rPr lang="en-US" sz="1200" b="0" i="0">
                <a:solidFill>
                  <a:srgbClr val="EDE8F5"/>
                </a:solidFill>
                <a:latin typeface="Courier New"/>
                <a:cs typeface="Courier New"/>
              </a:rPr>
              <a:t>    pm.StudentT('placebo_like', nu=ν, mu=μ_0, sigma=σ_0,</a:t>
            </a:r>
          </a:p>
          <a:p>
            <a:pPr algn="l" rtl="0">
              <a:spcAft>
                <a:spcPts val="0"/>
              </a:spcAft>
            </a:pPr>
            <a:r>
              <a:rPr lang="en-US" sz="1200" b="0" i="0">
                <a:solidFill>
                  <a:srgbClr val="EDE8F5"/>
                </a:solidFill>
                <a:latin typeface="Courier New"/>
                <a:cs typeface="Courier New"/>
              </a:rPr>
              <a:t>                observed=placebo.iq)</a:t>
            </a:r>
          </a:p>
        </p:txBody>
      </p:sp>
      <p:sp>
        <p:nvSpPr>
          <p:cNvPr id="8" name="card"/>
          <p:cNvSpPr/>
          <p:nvPr/>
        </p:nvSpPr>
        <p:spPr>
          <a:xfrm>
            <a:off x="7955279" y="3291840"/>
            <a:ext cx="3685032" cy="896112"/>
          </a:xfrm>
          <a:prstGeom prst="roundRect">
            <a:avLst>
              <a:gd name="adj" fmla="val 15306"/>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92440" y="3346704"/>
            <a:ext cx="3410712" cy="365760"/>
          </a:xfrm>
          <a:prstGeom prst="rect">
            <a:avLst/>
          </a:prstGeom>
          <a:noFill/>
        </p:spPr>
        <p:txBody>
          <a:bodyPr wrap="square" lIns="45720" tIns="27432" rIns="45720" bIns="27432" anchor="t">
            <a:spAutoFit/>
          </a:bodyPr>
          <a:lstStyle/>
          <a:p>
            <a:pPr algn="r" rtl="1">
              <a:spcAft>
                <a:spcPts val="0"/>
              </a:spcAft>
            </a:pPr>
            <a:r>
              <a:rPr lang="he-IL" sz="1600" b="1" i="0">
                <a:solidFill>
                  <a:srgbClr val="17A398"/>
                </a:solidFill>
                <a:latin typeface="Arial"/>
                <a:cs typeface="Arial"/>
              </a:rPr>
              <a:t>ממוצעים סביב 100</a:t>
            </a:r>
          </a:p>
        </p:txBody>
      </p:sp>
      <p:sp>
        <p:nvSpPr>
          <p:cNvPr id="10" name="TextBox 9"/>
          <p:cNvSpPr txBox="1"/>
          <p:nvPr/>
        </p:nvSpPr>
        <p:spPr>
          <a:xfrm>
            <a:off x="8092440" y="3730752"/>
            <a:ext cx="3410712" cy="411480"/>
          </a:xfrm>
          <a:prstGeom prst="rect">
            <a:avLst/>
          </a:prstGeom>
          <a:noFill/>
        </p:spPr>
        <p:txBody>
          <a:bodyPr wrap="square" lIns="45720" tIns="27432" rIns="45720" bIns="27432" anchor="t">
            <a:spAutoFit/>
          </a:bodyPr>
          <a:lstStyle/>
          <a:p>
            <a:pPr algn="r" rtl="1">
              <a:spcAft>
                <a:spcPts val="0"/>
              </a:spcAft>
            </a:pPr>
            <a:r>
              <a:rPr lang="he-IL" sz="1300" b="0" i="0">
                <a:solidFill>
                  <a:srgbClr val="6B6478"/>
                </a:solidFill>
                <a:latin typeface="Arial"/>
                <a:cs typeface="Arial"/>
              </a:rPr>
              <a:t>ידוע שממוצע IQ באוכלוסייה הוא 100 — prior רחב סביבו</a:t>
            </a:r>
          </a:p>
        </p:txBody>
      </p:sp>
      <p:sp>
        <p:nvSpPr>
          <p:cNvPr id="11" name="card"/>
          <p:cNvSpPr/>
          <p:nvPr/>
        </p:nvSpPr>
        <p:spPr>
          <a:xfrm>
            <a:off x="7955279" y="4297680"/>
            <a:ext cx="3685032" cy="896112"/>
          </a:xfrm>
          <a:prstGeom prst="roundRect">
            <a:avLst>
              <a:gd name="adj" fmla="val 15306"/>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92440" y="4352544"/>
            <a:ext cx="3410712" cy="365760"/>
          </a:xfrm>
          <a:prstGeom prst="rect">
            <a:avLst/>
          </a:prstGeom>
          <a:noFill/>
        </p:spPr>
        <p:txBody>
          <a:bodyPr wrap="square" lIns="45720" tIns="27432" rIns="45720" bIns="27432" anchor="t">
            <a:spAutoFit/>
          </a:bodyPr>
          <a:lstStyle/>
          <a:p>
            <a:pPr algn="r" rtl="1">
              <a:spcAft>
                <a:spcPts val="0"/>
              </a:spcAft>
            </a:pPr>
            <a:r>
              <a:rPr lang="en-US" sz="1600" b="1" i="0">
                <a:solidFill>
                  <a:srgbClr val="7B5EA7"/>
                </a:solidFill>
                <a:latin typeface="Arial"/>
                <a:cs typeface="Arial"/>
              </a:rPr>
              <a:t>σ</a:t>
            </a:r>
            <a:r>
              <a:rPr lang="he-IL" sz="1600" b="1" i="0">
                <a:solidFill>
                  <a:srgbClr val="7B5EA7"/>
                </a:solidFill>
                <a:latin typeface="Arial"/>
                <a:cs typeface="Arial"/>
              </a:rPr>
              <a:t> אחיד עד 20</a:t>
            </a:r>
          </a:p>
        </p:txBody>
      </p:sp>
      <p:sp>
        <p:nvSpPr>
          <p:cNvPr id="13" name="TextBox 12"/>
          <p:cNvSpPr txBox="1"/>
          <p:nvPr/>
        </p:nvSpPr>
        <p:spPr>
          <a:xfrm>
            <a:off x="8092440" y="4736592"/>
            <a:ext cx="3410712" cy="411480"/>
          </a:xfrm>
          <a:prstGeom prst="rect">
            <a:avLst/>
          </a:prstGeom>
          <a:noFill/>
        </p:spPr>
        <p:txBody>
          <a:bodyPr wrap="square" lIns="45720" tIns="27432" rIns="45720" bIns="27432" anchor="t">
            <a:spAutoFit/>
          </a:bodyPr>
          <a:lstStyle/>
          <a:p>
            <a:pPr algn="r" rtl="1">
              <a:spcAft>
                <a:spcPts val="0"/>
              </a:spcAft>
            </a:pPr>
            <a:r>
              <a:rPr lang="he-IL" sz="1300" b="0" i="0">
                <a:solidFill>
                  <a:srgbClr val="6B6478"/>
                </a:solidFill>
                <a:latin typeface="Arial"/>
                <a:cs typeface="Arial"/>
              </a:rPr>
              <a:t>חיובית, עם חסם עליון נדיב</a:t>
            </a:r>
          </a:p>
        </p:txBody>
      </p:sp>
      <p:sp>
        <p:nvSpPr>
          <p:cNvPr id="14" name="card"/>
          <p:cNvSpPr/>
          <p:nvPr/>
        </p:nvSpPr>
        <p:spPr>
          <a:xfrm>
            <a:off x="7955279" y="5303520"/>
            <a:ext cx="3685032" cy="896112"/>
          </a:xfrm>
          <a:prstGeom prst="roundRect">
            <a:avLst>
              <a:gd name="adj" fmla="val 15306"/>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92440" y="5358384"/>
            <a:ext cx="3410712" cy="365760"/>
          </a:xfrm>
          <a:prstGeom prst="rect">
            <a:avLst/>
          </a:prstGeom>
          <a:noFill/>
        </p:spPr>
        <p:txBody>
          <a:bodyPr wrap="square" lIns="45720" tIns="27432" rIns="45720" bIns="27432" anchor="t">
            <a:spAutoFit/>
          </a:bodyPr>
          <a:lstStyle/>
          <a:p>
            <a:pPr algn="r" rtl="1">
              <a:spcAft>
                <a:spcPts val="0"/>
              </a:spcAft>
            </a:pPr>
            <a:r>
              <a:rPr lang="en-US" sz="1600" b="1" i="0">
                <a:solidFill>
                  <a:srgbClr val="E4572E"/>
                </a:solidFill>
                <a:latin typeface="Arial"/>
                <a:cs typeface="Arial"/>
              </a:rPr>
              <a:t>ν</a:t>
            </a:r>
            <a:r>
              <a:rPr lang="he-IL" sz="1600" b="1" i="0">
                <a:solidFill>
                  <a:srgbClr val="E4572E"/>
                </a:solidFill>
                <a:latin typeface="Arial"/>
                <a:cs typeface="Arial"/>
              </a:rPr>
              <a:t> משותף</a:t>
            </a:r>
          </a:p>
        </p:txBody>
      </p:sp>
      <p:sp>
        <p:nvSpPr>
          <p:cNvPr id="16" name="TextBox 15"/>
          <p:cNvSpPr txBox="1"/>
          <p:nvPr/>
        </p:nvSpPr>
        <p:spPr>
          <a:xfrm>
            <a:off x="8092440" y="5742432"/>
            <a:ext cx="3410712" cy="411480"/>
          </a:xfrm>
          <a:prstGeom prst="rect">
            <a:avLst/>
          </a:prstGeom>
          <a:noFill/>
        </p:spPr>
        <p:txBody>
          <a:bodyPr wrap="square" lIns="45720" tIns="27432" rIns="45720" bIns="27432" anchor="t">
            <a:spAutoFit/>
          </a:bodyPr>
          <a:lstStyle/>
          <a:p>
            <a:pPr algn="r" rtl="1">
              <a:spcAft>
                <a:spcPts val="0"/>
              </a:spcAft>
            </a:pPr>
            <a:r>
              <a:rPr lang="he-IL" sz="1300" b="0" i="0">
                <a:solidFill>
                  <a:srgbClr val="6B6478"/>
                </a:solidFill>
                <a:latin typeface="Arial"/>
                <a:cs typeface="Arial"/>
              </a:rPr>
              <a:t>הנחה מפשטת: אותה “נורמליות” לשתי הקבוצות</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מה מעניין אותנו: הפרש וגודל אפקט</a:t>
            </a:r>
          </a:p>
        </p:txBody>
      </p:sp>
      <p:sp>
        <p:nvSpPr>
          <p:cNvPr id="3" name="card"/>
          <p:cNvSpPr/>
          <p:nvPr/>
        </p:nvSpPr>
        <p:spPr>
          <a:xfrm>
            <a:off x="6400800" y="1463040"/>
            <a:ext cx="5239512" cy="2377440"/>
          </a:xfrm>
          <a:prstGeom prst="roundRect">
            <a:avLst>
              <a:gd name="adj" fmla="val 5769"/>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eq_effect.png"/>
          <p:cNvPicPr>
            <a:picLocks noChangeAspect="1"/>
          </p:cNvPicPr>
          <p:nvPr/>
        </p:nvPicPr>
        <p:blipFill>
          <a:blip r:embed="rId3"/>
          <a:stretch>
            <a:fillRect/>
          </a:stretch>
        </p:blipFill>
        <p:spPr>
          <a:xfrm>
            <a:off x="6583680" y="1645920"/>
            <a:ext cx="4873752" cy="1402038"/>
          </a:xfrm>
          <a:prstGeom prst="rect">
            <a:avLst/>
          </a:prstGeom>
        </p:spPr>
      </p:pic>
      <p:sp>
        <p:nvSpPr>
          <p:cNvPr id="5" name="code block"/>
          <p:cNvSpPr/>
          <p:nvPr/>
        </p:nvSpPr>
        <p:spPr>
          <a:xfrm>
            <a:off x="548640" y="1463040"/>
            <a:ext cx="5577840" cy="2377440"/>
          </a:xfrm>
          <a:prstGeom prst="roundRect">
            <a:avLst>
              <a:gd name="adj" fmla="val 4615"/>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ode"/>
          <p:cNvSpPr txBox="1"/>
          <p:nvPr/>
        </p:nvSpPr>
        <p:spPr>
          <a:xfrm>
            <a:off x="777240" y="1645920"/>
            <a:ext cx="5120640" cy="2011680"/>
          </a:xfrm>
          <a:prstGeom prst="rect">
            <a:avLst/>
          </a:prstGeom>
          <a:noFill/>
        </p:spPr>
        <p:txBody>
          <a:bodyPr wrap="square">
            <a:spAutoFit/>
          </a:bodyPr>
          <a:lstStyle/>
          <a:p>
            <a:pPr algn="l" rtl="0">
              <a:spcAft>
                <a:spcPts val="0"/>
              </a:spcAft>
            </a:pPr>
            <a:r>
              <a:rPr lang="en-US" sz="1300" b="0" i="0">
                <a:solidFill>
                  <a:srgbClr val="EDE8F5"/>
                </a:solidFill>
                <a:latin typeface="Courier New"/>
                <a:cs typeface="Courier New"/>
              </a:rPr>
              <a:t>with drug_model:</a:t>
            </a:r>
          </a:p>
          <a:p>
            <a:pPr algn="l" rtl="0">
              <a:spcAft>
                <a:spcPts val="0"/>
              </a:spcAft>
            </a:pPr>
            <a:r>
              <a:rPr lang="en-US" sz="1300" b="0" i="0">
                <a:solidFill>
                  <a:srgbClr val="EDE8F5"/>
                </a:solidFill>
                <a:latin typeface="Courier New"/>
                <a:cs typeface="Courier New"/>
              </a:rPr>
              <a:t>    diff = pm.Deterministic(</a:t>
            </a:r>
          </a:p>
          <a:p>
            <a:pPr algn="l" rtl="0">
              <a:spcAft>
                <a:spcPts val="0"/>
              </a:spcAft>
            </a:pPr>
            <a:r>
              <a:rPr lang="en-US" sz="1300" b="0" i="0">
                <a:solidFill>
                  <a:srgbClr val="EDE8F5"/>
                </a:solidFill>
                <a:latin typeface="Courier New"/>
                <a:cs typeface="Courier New"/>
              </a:rPr>
              <a:t>        'difference of means', μ_1 - μ_0)</a:t>
            </a:r>
          </a:p>
          <a:p>
            <a:pPr algn="l" rtl="0">
              <a:spcAft>
                <a:spcPts val="0"/>
              </a:spcAft>
            </a:pPr>
            <a:r>
              <a:rPr lang="en-US" sz="1300" b="0" i="0">
                <a:solidFill>
                  <a:srgbClr val="EDE8F5"/>
                </a:solidFill>
                <a:latin typeface="Courier New"/>
                <a:cs typeface="Courier New"/>
              </a:rPr>
              <a:t>    pm.Deterministic('effect size',</a:t>
            </a:r>
          </a:p>
          <a:p>
            <a:pPr algn="l" rtl="0">
              <a:spcAft>
                <a:spcPts val="0"/>
              </a:spcAft>
            </a:pPr>
            <a:r>
              <a:rPr lang="en-US" sz="1300" b="0" i="0">
                <a:solidFill>
                  <a:srgbClr val="EDE8F5"/>
                </a:solidFill>
                <a:latin typeface="Courier New"/>
                <a:cs typeface="Courier New"/>
              </a:rPr>
              <a:t>        diff / np.sqrt(((n1-1)*σ_1**2 +</a:t>
            </a:r>
          </a:p>
          <a:p>
            <a:pPr algn="l" rtl="0">
              <a:spcAft>
                <a:spcPts val="0"/>
              </a:spcAft>
            </a:pPr>
            <a:r>
              <a:rPr lang="en-US" sz="1300" b="0" i="0">
                <a:solidFill>
                  <a:srgbClr val="EDE8F5"/>
                </a:solidFill>
                <a:latin typeface="Courier New"/>
                <a:cs typeface="Courier New"/>
              </a:rPr>
              <a:t>          (n2-1)*σ_0**2) / (n1+n2-2)))</a:t>
            </a:r>
          </a:p>
        </p:txBody>
      </p:sp>
      <p:sp>
        <p:nvSpPr>
          <p:cNvPr id="7" name="card"/>
          <p:cNvSpPr/>
          <p:nvPr/>
        </p:nvSpPr>
        <p:spPr>
          <a:xfrm>
            <a:off x="8101583" y="4114800"/>
            <a:ext cx="3538728" cy="2148840"/>
          </a:xfrm>
          <a:prstGeom prst="roundRect">
            <a:avLst>
              <a:gd name="adj" fmla="val 6382"/>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badge Δ"/>
          <p:cNvSpPr/>
          <p:nvPr/>
        </p:nvSpPr>
        <p:spPr>
          <a:xfrm>
            <a:off x="10771632" y="4315968"/>
            <a:ext cx="640080" cy="64008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200" b="1" i="0">
                <a:solidFill>
                  <a:srgbClr val="FFFFFF"/>
                </a:solidFill>
                <a:latin typeface="Arial"/>
                <a:cs typeface="Arial"/>
              </a:rPr>
              <a:t>Δ</a:t>
            </a:r>
          </a:p>
        </p:txBody>
      </p:sp>
      <p:sp>
        <p:nvSpPr>
          <p:cNvPr id="9" name="TextBox 8"/>
          <p:cNvSpPr txBox="1"/>
          <p:nvPr/>
        </p:nvSpPr>
        <p:spPr>
          <a:xfrm>
            <a:off x="8330183" y="4315968"/>
            <a:ext cx="2331720" cy="640080"/>
          </a:xfrm>
          <a:prstGeom prst="rect">
            <a:avLst/>
          </a:prstGeom>
          <a:noFill/>
        </p:spPr>
        <p:txBody>
          <a:bodyPr wrap="square" lIns="45720" tIns="27432" rIns="45720" bIns="27432" anchor="ctr">
            <a:spAutoFit/>
          </a:bodyPr>
          <a:lstStyle/>
          <a:p>
            <a:pPr algn="r" rtl="1">
              <a:spcAft>
                <a:spcPts val="0"/>
              </a:spcAft>
            </a:pPr>
            <a:r>
              <a:rPr lang="he-IL" sz="1700" b="1" i="0">
                <a:solidFill>
                  <a:srgbClr val="2B1E3F"/>
                </a:solidFill>
                <a:latin typeface="Arial"/>
                <a:cs typeface="Arial"/>
              </a:rPr>
              <a:t>הפרש הממוצעים</a:t>
            </a:r>
          </a:p>
        </p:txBody>
      </p:sp>
      <p:sp>
        <p:nvSpPr>
          <p:cNvPr id="10" name="TextBox 9"/>
          <p:cNvSpPr txBox="1"/>
          <p:nvPr/>
        </p:nvSpPr>
        <p:spPr>
          <a:xfrm>
            <a:off x="8330183" y="5074920"/>
            <a:ext cx="3081528" cy="1097280"/>
          </a:xfrm>
          <a:prstGeom prst="rect">
            <a:avLst/>
          </a:prstGeom>
          <a:noFill/>
        </p:spPr>
        <p:txBody>
          <a:bodyPr wrap="square" lIns="45720" tIns="27432" rIns="45720" bIns="27432" anchor="t">
            <a:spAutoFit/>
          </a:bodyPr>
          <a:lstStyle/>
          <a:p>
            <a:pPr algn="r" rtl="1">
              <a:spcAft>
                <a:spcPts val="0"/>
              </a:spcAft>
            </a:pPr>
            <a:r>
              <a:rPr lang="he-IL" sz="1400" b="0" i="0">
                <a:solidFill>
                  <a:srgbClr val="6B6478"/>
                </a:solidFill>
                <a:latin typeface="Arial"/>
                <a:cs typeface="Arial"/>
              </a:rPr>
              <a:t>ביחידות של IQ — קל לפרש</a:t>
            </a:r>
          </a:p>
        </p:txBody>
      </p:sp>
      <p:sp>
        <p:nvSpPr>
          <p:cNvPr id="11" name="card"/>
          <p:cNvSpPr/>
          <p:nvPr/>
        </p:nvSpPr>
        <p:spPr>
          <a:xfrm>
            <a:off x="4325112" y="4114800"/>
            <a:ext cx="3538728" cy="2148840"/>
          </a:xfrm>
          <a:prstGeom prst="roundRect">
            <a:avLst>
              <a:gd name="adj" fmla="val 6382"/>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badge d"/>
          <p:cNvSpPr/>
          <p:nvPr/>
        </p:nvSpPr>
        <p:spPr>
          <a:xfrm>
            <a:off x="6995159" y="4315968"/>
            <a:ext cx="640080" cy="64008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200" b="1" i="0">
                <a:solidFill>
                  <a:srgbClr val="FFFFFF"/>
                </a:solidFill>
                <a:latin typeface="Arial"/>
                <a:cs typeface="Arial"/>
              </a:rPr>
              <a:t>d</a:t>
            </a:r>
          </a:p>
        </p:txBody>
      </p:sp>
      <p:sp>
        <p:nvSpPr>
          <p:cNvPr id="13" name="TextBox 12"/>
          <p:cNvSpPr txBox="1"/>
          <p:nvPr/>
        </p:nvSpPr>
        <p:spPr>
          <a:xfrm>
            <a:off x="4553712" y="4315968"/>
            <a:ext cx="2331720" cy="640080"/>
          </a:xfrm>
          <a:prstGeom prst="rect">
            <a:avLst/>
          </a:prstGeom>
          <a:noFill/>
        </p:spPr>
        <p:txBody>
          <a:bodyPr wrap="square" lIns="45720" tIns="27432" rIns="45720" bIns="27432" anchor="ctr">
            <a:spAutoFit/>
          </a:bodyPr>
          <a:lstStyle/>
          <a:p>
            <a:pPr algn="r" rtl="1">
              <a:spcAft>
                <a:spcPts val="0"/>
              </a:spcAft>
            </a:pPr>
            <a:r>
              <a:rPr lang="he-IL" sz="1700" b="1" i="0">
                <a:solidFill>
                  <a:srgbClr val="2B1E3F"/>
                </a:solidFill>
                <a:latin typeface="Arial"/>
                <a:cs typeface="Arial"/>
              </a:rPr>
              <a:t>גודל האפקט של כהן</a:t>
            </a:r>
          </a:p>
        </p:txBody>
      </p:sp>
      <p:sp>
        <p:nvSpPr>
          <p:cNvPr id="14" name="TextBox 13"/>
          <p:cNvSpPr txBox="1"/>
          <p:nvPr/>
        </p:nvSpPr>
        <p:spPr>
          <a:xfrm>
            <a:off x="4553712" y="5074920"/>
            <a:ext cx="3081528" cy="1097280"/>
          </a:xfrm>
          <a:prstGeom prst="rect">
            <a:avLst/>
          </a:prstGeom>
          <a:noFill/>
        </p:spPr>
        <p:txBody>
          <a:bodyPr wrap="square" lIns="45720" tIns="27432" rIns="45720" bIns="27432" anchor="t">
            <a:spAutoFit/>
          </a:bodyPr>
          <a:lstStyle/>
          <a:p>
            <a:pPr algn="r" rtl="1">
              <a:spcAft>
                <a:spcPts val="0"/>
              </a:spcAft>
            </a:pPr>
            <a:r>
              <a:rPr lang="he-IL" sz="1400" b="0" i="0">
                <a:solidFill>
                  <a:srgbClr val="6B6478"/>
                </a:solidFill>
                <a:latin typeface="Arial"/>
                <a:cs typeface="Arial"/>
              </a:rPr>
              <a:t>ההפרש ביחידות של סטיית תקן מאוחדת — כמו בשיעור 5</a:t>
            </a:r>
          </a:p>
        </p:txBody>
      </p:sp>
      <p:sp>
        <p:nvSpPr>
          <p:cNvPr id="15" name="card"/>
          <p:cNvSpPr/>
          <p:nvPr/>
        </p:nvSpPr>
        <p:spPr>
          <a:xfrm>
            <a:off x="548640" y="4114800"/>
            <a:ext cx="3538728" cy="2148840"/>
          </a:xfrm>
          <a:prstGeom prst="roundRect">
            <a:avLst>
              <a:gd name="adj" fmla="val 6382"/>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badge ∑"/>
          <p:cNvSpPr/>
          <p:nvPr/>
        </p:nvSpPr>
        <p:spPr>
          <a:xfrm>
            <a:off x="3218687" y="4315968"/>
            <a:ext cx="640080" cy="64008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he-IL" sz="2200" b="1" i="0">
                <a:solidFill>
                  <a:srgbClr val="FFFFFF"/>
                </a:solidFill>
                <a:latin typeface="Arial"/>
                <a:cs typeface="Arial"/>
              </a:rPr>
              <a:t>∑</a:t>
            </a:r>
          </a:p>
        </p:txBody>
      </p:sp>
      <p:sp>
        <p:nvSpPr>
          <p:cNvPr id="17" name="TextBox 16"/>
          <p:cNvSpPr txBox="1"/>
          <p:nvPr/>
        </p:nvSpPr>
        <p:spPr>
          <a:xfrm>
            <a:off x="777240" y="4315968"/>
            <a:ext cx="2331720" cy="640080"/>
          </a:xfrm>
          <a:prstGeom prst="rect">
            <a:avLst/>
          </a:prstGeom>
          <a:noFill/>
        </p:spPr>
        <p:txBody>
          <a:bodyPr wrap="square" lIns="45720" tIns="27432" rIns="45720" bIns="27432" anchor="ctr">
            <a:spAutoFit/>
          </a:bodyPr>
          <a:lstStyle/>
          <a:p>
            <a:pPr algn="r" rtl="1">
              <a:spcAft>
                <a:spcPts val="0"/>
              </a:spcAft>
            </a:pPr>
            <a:r>
              <a:rPr lang="he-IL" sz="1700" b="1" i="0">
                <a:solidFill>
                  <a:srgbClr val="2B1E3F"/>
                </a:solidFill>
                <a:latin typeface="Arial"/>
                <a:cs typeface="Arial"/>
              </a:rPr>
              <a:t>pm.Deterministic</a:t>
            </a:r>
          </a:p>
        </p:txBody>
      </p:sp>
      <p:sp>
        <p:nvSpPr>
          <p:cNvPr id="18" name="TextBox 17"/>
          <p:cNvSpPr txBox="1"/>
          <p:nvPr/>
        </p:nvSpPr>
        <p:spPr>
          <a:xfrm>
            <a:off x="777240" y="5074920"/>
            <a:ext cx="3081528" cy="1097280"/>
          </a:xfrm>
          <a:prstGeom prst="rect">
            <a:avLst/>
          </a:prstGeom>
          <a:noFill/>
        </p:spPr>
        <p:txBody>
          <a:bodyPr wrap="square" lIns="45720" tIns="27432" rIns="45720" bIns="27432" anchor="t">
            <a:spAutoFit/>
          </a:bodyPr>
          <a:lstStyle/>
          <a:p>
            <a:pPr algn="r" rtl="1">
              <a:spcAft>
                <a:spcPts val="0"/>
              </a:spcAft>
            </a:pPr>
            <a:r>
              <a:rPr lang="he-IL" sz="1400" b="0" i="0">
                <a:solidFill>
                  <a:srgbClr val="6B6478"/>
                </a:solidFill>
                <a:latin typeface="Arial"/>
                <a:cs typeface="Arial"/>
              </a:rPr>
              <a:t>נשמר בכל דגימה — ומקבלים התפלגות פוסטריורית מלאה</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התוצאות: התרופה כנראה עובדת — במידה מתונה</a:t>
            </a:r>
          </a:p>
        </p:txBody>
      </p:sp>
      <p:pic>
        <p:nvPicPr>
          <p:cNvPr id="3" name="Picture 2" descr="drug_diff_es.png"/>
          <p:cNvPicPr>
            <a:picLocks noChangeAspect="1"/>
          </p:cNvPicPr>
          <p:nvPr/>
        </p:nvPicPr>
        <p:blipFill>
          <a:blip r:embed="rId3"/>
          <a:stretch>
            <a:fillRect/>
          </a:stretch>
        </p:blipFill>
        <p:spPr>
          <a:xfrm>
            <a:off x="548640" y="1371600"/>
            <a:ext cx="11091672" cy="3626124"/>
          </a:xfrm>
          <a:prstGeom prst="rect">
            <a:avLst/>
          </a:prstGeom>
        </p:spPr>
      </p:pic>
      <p:sp>
        <p:nvSpPr>
          <p:cNvPr id="4" name="card"/>
          <p:cNvSpPr/>
          <p:nvPr/>
        </p:nvSpPr>
        <p:spPr>
          <a:xfrm>
            <a:off x="8997696" y="5074920"/>
            <a:ext cx="2642616" cy="1188720"/>
          </a:xfrm>
          <a:prstGeom prst="roundRect">
            <a:avLst>
              <a:gd name="adj" fmla="val 11538"/>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97696" y="5148072"/>
            <a:ext cx="2642616" cy="594360"/>
          </a:xfrm>
          <a:prstGeom prst="rect">
            <a:avLst/>
          </a:prstGeom>
          <a:noFill/>
        </p:spPr>
        <p:txBody>
          <a:bodyPr wrap="square" lIns="45720" tIns="27432" rIns="45720" bIns="27432" anchor="ctr">
            <a:spAutoFit/>
          </a:bodyPr>
          <a:lstStyle/>
          <a:p>
            <a:pPr algn="ctr" rtl="1">
              <a:spcAft>
                <a:spcPts val="0"/>
              </a:spcAft>
            </a:pPr>
            <a:r>
              <a:rPr lang="he-IL" sz="2800" b="1" i="0">
                <a:solidFill>
                  <a:srgbClr val="E4572E"/>
                </a:solidFill>
                <a:latin typeface="Arial"/>
                <a:cs typeface="Arial"/>
              </a:rPr>
              <a:t>99%</a:t>
            </a:r>
          </a:p>
        </p:txBody>
      </p:sp>
      <p:sp>
        <p:nvSpPr>
          <p:cNvPr id="6" name="TextBox 5"/>
          <p:cNvSpPr txBox="1"/>
          <p:nvPr/>
        </p:nvSpPr>
        <p:spPr>
          <a:xfrm>
            <a:off x="9043416" y="5728716"/>
            <a:ext cx="2551176" cy="475488"/>
          </a:xfrm>
          <a:prstGeom prst="rect">
            <a:avLst/>
          </a:prstGeom>
          <a:noFill/>
        </p:spPr>
        <p:txBody>
          <a:bodyPr wrap="square" lIns="45720" tIns="27432" rIns="45720" bIns="27432" anchor="t">
            <a:spAutoFit/>
          </a:bodyPr>
          <a:lstStyle/>
          <a:p>
            <a:pPr algn="ctr" rtl="1">
              <a:spcAft>
                <a:spcPts val="0"/>
              </a:spcAft>
            </a:pPr>
            <a:r>
              <a:rPr lang="he-IL" sz="1300" b="0" i="0">
                <a:solidFill>
                  <a:srgbClr val="6B6478"/>
                </a:solidFill>
                <a:latin typeface="Arial"/>
                <a:cs typeface="Arial"/>
              </a:rPr>
              <a:t>סיכוי שהתרופה מעלה את הממוצע</a:t>
            </a:r>
          </a:p>
        </p:txBody>
      </p:sp>
      <p:sp>
        <p:nvSpPr>
          <p:cNvPr id="7" name="card"/>
          <p:cNvSpPr/>
          <p:nvPr/>
        </p:nvSpPr>
        <p:spPr>
          <a:xfrm>
            <a:off x="6181344" y="5074920"/>
            <a:ext cx="2642616" cy="1188720"/>
          </a:xfrm>
          <a:prstGeom prst="roundRect">
            <a:avLst>
              <a:gd name="adj" fmla="val 11538"/>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81344" y="5148072"/>
            <a:ext cx="2642616" cy="594360"/>
          </a:xfrm>
          <a:prstGeom prst="rect">
            <a:avLst/>
          </a:prstGeom>
          <a:noFill/>
        </p:spPr>
        <p:txBody>
          <a:bodyPr wrap="square" lIns="45720" tIns="27432" rIns="45720" bIns="27432" anchor="ctr">
            <a:spAutoFit/>
          </a:bodyPr>
          <a:lstStyle/>
          <a:p>
            <a:pPr algn="ctr" rtl="1">
              <a:spcAft>
                <a:spcPts val="0"/>
              </a:spcAft>
            </a:pPr>
            <a:r>
              <a:rPr lang="he-IL" sz="2800" b="1" i="0">
                <a:solidFill>
                  <a:srgbClr val="17A398"/>
                </a:solidFill>
                <a:latin typeface="Arial"/>
                <a:cs typeface="Arial"/>
              </a:rPr>
              <a:t>1.0</a:t>
            </a:r>
          </a:p>
        </p:txBody>
      </p:sp>
      <p:sp>
        <p:nvSpPr>
          <p:cNvPr id="9" name="TextBox 8"/>
          <p:cNvSpPr txBox="1"/>
          <p:nvPr/>
        </p:nvSpPr>
        <p:spPr>
          <a:xfrm>
            <a:off x="6227064" y="5728716"/>
            <a:ext cx="2551176" cy="475488"/>
          </a:xfrm>
          <a:prstGeom prst="rect">
            <a:avLst/>
          </a:prstGeom>
          <a:noFill/>
        </p:spPr>
        <p:txBody>
          <a:bodyPr wrap="square" lIns="45720" tIns="27432" rIns="45720" bIns="27432" anchor="t">
            <a:spAutoFit/>
          </a:bodyPr>
          <a:lstStyle/>
          <a:p>
            <a:pPr algn="ctr" rtl="1">
              <a:spcAft>
                <a:spcPts val="0"/>
              </a:spcAft>
            </a:pPr>
            <a:r>
              <a:rPr lang="he-IL" sz="1300" b="0" i="0">
                <a:solidFill>
                  <a:srgbClr val="6B6478"/>
                </a:solidFill>
                <a:latin typeface="Arial"/>
                <a:cs typeface="Arial"/>
              </a:rPr>
              <a:t>נקודות IQ — הפרש ממוצע</a:t>
            </a:r>
          </a:p>
        </p:txBody>
      </p:sp>
      <p:sp>
        <p:nvSpPr>
          <p:cNvPr id="10" name="card"/>
          <p:cNvSpPr/>
          <p:nvPr/>
        </p:nvSpPr>
        <p:spPr>
          <a:xfrm>
            <a:off x="3364992" y="5074920"/>
            <a:ext cx="2642616" cy="1188720"/>
          </a:xfrm>
          <a:prstGeom prst="roundRect">
            <a:avLst>
              <a:gd name="adj" fmla="val 11538"/>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64992" y="5148072"/>
            <a:ext cx="2642616" cy="594360"/>
          </a:xfrm>
          <a:prstGeom prst="rect">
            <a:avLst/>
          </a:prstGeom>
          <a:noFill/>
        </p:spPr>
        <p:txBody>
          <a:bodyPr wrap="square" lIns="45720" tIns="27432" rIns="45720" bIns="27432" anchor="ctr">
            <a:spAutoFit/>
          </a:bodyPr>
          <a:lstStyle/>
          <a:p>
            <a:pPr algn="ctr" rtl="1">
              <a:spcAft>
                <a:spcPts val="0"/>
              </a:spcAft>
            </a:pPr>
            <a:r>
              <a:rPr lang="he-IL" sz="2800" b="1" i="0">
                <a:solidFill>
                  <a:srgbClr val="7B5EA7"/>
                </a:solidFill>
                <a:latin typeface="Arial"/>
                <a:cs typeface="Arial"/>
              </a:rPr>
              <a:t>0.64</a:t>
            </a:r>
          </a:p>
        </p:txBody>
      </p:sp>
      <p:sp>
        <p:nvSpPr>
          <p:cNvPr id="12" name="TextBox 11"/>
          <p:cNvSpPr txBox="1"/>
          <p:nvPr/>
        </p:nvSpPr>
        <p:spPr>
          <a:xfrm>
            <a:off x="3410712" y="5728716"/>
            <a:ext cx="2551176" cy="475488"/>
          </a:xfrm>
          <a:prstGeom prst="rect">
            <a:avLst/>
          </a:prstGeom>
          <a:noFill/>
        </p:spPr>
        <p:txBody>
          <a:bodyPr wrap="square" lIns="45720" tIns="27432" rIns="45720" bIns="27432" anchor="t">
            <a:spAutoFit/>
          </a:bodyPr>
          <a:lstStyle/>
          <a:p>
            <a:pPr algn="ctr" rtl="1">
              <a:spcAft>
                <a:spcPts val="0"/>
              </a:spcAft>
            </a:pPr>
            <a:r>
              <a:rPr lang="he-IL" sz="1300" b="0" i="0">
                <a:solidFill>
                  <a:srgbClr val="6B6478"/>
                </a:solidFill>
                <a:latin typeface="Arial"/>
                <a:cs typeface="Arial"/>
              </a:rPr>
              <a:t>גודל אפקט — בינוני, אך מרווח רחב</a:t>
            </a:r>
          </a:p>
        </p:txBody>
      </p:sp>
      <p:sp>
        <p:nvSpPr>
          <p:cNvPr id="13" name="card"/>
          <p:cNvSpPr/>
          <p:nvPr/>
        </p:nvSpPr>
        <p:spPr>
          <a:xfrm>
            <a:off x="548640" y="5074920"/>
            <a:ext cx="2642616" cy="1188720"/>
          </a:xfrm>
          <a:prstGeom prst="roundRect">
            <a:avLst>
              <a:gd name="adj" fmla="val 11538"/>
            </a:avLst>
          </a:prstGeom>
          <a:solidFill>
            <a:srgbClr val="F3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5148072"/>
            <a:ext cx="2642616" cy="594360"/>
          </a:xfrm>
          <a:prstGeom prst="rect">
            <a:avLst/>
          </a:prstGeom>
          <a:noFill/>
        </p:spPr>
        <p:txBody>
          <a:bodyPr wrap="square" lIns="45720" tIns="27432" rIns="45720" bIns="27432" anchor="ctr">
            <a:spAutoFit/>
          </a:bodyPr>
          <a:lstStyle/>
          <a:p>
            <a:pPr algn="ctr" rtl="1">
              <a:spcAft>
                <a:spcPts val="0"/>
              </a:spcAft>
            </a:pPr>
            <a:r>
              <a:rPr lang="he-IL" sz="2800" b="1" i="0">
                <a:solidFill>
                  <a:srgbClr val="2B1E3F"/>
                </a:solidFill>
                <a:latin typeface="Arial"/>
                <a:cs typeface="Arial"/>
              </a:rPr>
              <a:t>1.8</a:t>
            </a:r>
          </a:p>
        </p:txBody>
      </p:sp>
      <p:sp>
        <p:nvSpPr>
          <p:cNvPr id="15" name="TextBox 14"/>
          <p:cNvSpPr txBox="1"/>
          <p:nvPr/>
        </p:nvSpPr>
        <p:spPr>
          <a:xfrm>
            <a:off x="594360" y="5728716"/>
            <a:ext cx="2551176" cy="475488"/>
          </a:xfrm>
          <a:prstGeom prst="rect">
            <a:avLst/>
          </a:prstGeom>
          <a:noFill/>
        </p:spPr>
        <p:txBody>
          <a:bodyPr wrap="square" lIns="45720" tIns="27432" rIns="45720" bIns="27432" anchor="t">
            <a:spAutoFit/>
          </a:bodyPr>
          <a:lstStyle/>
          <a:p>
            <a:pPr algn="ctr" rtl="1">
              <a:spcAft>
                <a:spcPts val="0"/>
              </a:spcAft>
            </a:pPr>
            <a:r>
              <a:rPr lang="en-US" sz="1300" b="0" i="0">
                <a:solidFill>
                  <a:srgbClr val="6B6478"/>
                </a:solidFill>
                <a:latin typeface="Arial"/>
                <a:cs typeface="Arial"/>
              </a:rPr>
              <a:t>ν</a:t>
            </a:r>
            <a:r>
              <a:rPr lang="he-IL" sz="1300" b="0" i="0">
                <a:solidFill>
                  <a:srgbClr val="6B6478"/>
                </a:solidFill>
                <a:latin typeface="Arial"/>
                <a:cs typeface="Arial"/>
              </a:rPr>
              <a:t> — זנבות כבדים מאוד</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2B1E3F"/>
                </a:solidFill>
                <a:latin typeface="Arial"/>
                <a:cs typeface="Arial"/>
              </a:rPr>
              <a:t>רגישות ל-prior: </a:t>
            </a:r>
            <a:r>
              <a:rPr lang="en-US" sz="3400" b="1" i="0">
                <a:solidFill>
                  <a:srgbClr val="2B1E3F"/>
                </a:solidFill>
                <a:latin typeface="Arial"/>
                <a:cs typeface="Arial"/>
              </a:rPr>
              <a:t>ν</a:t>
            </a:r>
            <a:r>
              <a:rPr lang="he-IL" sz="3400" b="1" i="0">
                <a:solidFill>
                  <a:srgbClr val="2B1E3F"/>
                </a:solidFill>
                <a:latin typeface="Arial"/>
                <a:cs typeface="Arial"/>
              </a:rPr>
              <a:t> אחיד במקום אקספוננציאלי</a:t>
            </a:r>
          </a:p>
        </p:txBody>
      </p:sp>
      <p:pic>
        <p:nvPicPr>
          <p:cNvPr id="3" name="Picture 2" descr="drug_sensitivity.png"/>
          <p:cNvPicPr>
            <a:picLocks noChangeAspect="1"/>
          </p:cNvPicPr>
          <p:nvPr/>
        </p:nvPicPr>
        <p:blipFill>
          <a:blip r:embed="rId3"/>
          <a:stretch>
            <a:fillRect/>
          </a:stretch>
        </p:blipFill>
        <p:spPr>
          <a:xfrm>
            <a:off x="548640" y="1371600"/>
            <a:ext cx="11091672" cy="3081544"/>
          </a:xfrm>
          <a:prstGeom prst="rect">
            <a:avLst/>
          </a:prstGeom>
        </p:spPr>
      </p:pic>
      <p:sp>
        <p:nvSpPr>
          <p:cNvPr id="4" name="code block"/>
          <p:cNvSpPr/>
          <p:nvPr/>
        </p:nvSpPr>
        <p:spPr>
          <a:xfrm>
            <a:off x="548640" y="5074920"/>
            <a:ext cx="5120640" cy="1188720"/>
          </a:xfrm>
          <a:prstGeom prst="roundRect">
            <a:avLst>
              <a:gd name="adj" fmla="val 9230"/>
            </a:avLst>
          </a:prstGeom>
          <a:solidFill>
            <a:srgbClr val="241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
          <p:cNvSpPr txBox="1"/>
          <p:nvPr/>
        </p:nvSpPr>
        <p:spPr>
          <a:xfrm>
            <a:off x="777240" y="5257800"/>
            <a:ext cx="4663440" cy="822960"/>
          </a:xfrm>
          <a:prstGeom prst="rect">
            <a:avLst/>
          </a:prstGeom>
          <a:noFill/>
        </p:spPr>
        <p:txBody>
          <a:bodyPr wrap="square">
            <a:spAutoFit/>
          </a:bodyPr>
          <a:lstStyle/>
          <a:p>
            <a:pPr algn="l" rtl="0">
              <a:spcAft>
                <a:spcPts val="0"/>
              </a:spcAft>
            </a:pPr>
            <a:r>
              <a:rPr lang="en-US" sz="1400" b="0" i="0">
                <a:solidFill>
                  <a:srgbClr val="9C8FB5"/>
                </a:solidFill>
                <a:latin typeface="Courier New"/>
                <a:cs typeface="Courier New"/>
              </a:rPr>
              <a:t># drug_model1: same model, but</a:t>
            </a:r>
          </a:p>
          <a:p>
            <a:pPr algn="l" rtl="0">
              <a:spcAft>
                <a:spcPts val="0"/>
              </a:spcAft>
            </a:pPr>
            <a:r>
              <a:rPr lang="en-US" sz="1400" b="0" i="0">
                <a:solidFill>
                  <a:srgbClr val="EDE8F5"/>
                </a:solidFill>
                <a:latin typeface="Courier New"/>
                <a:cs typeface="Courier New"/>
              </a:rPr>
              <a:t>ν = pm.Uniform('ν', 0, 30)</a:t>
            </a:r>
          </a:p>
        </p:txBody>
      </p:sp>
      <p:sp>
        <p:nvSpPr>
          <p:cNvPr id="6" name="card"/>
          <p:cNvSpPr/>
          <p:nvPr/>
        </p:nvSpPr>
        <p:spPr>
          <a:xfrm>
            <a:off x="5943600" y="5074920"/>
            <a:ext cx="5696712" cy="1188720"/>
          </a:xfrm>
          <a:prstGeom prst="roundRect">
            <a:avLst>
              <a:gd name="adj" fmla="val 11538"/>
            </a:avLst>
          </a:prstGeom>
          <a:solidFill>
            <a:srgbClr val="E6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72200" y="5074920"/>
            <a:ext cx="5239512" cy="1188720"/>
          </a:xfrm>
          <a:prstGeom prst="rect">
            <a:avLst/>
          </a:prstGeom>
          <a:noFill/>
        </p:spPr>
        <p:txBody>
          <a:bodyPr wrap="square" lIns="45720" tIns="27432" rIns="45720" bIns="27432" anchor="ctr">
            <a:spAutoFit/>
          </a:bodyPr>
          <a:lstStyle/>
          <a:p>
            <a:pPr marR="274320" indent="-274320" algn="r" rtl="1">
              <a:spcAft>
                <a:spcPts val="600"/>
              </a:spcAft>
              <a:buClr>
                <a:srgbClr val="7B5EA7"/>
              </a:buClr>
              <a:buFont typeface="Arial"/>
              <a:buChar char="•"/>
            </a:pPr>
            <a:r>
              <a:rPr lang="he-IL" sz="1600" b="1" i="0">
                <a:solidFill>
                  <a:srgbClr val="2B1E3F"/>
                </a:solidFill>
                <a:latin typeface="Arial"/>
                <a:cs typeface="Arial"/>
              </a:rPr>
              <a:t>סיכוי להפרש חיובי: 98.9% מול 98.8%</a:t>
            </a:r>
          </a:p>
          <a:p>
            <a:pPr marR="274320" indent="-274320" algn="r" rtl="1">
              <a:spcAft>
                <a:spcPts val="600"/>
              </a:spcAft>
              <a:buClr>
                <a:srgbClr val="7B5EA7"/>
              </a:buClr>
              <a:buFont typeface="Arial"/>
              <a:buChar char="•"/>
            </a:pPr>
            <a:r>
              <a:rPr lang="he-IL" sz="1600" b="1" i="0">
                <a:solidFill>
                  <a:srgbClr val="2B1E3F"/>
                </a:solidFill>
                <a:latin typeface="Arial"/>
                <a:cs typeface="Arial"/>
              </a:rPr>
              <a:t>התוצאות כמעט זהות — הנתונים חזקים מה-prior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B1E3F"/>
        </a:solidFill>
        <a:effectLst/>
      </p:bgPr>
    </p:bg>
    <p:spTree>
      <p:nvGrpSpPr>
        <p:cNvPr id="1" name=""/>
        <p:cNvGrpSpPr/>
        <p:nvPr/>
      </p:nvGrpSpPr>
      <p:grpSpPr>
        <a:xfrm>
          <a:off x="0" y="0"/>
          <a:ext cx="0" cy="0"/>
          <a:chOff x="0" y="0"/>
          <a:chExt cx="0" cy="0"/>
        </a:xfrm>
      </p:grpSpPr>
      <p:sp>
        <p:nvSpPr>
          <p:cNvPr id="2" name="Title"/>
          <p:cNvSpPr txBox="1"/>
          <p:nvPr/>
        </p:nvSpPr>
        <p:spPr>
          <a:xfrm>
            <a:off x="548640" y="365760"/>
            <a:ext cx="11091672" cy="822960"/>
          </a:xfrm>
          <a:prstGeom prst="rect">
            <a:avLst/>
          </a:prstGeom>
          <a:noFill/>
        </p:spPr>
        <p:txBody>
          <a:bodyPr wrap="square" lIns="45720" tIns="27432" rIns="45720" bIns="27432" anchor="ctr">
            <a:spAutoFit/>
          </a:bodyPr>
          <a:lstStyle/>
          <a:p>
            <a:pPr algn="r" rtl="1">
              <a:spcAft>
                <a:spcPts val="0"/>
              </a:spcAft>
            </a:pPr>
            <a:r>
              <a:rPr lang="he-IL" sz="3400" b="1" i="0">
                <a:solidFill>
                  <a:srgbClr val="FFFFFF"/>
                </a:solidFill>
                <a:latin typeface="Arial"/>
                <a:cs typeface="Arial"/>
              </a:rPr>
              <a:t>סיכום</a:t>
            </a:r>
          </a:p>
        </p:txBody>
      </p:sp>
      <p:sp>
        <p:nvSpPr>
          <p:cNvPr id="3" name="badge β"/>
          <p:cNvSpPr/>
          <p:nvPr/>
        </p:nvSpPr>
        <p:spPr>
          <a:xfrm>
            <a:off x="10835640" y="1600200"/>
            <a:ext cx="777240" cy="777240"/>
          </a:xfrm>
          <a:prstGeom prst="ellipse">
            <a:avLst/>
          </a:prstGeom>
          <a:solidFill>
            <a:srgbClr val="17A39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400" b="1" i="0">
                <a:solidFill>
                  <a:srgbClr val="FFFFFF"/>
                </a:solidFill>
                <a:latin typeface="Arial"/>
                <a:cs typeface="Arial"/>
              </a:rPr>
              <a:t>β</a:t>
            </a:r>
          </a:p>
        </p:txBody>
      </p:sp>
      <p:sp>
        <p:nvSpPr>
          <p:cNvPr id="4" name="TextBox 3"/>
          <p:cNvSpPr txBox="1"/>
          <p:nvPr/>
        </p:nvSpPr>
        <p:spPr>
          <a:xfrm>
            <a:off x="822960" y="1600200"/>
            <a:ext cx="9784080" cy="777240"/>
          </a:xfrm>
          <a:prstGeom prst="rect">
            <a:avLst/>
          </a:prstGeom>
          <a:noFill/>
        </p:spPr>
        <p:txBody>
          <a:bodyPr wrap="square" lIns="45720" tIns="27432" rIns="45720" bIns="27432" anchor="ctr">
            <a:spAutoFit/>
          </a:bodyPr>
          <a:lstStyle/>
          <a:p>
            <a:pPr algn="r" rtl="1">
              <a:spcAft>
                <a:spcPts val="0"/>
              </a:spcAft>
            </a:pPr>
            <a:r>
              <a:rPr lang="he-IL" sz="2100" b="0" i="0">
                <a:solidFill>
                  <a:srgbClr val="FFFFFF"/>
                </a:solidFill>
                <a:latin typeface="Arial"/>
                <a:cs typeface="Arial"/>
              </a:rPr>
              <a:t>רגרסיה בייסיאנית משחזרת פרמטרים — יחד עם אי-הוודאות שלהם</a:t>
            </a:r>
          </a:p>
        </p:txBody>
      </p:sp>
      <p:sp>
        <p:nvSpPr>
          <p:cNvPr id="5" name="badge μ"/>
          <p:cNvSpPr/>
          <p:nvPr/>
        </p:nvSpPr>
        <p:spPr>
          <a:xfrm>
            <a:off x="10835640" y="2743200"/>
            <a:ext cx="777240" cy="777240"/>
          </a:xfrm>
          <a:prstGeom prst="ellipse">
            <a:avLst/>
          </a:prstGeom>
          <a:solidFill>
            <a:srgbClr val="7B5EA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400" b="1" i="0">
                <a:solidFill>
                  <a:srgbClr val="FFFFFF"/>
                </a:solidFill>
                <a:latin typeface="Arial"/>
                <a:cs typeface="Arial"/>
              </a:rPr>
              <a:t>μ</a:t>
            </a:r>
          </a:p>
        </p:txBody>
      </p:sp>
      <p:sp>
        <p:nvSpPr>
          <p:cNvPr id="6" name="TextBox 5"/>
          <p:cNvSpPr txBox="1"/>
          <p:nvPr/>
        </p:nvSpPr>
        <p:spPr>
          <a:xfrm>
            <a:off x="822960" y="2743200"/>
            <a:ext cx="9784080" cy="777240"/>
          </a:xfrm>
          <a:prstGeom prst="rect">
            <a:avLst/>
          </a:prstGeom>
          <a:noFill/>
        </p:spPr>
        <p:txBody>
          <a:bodyPr wrap="square" lIns="45720" tIns="27432" rIns="45720" bIns="27432" anchor="ctr">
            <a:spAutoFit/>
          </a:bodyPr>
          <a:lstStyle/>
          <a:p>
            <a:pPr algn="r" rtl="1">
              <a:spcAft>
                <a:spcPts val="0"/>
              </a:spcAft>
            </a:pPr>
            <a:r>
              <a:rPr lang="he-IL" sz="2100" b="0" i="0">
                <a:solidFill>
                  <a:srgbClr val="FFFFFF"/>
                </a:solidFill>
                <a:latin typeface="Arial"/>
                <a:cs typeface="Arial"/>
              </a:rPr>
              <a:t>אמידה במקום בדיקת השערות: שאלות הסתברותיות ישירות על הפרמטר</a:t>
            </a:r>
          </a:p>
        </p:txBody>
      </p:sp>
      <p:sp>
        <p:nvSpPr>
          <p:cNvPr id="7" name="badge z"/>
          <p:cNvSpPr/>
          <p:nvPr/>
        </p:nvSpPr>
        <p:spPr>
          <a:xfrm>
            <a:off x="10835640" y="3886200"/>
            <a:ext cx="777240" cy="77724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400" b="1" i="0">
                <a:solidFill>
                  <a:srgbClr val="FFFFFF"/>
                </a:solidFill>
                <a:latin typeface="Arial"/>
                <a:cs typeface="Arial"/>
              </a:rPr>
              <a:t>z</a:t>
            </a:r>
          </a:p>
        </p:txBody>
      </p:sp>
      <p:sp>
        <p:nvSpPr>
          <p:cNvPr id="8" name="TextBox 7"/>
          <p:cNvSpPr txBox="1"/>
          <p:nvPr/>
        </p:nvSpPr>
        <p:spPr>
          <a:xfrm>
            <a:off x="822960" y="3886200"/>
            <a:ext cx="9784080" cy="777240"/>
          </a:xfrm>
          <a:prstGeom prst="rect">
            <a:avLst/>
          </a:prstGeom>
          <a:noFill/>
        </p:spPr>
        <p:txBody>
          <a:bodyPr wrap="square" lIns="45720" tIns="27432" rIns="45720" bIns="27432" anchor="ctr">
            <a:spAutoFit/>
          </a:bodyPr>
          <a:lstStyle/>
          <a:p>
            <a:pPr algn="r" rtl="1">
              <a:spcAft>
                <a:spcPts val="0"/>
              </a:spcAft>
            </a:pPr>
            <a:r>
              <a:rPr lang="he-IL" sz="2100" b="0" i="0">
                <a:solidFill>
                  <a:srgbClr val="FFFFFF"/>
                </a:solidFill>
                <a:latin typeface="Arial"/>
                <a:cs typeface="Arial"/>
              </a:rPr>
              <a:t>חיזוי פוסטריורי: בית בודד ≠ ממוצע; ובדיקת המודל מול הנתונים</a:t>
            </a:r>
          </a:p>
        </p:txBody>
      </p:sp>
      <p:sp>
        <p:nvSpPr>
          <p:cNvPr id="9" name="badge ν"/>
          <p:cNvSpPr/>
          <p:nvPr/>
        </p:nvSpPr>
        <p:spPr>
          <a:xfrm>
            <a:off x="10835640" y="5029200"/>
            <a:ext cx="777240" cy="777240"/>
          </a:xfrm>
          <a:prstGeom prst="ellipse">
            <a:avLst/>
          </a:prstGeom>
          <a:solidFill>
            <a:srgbClr val="CFC6D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2400" b="1" i="0">
                <a:solidFill>
                  <a:srgbClr val="FFFFFF"/>
                </a:solidFill>
                <a:latin typeface="Arial"/>
                <a:cs typeface="Arial"/>
              </a:rPr>
              <a:t>ν</a:t>
            </a:r>
          </a:p>
        </p:txBody>
      </p:sp>
      <p:sp>
        <p:nvSpPr>
          <p:cNvPr id="10" name="TextBox 9"/>
          <p:cNvSpPr txBox="1"/>
          <p:nvPr/>
        </p:nvSpPr>
        <p:spPr>
          <a:xfrm>
            <a:off x="822960" y="5029200"/>
            <a:ext cx="9784080" cy="777240"/>
          </a:xfrm>
          <a:prstGeom prst="rect">
            <a:avLst/>
          </a:prstGeom>
          <a:noFill/>
        </p:spPr>
        <p:txBody>
          <a:bodyPr wrap="square" lIns="45720" tIns="27432" rIns="45720" bIns="27432" anchor="ctr">
            <a:spAutoFit/>
          </a:bodyPr>
          <a:lstStyle/>
          <a:p>
            <a:pPr algn="r" rtl="1">
              <a:spcAft>
                <a:spcPts val="0"/>
              </a:spcAft>
            </a:pPr>
            <a:r>
              <a:rPr lang="he-IL" sz="2100" b="0" i="0">
                <a:solidFill>
                  <a:srgbClr val="FFFFFF"/>
                </a:solidFill>
                <a:latin typeface="Arial"/>
                <a:cs typeface="Arial"/>
              </a:rPr>
              <a:t>נראות t עמידה לחריגים, וגודל אפקט כהתפלגות פוסטריורית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2894</TotalTime>
  <Words>2786</Words>
  <Application>Microsoft Office PowerPoint</Application>
  <PresentationFormat>Widescreen</PresentationFormat>
  <Paragraphs>257</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אלירן שרצר/Eliran Sherzer</cp:lastModifiedBy>
  <cp:revision>3</cp:revision>
  <dcterms:created xsi:type="dcterms:W3CDTF">2013-01-27T09:14:16Z</dcterms:created>
  <dcterms:modified xsi:type="dcterms:W3CDTF">2026-10-29T13:01:11Z</dcterms:modified>
  <cp:category/>
</cp:coreProperties>
</file>